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4" r:id="rId25"/>
    <p:sldId id="275" r:id="rId26"/>
    <p:sldId id="276" r:id="rId27"/>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libri"/>
              </a:defRPr>
            </a:pPr>
            <a:r>
              <a:rPr sz="1400" b="0" i="0" u="none" strike="noStrike">
                <a:solidFill>
                  <a:srgbClr val="14213D"/>
                </a:solidFill>
                <a:latin typeface="Calibri"/>
              </a:rPr>
              <a:t>Axial velocity [m/s]</a:t>
            </a:r>
          </a:p>
        </c:rich>
      </c:tx>
      <c:layout/>
      <c:overlay val="0"/>
    </c:title>
    <c:autoTitleDeleted val="0"/>
    <c:plotArea>
      <c:layout/>
      <c:scatterChart>
        <c:scatterStyle val="lineMarker"/>
        <c:varyColors val="0"/>
        <c:ser>
          <c:idx val="0"/>
          <c:order val="0"/>
          <c:tx>
            <c:strRef>
              <c:f>Sheet1!$B$1</c:f>
              <c:strCache>
                <c:ptCount val="1"/>
                <c:pt idx="0">
                  <c:v>centreline (max)</c:v>
                </c:pt>
              </c:strCache>
            </c:strRef>
          </c:tx>
          <c:spPr>
            <a:solidFill>
              <a:srgbClr val="2F5D8A"/>
            </a:solidFill>
            <a:ln w="28575" cap="flat">
              <a:solidFill>
                <a:srgbClr val="2F5D8A"/>
              </a:solidFill>
              <a:prstDash val="solid"/>
              <a:round/>
            </a:ln>
            <a:effectLst/>
          </c:spPr>
          <c:marker>
            <c:symbol val="none"/>
            <c:size val="6"/>
            <c:spPr>
              <a:solidFill>
                <a:srgbClr val="2F5D8A"/>
              </a:solidFill>
              <a:ln w="9525" cap="flat">
                <a:solidFill>
                  <a:srgbClr val="2F5D8A"/>
                </a:solidFill>
                <a:prstDash val="solid"/>
                <a:round/>
              </a:ln>
              <a:effectLst/>
            </c:spPr>
          </c:marker>
          <c:xVal>
            <c:numRef>
              <c:f>Sheet1!$A$2:$A$91</c:f>
              <c:numCache>
                <c:formatCode>General</c:formatCode>
                <c:ptCount val="90"/>
                <c:pt idx="0">
                  <c:v>3.3333</c:v>
                </c:pt>
                <c:pt idx="1">
                  <c:v>10</c:v>
                </c:pt>
                <c:pt idx="2">
                  <c:v>16.6667</c:v>
                </c:pt>
                <c:pt idx="3">
                  <c:v>23.3333</c:v>
                </c:pt>
                <c:pt idx="4">
                  <c:v>30</c:v>
                </c:pt>
                <c:pt idx="5">
                  <c:v>36.6667</c:v>
                </c:pt>
                <c:pt idx="6">
                  <c:v>43.3333</c:v>
                </c:pt>
                <c:pt idx="7">
                  <c:v>50</c:v>
                </c:pt>
                <c:pt idx="8">
                  <c:v>56.6667</c:v>
                </c:pt>
                <c:pt idx="9">
                  <c:v>63.3333</c:v>
                </c:pt>
                <c:pt idx="10">
                  <c:v>70</c:v>
                </c:pt>
                <c:pt idx="11">
                  <c:v>76.6667</c:v>
                </c:pt>
                <c:pt idx="12">
                  <c:v>83.3333</c:v>
                </c:pt>
                <c:pt idx="13">
                  <c:v>90</c:v>
                </c:pt>
                <c:pt idx="14">
                  <c:v>96.6667</c:v>
                </c:pt>
                <c:pt idx="15">
                  <c:v>103.3333</c:v>
                </c:pt>
                <c:pt idx="16">
                  <c:v>110</c:v>
                </c:pt>
                <c:pt idx="17">
                  <c:v>116.6667</c:v>
                </c:pt>
                <c:pt idx="18">
                  <c:v>123.3333</c:v>
                </c:pt>
                <c:pt idx="19">
                  <c:v>130</c:v>
                </c:pt>
                <c:pt idx="20">
                  <c:v>136.6667</c:v>
                </c:pt>
                <c:pt idx="21">
                  <c:v>143.3333</c:v>
                </c:pt>
                <c:pt idx="22">
                  <c:v>150</c:v>
                </c:pt>
                <c:pt idx="23">
                  <c:v>156.6667</c:v>
                </c:pt>
                <c:pt idx="24">
                  <c:v>163.3333</c:v>
                </c:pt>
                <c:pt idx="25">
                  <c:v>170</c:v>
                </c:pt>
                <c:pt idx="26">
                  <c:v>176.6667</c:v>
                </c:pt>
                <c:pt idx="27">
                  <c:v>183.3333</c:v>
                </c:pt>
                <c:pt idx="28">
                  <c:v>190</c:v>
                </c:pt>
                <c:pt idx="29">
                  <c:v>196.6667</c:v>
                </c:pt>
                <c:pt idx="30">
                  <c:v>203.3333</c:v>
                </c:pt>
                <c:pt idx="31">
                  <c:v>210</c:v>
                </c:pt>
                <c:pt idx="32">
                  <c:v>216.6667</c:v>
                </c:pt>
                <c:pt idx="33">
                  <c:v>223.3333</c:v>
                </c:pt>
                <c:pt idx="34">
                  <c:v>230</c:v>
                </c:pt>
                <c:pt idx="35">
                  <c:v>236.6667</c:v>
                </c:pt>
                <c:pt idx="36">
                  <c:v>243.3333</c:v>
                </c:pt>
                <c:pt idx="37">
                  <c:v>250</c:v>
                </c:pt>
                <c:pt idx="38">
                  <c:v>256.6667</c:v>
                </c:pt>
                <c:pt idx="39">
                  <c:v>263.3333</c:v>
                </c:pt>
                <c:pt idx="40">
                  <c:v>270</c:v>
                </c:pt>
                <c:pt idx="41">
                  <c:v>276.6667</c:v>
                </c:pt>
                <c:pt idx="42">
                  <c:v>283.3333</c:v>
                </c:pt>
                <c:pt idx="43">
                  <c:v>290</c:v>
                </c:pt>
                <c:pt idx="44">
                  <c:v>296.6667</c:v>
                </c:pt>
                <c:pt idx="45">
                  <c:v>303.3333</c:v>
                </c:pt>
                <c:pt idx="46">
                  <c:v>310</c:v>
                </c:pt>
                <c:pt idx="47">
                  <c:v>316.6667</c:v>
                </c:pt>
                <c:pt idx="48">
                  <c:v>323.3333</c:v>
                </c:pt>
                <c:pt idx="49">
                  <c:v>330</c:v>
                </c:pt>
                <c:pt idx="50">
                  <c:v>336.6667</c:v>
                </c:pt>
                <c:pt idx="51">
                  <c:v>343.3333</c:v>
                </c:pt>
                <c:pt idx="52">
                  <c:v>350</c:v>
                </c:pt>
                <c:pt idx="53">
                  <c:v>356.6667</c:v>
                </c:pt>
                <c:pt idx="54">
                  <c:v>363.3333</c:v>
                </c:pt>
                <c:pt idx="55">
                  <c:v>370</c:v>
                </c:pt>
                <c:pt idx="56">
                  <c:v>376.6667</c:v>
                </c:pt>
                <c:pt idx="57">
                  <c:v>383.3333</c:v>
                </c:pt>
                <c:pt idx="58">
                  <c:v>390</c:v>
                </c:pt>
                <c:pt idx="59">
                  <c:v>396.6667</c:v>
                </c:pt>
                <c:pt idx="60">
                  <c:v>403.3333</c:v>
                </c:pt>
                <c:pt idx="61">
                  <c:v>410</c:v>
                </c:pt>
                <c:pt idx="62">
                  <c:v>416.6667</c:v>
                </c:pt>
                <c:pt idx="63">
                  <c:v>423.3333</c:v>
                </c:pt>
                <c:pt idx="64">
                  <c:v>430</c:v>
                </c:pt>
                <c:pt idx="65">
                  <c:v>436.6667</c:v>
                </c:pt>
                <c:pt idx="66">
                  <c:v>443.3333</c:v>
                </c:pt>
                <c:pt idx="67">
                  <c:v>450</c:v>
                </c:pt>
                <c:pt idx="68">
                  <c:v>456.6667</c:v>
                </c:pt>
                <c:pt idx="69">
                  <c:v>463.3333</c:v>
                </c:pt>
                <c:pt idx="70">
                  <c:v>470</c:v>
                </c:pt>
                <c:pt idx="71">
                  <c:v>476.6667</c:v>
                </c:pt>
                <c:pt idx="72">
                  <c:v>483.3333</c:v>
                </c:pt>
                <c:pt idx="73">
                  <c:v>490</c:v>
                </c:pt>
                <c:pt idx="74">
                  <c:v>496.6667</c:v>
                </c:pt>
                <c:pt idx="75">
                  <c:v>503.3333</c:v>
                </c:pt>
                <c:pt idx="76">
                  <c:v>510</c:v>
                </c:pt>
                <c:pt idx="77">
                  <c:v>516.6667</c:v>
                </c:pt>
                <c:pt idx="78">
                  <c:v>523.3333</c:v>
                </c:pt>
                <c:pt idx="79">
                  <c:v>530</c:v>
                </c:pt>
                <c:pt idx="80">
                  <c:v>536.6667</c:v>
                </c:pt>
                <c:pt idx="81">
                  <c:v>543.3333</c:v>
                </c:pt>
                <c:pt idx="82">
                  <c:v>550</c:v>
                </c:pt>
                <c:pt idx="83">
                  <c:v>556.6667</c:v>
                </c:pt>
                <c:pt idx="84">
                  <c:v>563.3333</c:v>
                </c:pt>
                <c:pt idx="85">
                  <c:v>570</c:v>
                </c:pt>
                <c:pt idx="86">
                  <c:v>576.6667</c:v>
                </c:pt>
                <c:pt idx="87">
                  <c:v>583.3333</c:v>
                </c:pt>
                <c:pt idx="88">
                  <c:v>590</c:v>
                </c:pt>
                <c:pt idx="89">
                  <c:v>596.6667</c:v>
                </c:pt>
              </c:numCache>
            </c:numRef>
          </c:xVal>
          <c:yVal>
            <c:numRef>
              <c:f>Sheet1!$B$2:$B$91</c:f>
              <c:numCache>
                <c:formatCode>General</c:formatCode>
                <c:ptCount val="90"/>
                <c:pt idx="0">
                  <c:v>23.9003</c:v>
                </c:pt>
                <c:pt idx="1">
                  <c:v>24.6467</c:v>
                </c:pt>
                <c:pt idx="2">
                  <c:v>24.7838</c:v>
                </c:pt>
                <c:pt idx="3">
                  <c:v>24.9615</c:v>
                </c:pt>
                <c:pt idx="4">
                  <c:v>25.143</c:v>
                </c:pt>
                <c:pt idx="5">
                  <c:v>25.3205</c:v>
                </c:pt>
                <c:pt idx="6">
                  <c:v>25.4925</c:v>
                </c:pt>
                <c:pt idx="7">
                  <c:v>25.6614</c:v>
                </c:pt>
                <c:pt idx="8">
                  <c:v>25.8282</c:v>
                </c:pt>
                <c:pt idx="9">
                  <c:v>25.9902</c:v>
                </c:pt>
                <c:pt idx="10">
                  <c:v>26.1499</c:v>
                </c:pt>
                <c:pt idx="11">
                  <c:v>26.3076</c:v>
                </c:pt>
                <c:pt idx="12">
                  <c:v>26.4626</c:v>
                </c:pt>
                <c:pt idx="13">
                  <c:v>26.6143</c:v>
                </c:pt>
                <c:pt idx="14">
                  <c:v>26.7648</c:v>
                </c:pt>
                <c:pt idx="15">
                  <c:v>26.914</c:v>
                </c:pt>
                <c:pt idx="16">
                  <c:v>27.061</c:v>
                </c:pt>
                <c:pt idx="17">
                  <c:v>27.2069</c:v>
                </c:pt>
                <c:pt idx="18">
                  <c:v>27.3514</c:v>
                </c:pt>
                <c:pt idx="19">
                  <c:v>27.4942</c:v>
                </c:pt>
                <c:pt idx="20">
                  <c:v>27.6362</c:v>
                </c:pt>
                <c:pt idx="21">
                  <c:v>27.7769</c:v>
                </c:pt>
                <c:pt idx="22">
                  <c:v>27.9166</c:v>
                </c:pt>
                <c:pt idx="23">
                  <c:v>28.0553</c:v>
                </c:pt>
                <c:pt idx="24">
                  <c:v>28.1931</c:v>
                </c:pt>
                <c:pt idx="25">
                  <c:v>28.3299</c:v>
                </c:pt>
                <c:pt idx="26">
                  <c:v>28.4654</c:v>
                </c:pt>
                <c:pt idx="27">
                  <c:v>28.5994</c:v>
                </c:pt>
                <c:pt idx="28">
                  <c:v>28.7322</c:v>
                </c:pt>
                <c:pt idx="29">
                  <c:v>28.8639</c:v>
                </c:pt>
                <c:pt idx="30">
                  <c:v>28.9944</c:v>
                </c:pt>
                <c:pt idx="31">
                  <c:v>29.1237</c:v>
                </c:pt>
                <c:pt idx="32">
                  <c:v>29.2521</c:v>
                </c:pt>
                <c:pt idx="33">
                  <c:v>29.3793</c:v>
                </c:pt>
                <c:pt idx="34">
                  <c:v>29.5056</c:v>
                </c:pt>
                <c:pt idx="35">
                  <c:v>29.6308</c:v>
                </c:pt>
                <c:pt idx="36">
                  <c:v>29.755</c:v>
                </c:pt>
                <c:pt idx="37">
                  <c:v>29.8783</c:v>
                </c:pt>
                <c:pt idx="38">
                  <c:v>30.0006</c:v>
                </c:pt>
                <c:pt idx="39">
                  <c:v>30.122</c:v>
                </c:pt>
                <c:pt idx="40">
                  <c:v>30.2425</c:v>
                </c:pt>
                <c:pt idx="41">
                  <c:v>30.3621</c:v>
                </c:pt>
                <c:pt idx="42">
                  <c:v>30.4809</c:v>
                </c:pt>
                <c:pt idx="43">
                  <c:v>30.5988</c:v>
                </c:pt>
                <c:pt idx="44">
                  <c:v>30.716</c:v>
                </c:pt>
                <c:pt idx="45">
                  <c:v>30.8323</c:v>
                </c:pt>
                <c:pt idx="46">
                  <c:v>30.9478</c:v>
                </c:pt>
                <c:pt idx="47">
                  <c:v>31.0627</c:v>
                </c:pt>
                <c:pt idx="48">
                  <c:v>31.1767</c:v>
                </c:pt>
                <c:pt idx="49">
                  <c:v>31.29</c:v>
                </c:pt>
                <c:pt idx="50">
                  <c:v>31.4027</c:v>
                </c:pt>
                <c:pt idx="51">
                  <c:v>31.5145</c:v>
                </c:pt>
                <c:pt idx="52">
                  <c:v>31.6257</c:v>
                </c:pt>
                <c:pt idx="53">
                  <c:v>31.7361</c:v>
                </c:pt>
                <c:pt idx="54">
                  <c:v>31.8458</c:v>
                </c:pt>
                <c:pt idx="55">
                  <c:v>31.9548</c:v>
                </c:pt>
                <c:pt idx="56">
                  <c:v>32.0631</c:v>
                </c:pt>
                <c:pt idx="57">
                  <c:v>32.1707</c:v>
                </c:pt>
                <c:pt idx="58">
                  <c:v>32.2775</c:v>
                </c:pt>
                <c:pt idx="59">
                  <c:v>32.3835</c:v>
                </c:pt>
                <c:pt idx="60">
                  <c:v>32.4886</c:v>
                </c:pt>
                <c:pt idx="61">
                  <c:v>32.5929</c:v>
                </c:pt>
                <c:pt idx="62">
                  <c:v>32.6964</c:v>
                </c:pt>
                <c:pt idx="63">
                  <c:v>32.7988</c:v>
                </c:pt>
                <c:pt idx="64">
                  <c:v>32.9003</c:v>
                </c:pt>
                <c:pt idx="65">
                  <c:v>33.0008</c:v>
                </c:pt>
                <c:pt idx="66">
                  <c:v>33.1002</c:v>
                </c:pt>
                <c:pt idx="67">
                  <c:v>33.1985</c:v>
                </c:pt>
                <c:pt idx="68">
                  <c:v>33.2955</c:v>
                </c:pt>
                <c:pt idx="69">
                  <c:v>33.3912</c:v>
                </c:pt>
                <c:pt idx="70">
                  <c:v>33.4856</c:v>
                </c:pt>
                <c:pt idx="71">
                  <c:v>33.5785</c:v>
                </c:pt>
                <c:pt idx="72">
                  <c:v>33.6699</c:v>
                </c:pt>
                <c:pt idx="73">
                  <c:v>33.7598</c:v>
                </c:pt>
                <c:pt idx="74">
                  <c:v>33.8482</c:v>
                </c:pt>
                <c:pt idx="75">
                  <c:v>33.935</c:v>
                </c:pt>
                <c:pt idx="76">
                  <c:v>34.0201</c:v>
                </c:pt>
                <c:pt idx="77">
                  <c:v>34.1034</c:v>
                </c:pt>
                <c:pt idx="78">
                  <c:v>34.1851</c:v>
                </c:pt>
                <c:pt idx="79">
                  <c:v>34.2649</c:v>
                </c:pt>
                <c:pt idx="80">
                  <c:v>34.3425</c:v>
                </c:pt>
                <c:pt idx="81">
                  <c:v>34.4184</c:v>
                </c:pt>
                <c:pt idx="82">
                  <c:v>34.4922</c:v>
                </c:pt>
                <c:pt idx="83">
                  <c:v>34.5645</c:v>
                </c:pt>
                <c:pt idx="84">
                  <c:v>34.6343</c:v>
                </c:pt>
                <c:pt idx="85">
                  <c:v>34.7037</c:v>
                </c:pt>
                <c:pt idx="86">
                  <c:v>34.7689</c:v>
                </c:pt>
                <c:pt idx="87">
                  <c:v>34.8376</c:v>
                </c:pt>
                <c:pt idx="88">
                  <c:v>34.8933</c:v>
                </c:pt>
                <c:pt idx="89">
                  <c:v>34.9874</c:v>
                </c:pt>
              </c:numCache>
            </c:numRef>
          </c:yVal>
          <c:smooth val="0"/>
        </c:ser>
        <c:ser>
          <c:idx val="1"/>
          <c:order val="1"/>
          <c:tx>
            <c:strRef>
              <c:f>Sheet1!$C$1</c:f>
              <c:strCache>
                <c:ptCount val="1"/>
                <c:pt idx="0">
                  <c:v>section bulk</c:v>
                </c:pt>
              </c:strCache>
            </c:strRef>
          </c:tx>
          <c:spPr>
            <a:solidFill>
              <a:srgbClr val="8FB3D9"/>
            </a:solidFill>
            <a:ln w="28575" cap="flat">
              <a:solidFill>
                <a:srgbClr val="8FB3D9"/>
              </a:solidFill>
              <a:prstDash val="solid"/>
              <a:round/>
            </a:ln>
            <a:effectLst/>
          </c:spPr>
          <c:marker>
            <c:symbol val="none"/>
            <c:size val="6"/>
            <c:spPr>
              <a:solidFill>
                <a:srgbClr val="8FB3D9"/>
              </a:solidFill>
              <a:ln w="9525" cap="flat">
                <a:solidFill>
                  <a:srgbClr val="8FB3D9"/>
                </a:solidFill>
                <a:prstDash val="solid"/>
                <a:round/>
              </a:ln>
              <a:effectLst/>
            </c:spPr>
          </c:marker>
          <c:xVal>
            <c:numRef>
              <c:f>Sheet1!$A$2:$A$91</c:f>
              <c:numCache>
                <c:formatCode>General</c:formatCode>
                <c:ptCount val="90"/>
                <c:pt idx="0">
                  <c:v>3.3333</c:v>
                </c:pt>
                <c:pt idx="1">
                  <c:v>10</c:v>
                </c:pt>
                <c:pt idx="2">
                  <c:v>16.6667</c:v>
                </c:pt>
                <c:pt idx="3">
                  <c:v>23.3333</c:v>
                </c:pt>
                <c:pt idx="4">
                  <c:v>30</c:v>
                </c:pt>
                <c:pt idx="5">
                  <c:v>36.6667</c:v>
                </c:pt>
                <c:pt idx="6">
                  <c:v>43.3333</c:v>
                </c:pt>
                <c:pt idx="7">
                  <c:v>50</c:v>
                </c:pt>
                <c:pt idx="8">
                  <c:v>56.6667</c:v>
                </c:pt>
                <c:pt idx="9">
                  <c:v>63.3333</c:v>
                </c:pt>
                <c:pt idx="10">
                  <c:v>70</c:v>
                </c:pt>
                <c:pt idx="11">
                  <c:v>76.6667</c:v>
                </c:pt>
                <c:pt idx="12">
                  <c:v>83.3333</c:v>
                </c:pt>
                <c:pt idx="13">
                  <c:v>90</c:v>
                </c:pt>
                <c:pt idx="14">
                  <c:v>96.6667</c:v>
                </c:pt>
                <c:pt idx="15">
                  <c:v>103.3333</c:v>
                </c:pt>
                <c:pt idx="16">
                  <c:v>110</c:v>
                </c:pt>
                <c:pt idx="17">
                  <c:v>116.6667</c:v>
                </c:pt>
                <c:pt idx="18">
                  <c:v>123.3333</c:v>
                </c:pt>
                <c:pt idx="19">
                  <c:v>130</c:v>
                </c:pt>
                <c:pt idx="20">
                  <c:v>136.6667</c:v>
                </c:pt>
                <c:pt idx="21">
                  <c:v>143.3333</c:v>
                </c:pt>
                <c:pt idx="22">
                  <c:v>150</c:v>
                </c:pt>
                <c:pt idx="23">
                  <c:v>156.6667</c:v>
                </c:pt>
                <c:pt idx="24">
                  <c:v>163.3333</c:v>
                </c:pt>
                <c:pt idx="25">
                  <c:v>170</c:v>
                </c:pt>
                <c:pt idx="26">
                  <c:v>176.6667</c:v>
                </c:pt>
                <c:pt idx="27">
                  <c:v>183.3333</c:v>
                </c:pt>
                <c:pt idx="28">
                  <c:v>190</c:v>
                </c:pt>
                <c:pt idx="29">
                  <c:v>196.6667</c:v>
                </c:pt>
                <c:pt idx="30">
                  <c:v>203.3333</c:v>
                </c:pt>
                <c:pt idx="31">
                  <c:v>210</c:v>
                </c:pt>
                <c:pt idx="32">
                  <c:v>216.6667</c:v>
                </c:pt>
                <c:pt idx="33">
                  <c:v>223.3333</c:v>
                </c:pt>
                <c:pt idx="34">
                  <c:v>230</c:v>
                </c:pt>
                <c:pt idx="35">
                  <c:v>236.6667</c:v>
                </c:pt>
                <c:pt idx="36">
                  <c:v>243.3333</c:v>
                </c:pt>
                <c:pt idx="37">
                  <c:v>250</c:v>
                </c:pt>
                <c:pt idx="38">
                  <c:v>256.6667</c:v>
                </c:pt>
                <c:pt idx="39">
                  <c:v>263.3333</c:v>
                </c:pt>
                <c:pt idx="40">
                  <c:v>270</c:v>
                </c:pt>
                <c:pt idx="41">
                  <c:v>276.6667</c:v>
                </c:pt>
                <c:pt idx="42">
                  <c:v>283.3333</c:v>
                </c:pt>
                <c:pt idx="43">
                  <c:v>290</c:v>
                </c:pt>
                <c:pt idx="44">
                  <c:v>296.6667</c:v>
                </c:pt>
                <c:pt idx="45">
                  <c:v>303.3333</c:v>
                </c:pt>
                <c:pt idx="46">
                  <c:v>310</c:v>
                </c:pt>
                <c:pt idx="47">
                  <c:v>316.6667</c:v>
                </c:pt>
                <c:pt idx="48">
                  <c:v>323.3333</c:v>
                </c:pt>
                <c:pt idx="49">
                  <c:v>330</c:v>
                </c:pt>
                <c:pt idx="50">
                  <c:v>336.6667</c:v>
                </c:pt>
                <c:pt idx="51">
                  <c:v>343.3333</c:v>
                </c:pt>
                <c:pt idx="52">
                  <c:v>350</c:v>
                </c:pt>
                <c:pt idx="53">
                  <c:v>356.6667</c:v>
                </c:pt>
                <c:pt idx="54">
                  <c:v>363.3333</c:v>
                </c:pt>
                <c:pt idx="55">
                  <c:v>370</c:v>
                </c:pt>
                <c:pt idx="56">
                  <c:v>376.6667</c:v>
                </c:pt>
                <c:pt idx="57">
                  <c:v>383.3333</c:v>
                </c:pt>
                <c:pt idx="58">
                  <c:v>390</c:v>
                </c:pt>
                <c:pt idx="59">
                  <c:v>396.6667</c:v>
                </c:pt>
                <c:pt idx="60">
                  <c:v>403.3333</c:v>
                </c:pt>
                <c:pt idx="61">
                  <c:v>410</c:v>
                </c:pt>
                <c:pt idx="62">
                  <c:v>416.6667</c:v>
                </c:pt>
                <c:pt idx="63">
                  <c:v>423.3333</c:v>
                </c:pt>
                <c:pt idx="64">
                  <c:v>430</c:v>
                </c:pt>
                <c:pt idx="65">
                  <c:v>436.6667</c:v>
                </c:pt>
                <c:pt idx="66">
                  <c:v>443.3333</c:v>
                </c:pt>
                <c:pt idx="67">
                  <c:v>450</c:v>
                </c:pt>
                <c:pt idx="68">
                  <c:v>456.6667</c:v>
                </c:pt>
                <c:pt idx="69">
                  <c:v>463.3333</c:v>
                </c:pt>
                <c:pt idx="70">
                  <c:v>470</c:v>
                </c:pt>
                <c:pt idx="71">
                  <c:v>476.6667</c:v>
                </c:pt>
                <c:pt idx="72">
                  <c:v>483.3333</c:v>
                </c:pt>
                <c:pt idx="73">
                  <c:v>490</c:v>
                </c:pt>
                <c:pt idx="74">
                  <c:v>496.6667</c:v>
                </c:pt>
                <c:pt idx="75">
                  <c:v>503.3333</c:v>
                </c:pt>
                <c:pt idx="76">
                  <c:v>510</c:v>
                </c:pt>
                <c:pt idx="77">
                  <c:v>516.6667</c:v>
                </c:pt>
                <c:pt idx="78">
                  <c:v>523.3333</c:v>
                </c:pt>
                <c:pt idx="79">
                  <c:v>530</c:v>
                </c:pt>
                <c:pt idx="80">
                  <c:v>536.6667</c:v>
                </c:pt>
                <c:pt idx="81">
                  <c:v>543.3333</c:v>
                </c:pt>
                <c:pt idx="82">
                  <c:v>550</c:v>
                </c:pt>
                <c:pt idx="83">
                  <c:v>556.6667</c:v>
                </c:pt>
                <c:pt idx="84">
                  <c:v>563.3333</c:v>
                </c:pt>
                <c:pt idx="85">
                  <c:v>570</c:v>
                </c:pt>
                <c:pt idx="86">
                  <c:v>576.6667</c:v>
                </c:pt>
                <c:pt idx="87">
                  <c:v>583.3333</c:v>
                </c:pt>
                <c:pt idx="88">
                  <c:v>590</c:v>
                </c:pt>
                <c:pt idx="89">
                  <c:v>596.6667</c:v>
                </c:pt>
              </c:numCache>
            </c:numRef>
          </c:xVal>
          <c:yVal>
            <c:numRef>
              <c:f>Sheet1!$C$2:$C$91</c:f>
              <c:numCache>
                <c:formatCode>General</c:formatCode>
                <c:ptCount val="90"/>
                <c:pt idx="0">
                  <c:v>23.3137</c:v>
                </c:pt>
                <c:pt idx="1">
                  <c:v>23.7604</c:v>
                </c:pt>
                <c:pt idx="2">
                  <c:v>23.7454</c:v>
                </c:pt>
                <c:pt idx="3">
                  <c:v>23.7926</c:v>
                </c:pt>
                <c:pt idx="4">
                  <c:v>23.8512</c:v>
                </c:pt>
                <c:pt idx="5">
                  <c:v>23.906</c:v>
                </c:pt>
                <c:pt idx="6">
                  <c:v>23.9621</c:v>
                </c:pt>
                <c:pt idx="7">
                  <c:v>24.0187</c:v>
                </c:pt>
                <c:pt idx="8">
                  <c:v>24.0752</c:v>
                </c:pt>
                <c:pt idx="9">
                  <c:v>24.132</c:v>
                </c:pt>
                <c:pt idx="10">
                  <c:v>24.189</c:v>
                </c:pt>
                <c:pt idx="11">
                  <c:v>24.2462</c:v>
                </c:pt>
                <c:pt idx="12">
                  <c:v>24.3035</c:v>
                </c:pt>
                <c:pt idx="13">
                  <c:v>24.3609</c:v>
                </c:pt>
                <c:pt idx="14">
                  <c:v>24.4186</c:v>
                </c:pt>
                <c:pt idx="15">
                  <c:v>24.4764</c:v>
                </c:pt>
                <c:pt idx="16">
                  <c:v>24.5343</c:v>
                </c:pt>
                <c:pt idx="17">
                  <c:v>24.5924</c:v>
                </c:pt>
                <c:pt idx="18">
                  <c:v>24.6506</c:v>
                </c:pt>
                <c:pt idx="19">
                  <c:v>24.7089</c:v>
                </c:pt>
                <c:pt idx="20">
                  <c:v>24.7674</c:v>
                </c:pt>
                <c:pt idx="21">
                  <c:v>24.8259</c:v>
                </c:pt>
                <c:pt idx="22">
                  <c:v>24.8845</c:v>
                </c:pt>
                <c:pt idx="23">
                  <c:v>24.9432</c:v>
                </c:pt>
                <c:pt idx="24">
                  <c:v>25.002</c:v>
                </c:pt>
                <c:pt idx="25">
                  <c:v>25.0609</c:v>
                </c:pt>
                <c:pt idx="26">
                  <c:v>25.1198</c:v>
                </c:pt>
                <c:pt idx="27">
                  <c:v>25.1788</c:v>
                </c:pt>
                <c:pt idx="28">
                  <c:v>25.2379</c:v>
                </c:pt>
                <c:pt idx="29">
                  <c:v>25.297</c:v>
                </c:pt>
                <c:pt idx="30">
                  <c:v>25.3562</c:v>
                </c:pt>
                <c:pt idx="31">
                  <c:v>25.4155</c:v>
                </c:pt>
                <c:pt idx="32">
                  <c:v>25.4747</c:v>
                </c:pt>
                <c:pt idx="33">
                  <c:v>25.534</c:v>
                </c:pt>
                <c:pt idx="34">
                  <c:v>25.5933</c:v>
                </c:pt>
                <c:pt idx="35">
                  <c:v>25.6527</c:v>
                </c:pt>
                <c:pt idx="36">
                  <c:v>25.7121</c:v>
                </c:pt>
                <c:pt idx="37">
                  <c:v>25.7715</c:v>
                </c:pt>
                <c:pt idx="38">
                  <c:v>25.8309</c:v>
                </c:pt>
                <c:pt idx="39">
                  <c:v>25.8904</c:v>
                </c:pt>
                <c:pt idx="40">
                  <c:v>25.9499</c:v>
                </c:pt>
                <c:pt idx="41">
                  <c:v>26.0094</c:v>
                </c:pt>
                <c:pt idx="42">
                  <c:v>26.0689</c:v>
                </c:pt>
                <c:pt idx="43">
                  <c:v>26.1285</c:v>
                </c:pt>
                <c:pt idx="44">
                  <c:v>26.188</c:v>
                </c:pt>
                <c:pt idx="45">
                  <c:v>26.2476</c:v>
                </c:pt>
                <c:pt idx="46">
                  <c:v>26.3072</c:v>
                </c:pt>
                <c:pt idx="47">
                  <c:v>26.3669</c:v>
                </c:pt>
                <c:pt idx="48">
                  <c:v>26.4265</c:v>
                </c:pt>
                <c:pt idx="49">
                  <c:v>26.4862</c:v>
                </c:pt>
                <c:pt idx="50">
                  <c:v>26.5459</c:v>
                </c:pt>
                <c:pt idx="51">
                  <c:v>26.6055</c:v>
                </c:pt>
                <c:pt idx="52">
                  <c:v>26.6652</c:v>
                </c:pt>
                <c:pt idx="53">
                  <c:v>26.725</c:v>
                </c:pt>
                <c:pt idx="54">
                  <c:v>26.7847</c:v>
                </c:pt>
                <c:pt idx="55">
                  <c:v>26.8444</c:v>
                </c:pt>
                <c:pt idx="56">
                  <c:v>26.9042</c:v>
                </c:pt>
                <c:pt idx="57">
                  <c:v>26.9639</c:v>
                </c:pt>
                <c:pt idx="58">
                  <c:v>27.0237</c:v>
                </c:pt>
                <c:pt idx="59">
                  <c:v>27.0834</c:v>
                </c:pt>
                <c:pt idx="60">
                  <c:v>27.1432</c:v>
                </c:pt>
                <c:pt idx="61">
                  <c:v>27.203</c:v>
                </c:pt>
                <c:pt idx="62">
                  <c:v>27.2627</c:v>
                </c:pt>
                <c:pt idx="63">
                  <c:v>27.3225</c:v>
                </c:pt>
                <c:pt idx="64">
                  <c:v>27.3823</c:v>
                </c:pt>
                <c:pt idx="65">
                  <c:v>27.4421</c:v>
                </c:pt>
                <c:pt idx="66">
                  <c:v>27.5018</c:v>
                </c:pt>
                <c:pt idx="67">
                  <c:v>27.5616</c:v>
                </c:pt>
                <c:pt idx="68">
                  <c:v>27.6214</c:v>
                </c:pt>
                <c:pt idx="69">
                  <c:v>27.6811</c:v>
                </c:pt>
                <c:pt idx="70">
                  <c:v>27.7409</c:v>
                </c:pt>
                <c:pt idx="71">
                  <c:v>27.8007</c:v>
                </c:pt>
                <c:pt idx="72">
                  <c:v>27.8604</c:v>
                </c:pt>
                <c:pt idx="73">
                  <c:v>27.9201</c:v>
                </c:pt>
                <c:pt idx="74">
                  <c:v>27.9799</c:v>
                </c:pt>
                <c:pt idx="75">
                  <c:v>28.0396</c:v>
                </c:pt>
                <c:pt idx="76">
                  <c:v>28.0993</c:v>
                </c:pt>
                <c:pt idx="77">
                  <c:v>28.159</c:v>
                </c:pt>
                <c:pt idx="78">
                  <c:v>28.2186</c:v>
                </c:pt>
                <c:pt idx="79">
                  <c:v>28.2783</c:v>
                </c:pt>
                <c:pt idx="80">
                  <c:v>28.3378</c:v>
                </c:pt>
                <c:pt idx="81">
                  <c:v>28.3974</c:v>
                </c:pt>
                <c:pt idx="82">
                  <c:v>28.4567</c:v>
                </c:pt>
                <c:pt idx="83">
                  <c:v>28.5165</c:v>
                </c:pt>
                <c:pt idx="84">
                  <c:v>28.5752</c:v>
                </c:pt>
                <c:pt idx="85">
                  <c:v>28.6358</c:v>
                </c:pt>
                <c:pt idx="86">
                  <c:v>28.6925</c:v>
                </c:pt>
                <c:pt idx="87">
                  <c:v>28.7568</c:v>
                </c:pt>
                <c:pt idx="88">
                  <c:v>28.806</c:v>
                </c:pt>
                <c:pt idx="89">
                  <c:v>28.894</c:v>
                </c:pt>
              </c:numCache>
            </c:numRef>
          </c:yVal>
          <c:smooth val="0"/>
        </c:ser>
        <c:dLbls>
          <c:numFmt formatCode="General"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600"/>
          <c:min val="0"/>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z [mm]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243447"/>
                </a:solidFill>
                <a:latin typeface="Calibri"/>
              </a:defRPr>
            </a:pPr>
            <a:endParaRPr lang="en-US"/>
          </a:p>
        </c:txPr>
        <c:crossAx val="2094734552"/>
        <c:crosses val="autoZero"/>
        <c:auto val="1"/>
        <c:lblAlgn val="ctr"/>
        <c:noMultiLvlLbl val="1"/>
        <c:majorUnit val="100"/>
      </c:valAx>
      <c:valAx>
        <c:axId val="2094734552"/>
        <c:scaling>
          <c:orientation val="minMax"/>
          <c:max val="36"/>
          <c:min val="20"/>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243447"/>
                </a:solidFill>
                <a:latin typeface="Calibri"/>
              </a:defRPr>
            </a:pPr>
            <a:endParaRPr lang="en-US"/>
          </a:p>
        </c:txPr>
        <c:crossAx val="2094734554"/>
        <c:crosses val="autoZero"/>
        <c:crossBetween val="midCat"/>
        <c:majorUnit val="4"/>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libri"/>
              </a:defRPr>
            </a:pPr>
            <a:r>
              <a:rPr sz="1400" b="0" i="0" u="none" strike="noStrike">
                <a:solidFill>
                  <a:srgbClr val="14213D"/>
                </a:solidFill>
                <a:latin typeface="Calibri"/>
              </a:rPr>
              <a:t>Static pressure [Pa gauge]</a:t>
            </a:r>
          </a:p>
        </c:rich>
      </c:tx>
      <c:layout/>
      <c:overlay val="0"/>
    </c:title>
    <c:autoTitleDeleted val="0"/>
    <c:plotArea>
      <c:layout/>
      <c:scatterChart>
        <c:scatterStyle val="lineMarker"/>
        <c:varyColors val="0"/>
        <c:ser>
          <c:idx val="0"/>
          <c:order val="0"/>
          <c:tx>
            <c:strRef>
              <c:f>Sheet1!$B$1</c:f>
              <c:strCache>
                <c:ptCount val="1"/>
                <c:pt idx="0">
                  <c:v>static pressure</c:v>
                </c:pt>
              </c:strCache>
            </c:strRef>
          </c:tx>
          <c:spPr>
            <a:solidFill>
              <a:srgbClr val="5C6B7A"/>
            </a:solidFill>
            <a:ln w="28575" cap="flat">
              <a:solidFill>
                <a:srgbClr val="5C6B7A"/>
              </a:solidFill>
              <a:prstDash val="solid"/>
              <a:round/>
            </a:ln>
            <a:effectLst/>
          </c:spPr>
          <c:marker>
            <c:symbol val="none"/>
            <c:size val="6"/>
            <c:spPr>
              <a:solidFill>
                <a:srgbClr val="5C6B7A"/>
              </a:solidFill>
              <a:ln w="9525" cap="flat">
                <a:solidFill>
                  <a:srgbClr val="5C6B7A"/>
                </a:solidFill>
                <a:prstDash val="solid"/>
                <a:round/>
              </a:ln>
              <a:effectLst/>
            </c:spPr>
          </c:marker>
          <c:xVal>
            <c:numRef>
              <c:f>Sheet1!$A$2:$A$91</c:f>
              <c:numCache>
                <c:formatCode>General</c:formatCode>
                <c:ptCount val="90"/>
                <c:pt idx="0">
                  <c:v>3.3333</c:v>
                </c:pt>
                <c:pt idx="1">
                  <c:v>10</c:v>
                </c:pt>
                <c:pt idx="2">
                  <c:v>16.6667</c:v>
                </c:pt>
                <c:pt idx="3">
                  <c:v>23.3333</c:v>
                </c:pt>
                <c:pt idx="4">
                  <c:v>30</c:v>
                </c:pt>
                <c:pt idx="5">
                  <c:v>36.6667</c:v>
                </c:pt>
                <c:pt idx="6">
                  <c:v>43.3333</c:v>
                </c:pt>
                <c:pt idx="7">
                  <c:v>50</c:v>
                </c:pt>
                <c:pt idx="8">
                  <c:v>56.6667</c:v>
                </c:pt>
                <c:pt idx="9">
                  <c:v>63.3333</c:v>
                </c:pt>
                <c:pt idx="10">
                  <c:v>70</c:v>
                </c:pt>
                <c:pt idx="11">
                  <c:v>76.6667</c:v>
                </c:pt>
                <c:pt idx="12">
                  <c:v>83.3333</c:v>
                </c:pt>
                <c:pt idx="13">
                  <c:v>90</c:v>
                </c:pt>
                <c:pt idx="14">
                  <c:v>96.6667</c:v>
                </c:pt>
                <c:pt idx="15">
                  <c:v>103.3333</c:v>
                </c:pt>
                <c:pt idx="16">
                  <c:v>110</c:v>
                </c:pt>
                <c:pt idx="17">
                  <c:v>116.6667</c:v>
                </c:pt>
                <c:pt idx="18">
                  <c:v>123.3333</c:v>
                </c:pt>
                <c:pt idx="19">
                  <c:v>130</c:v>
                </c:pt>
                <c:pt idx="20">
                  <c:v>136.6667</c:v>
                </c:pt>
                <c:pt idx="21">
                  <c:v>143.3333</c:v>
                </c:pt>
                <c:pt idx="22">
                  <c:v>150</c:v>
                </c:pt>
                <c:pt idx="23">
                  <c:v>156.6667</c:v>
                </c:pt>
                <c:pt idx="24">
                  <c:v>163.3333</c:v>
                </c:pt>
                <c:pt idx="25">
                  <c:v>170</c:v>
                </c:pt>
                <c:pt idx="26">
                  <c:v>176.6667</c:v>
                </c:pt>
                <c:pt idx="27">
                  <c:v>183.3333</c:v>
                </c:pt>
                <c:pt idx="28">
                  <c:v>190</c:v>
                </c:pt>
                <c:pt idx="29">
                  <c:v>196.6667</c:v>
                </c:pt>
                <c:pt idx="30">
                  <c:v>203.3333</c:v>
                </c:pt>
                <c:pt idx="31">
                  <c:v>210</c:v>
                </c:pt>
                <c:pt idx="32">
                  <c:v>216.6667</c:v>
                </c:pt>
                <c:pt idx="33">
                  <c:v>223.3333</c:v>
                </c:pt>
                <c:pt idx="34">
                  <c:v>230</c:v>
                </c:pt>
                <c:pt idx="35">
                  <c:v>236.6667</c:v>
                </c:pt>
                <c:pt idx="36">
                  <c:v>243.3333</c:v>
                </c:pt>
                <c:pt idx="37">
                  <c:v>250</c:v>
                </c:pt>
                <c:pt idx="38">
                  <c:v>256.6667</c:v>
                </c:pt>
                <c:pt idx="39">
                  <c:v>263.3333</c:v>
                </c:pt>
                <c:pt idx="40">
                  <c:v>270</c:v>
                </c:pt>
                <c:pt idx="41">
                  <c:v>276.6667</c:v>
                </c:pt>
                <c:pt idx="42">
                  <c:v>283.3333</c:v>
                </c:pt>
                <c:pt idx="43">
                  <c:v>290</c:v>
                </c:pt>
                <c:pt idx="44">
                  <c:v>296.6667</c:v>
                </c:pt>
                <c:pt idx="45">
                  <c:v>303.3333</c:v>
                </c:pt>
                <c:pt idx="46">
                  <c:v>310</c:v>
                </c:pt>
                <c:pt idx="47">
                  <c:v>316.6667</c:v>
                </c:pt>
                <c:pt idx="48">
                  <c:v>323.3333</c:v>
                </c:pt>
                <c:pt idx="49">
                  <c:v>330</c:v>
                </c:pt>
                <c:pt idx="50">
                  <c:v>336.6667</c:v>
                </c:pt>
                <c:pt idx="51">
                  <c:v>343.3333</c:v>
                </c:pt>
                <c:pt idx="52">
                  <c:v>350</c:v>
                </c:pt>
                <c:pt idx="53">
                  <c:v>356.6667</c:v>
                </c:pt>
                <c:pt idx="54">
                  <c:v>363.3333</c:v>
                </c:pt>
                <c:pt idx="55">
                  <c:v>370</c:v>
                </c:pt>
                <c:pt idx="56">
                  <c:v>376.6667</c:v>
                </c:pt>
                <c:pt idx="57">
                  <c:v>383.3333</c:v>
                </c:pt>
                <c:pt idx="58">
                  <c:v>390</c:v>
                </c:pt>
                <c:pt idx="59">
                  <c:v>396.6667</c:v>
                </c:pt>
                <c:pt idx="60">
                  <c:v>403.3333</c:v>
                </c:pt>
                <c:pt idx="61">
                  <c:v>410</c:v>
                </c:pt>
                <c:pt idx="62">
                  <c:v>416.6667</c:v>
                </c:pt>
                <c:pt idx="63">
                  <c:v>423.3333</c:v>
                </c:pt>
                <c:pt idx="64">
                  <c:v>430</c:v>
                </c:pt>
                <c:pt idx="65">
                  <c:v>436.6667</c:v>
                </c:pt>
                <c:pt idx="66">
                  <c:v>443.3333</c:v>
                </c:pt>
                <c:pt idx="67">
                  <c:v>450</c:v>
                </c:pt>
                <c:pt idx="68">
                  <c:v>456.6667</c:v>
                </c:pt>
                <c:pt idx="69">
                  <c:v>463.3333</c:v>
                </c:pt>
                <c:pt idx="70">
                  <c:v>470</c:v>
                </c:pt>
                <c:pt idx="71">
                  <c:v>476.6667</c:v>
                </c:pt>
                <c:pt idx="72">
                  <c:v>483.3333</c:v>
                </c:pt>
                <c:pt idx="73">
                  <c:v>490</c:v>
                </c:pt>
                <c:pt idx="74">
                  <c:v>496.6667</c:v>
                </c:pt>
                <c:pt idx="75">
                  <c:v>503.3333</c:v>
                </c:pt>
                <c:pt idx="76">
                  <c:v>510</c:v>
                </c:pt>
                <c:pt idx="77">
                  <c:v>516.6667</c:v>
                </c:pt>
                <c:pt idx="78">
                  <c:v>523.3333</c:v>
                </c:pt>
                <c:pt idx="79">
                  <c:v>530</c:v>
                </c:pt>
                <c:pt idx="80">
                  <c:v>536.6667</c:v>
                </c:pt>
                <c:pt idx="81">
                  <c:v>543.3333</c:v>
                </c:pt>
                <c:pt idx="82">
                  <c:v>550</c:v>
                </c:pt>
                <c:pt idx="83">
                  <c:v>556.6667</c:v>
                </c:pt>
                <c:pt idx="84">
                  <c:v>563.3333</c:v>
                </c:pt>
                <c:pt idx="85">
                  <c:v>570</c:v>
                </c:pt>
                <c:pt idx="86">
                  <c:v>576.6667</c:v>
                </c:pt>
                <c:pt idx="87">
                  <c:v>583.3333</c:v>
                </c:pt>
                <c:pt idx="88">
                  <c:v>590</c:v>
                </c:pt>
                <c:pt idx="89">
                  <c:v>596.6667</c:v>
                </c:pt>
              </c:numCache>
            </c:numRef>
          </c:xVal>
          <c:yVal>
            <c:numRef>
              <c:f>Sheet1!$B$2:$B$91</c:f>
              <c:numCache>
                <c:formatCode>General</c:formatCode>
                <c:ptCount val="90"/>
                <c:pt idx="0">
                  <c:v>438.1263</c:v>
                </c:pt>
                <c:pt idx="1">
                  <c:v>406.0208</c:v>
                </c:pt>
                <c:pt idx="2">
                  <c:v>402.1181</c:v>
                </c:pt>
                <c:pt idx="3">
                  <c:v>396.805</c:v>
                </c:pt>
                <c:pt idx="4">
                  <c:v>390.9558</c:v>
                </c:pt>
                <c:pt idx="5">
                  <c:v>385.4407</c:v>
                </c:pt>
                <c:pt idx="6">
                  <c:v>379.999</c:v>
                </c:pt>
                <c:pt idx="7">
                  <c:v>374.6502</c:v>
                </c:pt>
                <c:pt idx="8">
                  <c:v>369.409</c:v>
                </c:pt>
                <c:pt idx="9">
                  <c:v>364.2506</c:v>
                </c:pt>
                <c:pt idx="10">
                  <c:v>359.1708</c:v>
                </c:pt>
                <c:pt idx="11">
                  <c:v>354.1604</c:v>
                </c:pt>
                <c:pt idx="12">
                  <c:v>349.2107</c:v>
                </c:pt>
                <c:pt idx="13">
                  <c:v>344.3163</c:v>
                </c:pt>
                <c:pt idx="14">
                  <c:v>339.4699</c:v>
                </c:pt>
                <c:pt idx="15">
                  <c:v>334.6659</c:v>
                </c:pt>
                <c:pt idx="16">
                  <c:v>329.8997</c:v>
                </c:pt>
                <c:pt idx="17">
                  <c:v>325.1683</c:v>
                </c:pt>
                <c:pt idx="18">
                  <c:v>320.4682</c:v>
                </c:pt>
                <c:pt idx="19">
                  <c:v>315.7952</c:v>
                </c:pt>
                <c:pt idx="20">
                  <c:v>311.1469</c:v>
                </c:pt>
                <c:pt idx="21">
                  <c:v>306.5221</c:v>
                </c:pt>
                <c:pt idx="22">
                  <c:v>301.9188</c:v>
                </c:pt>
                <c:pt idx="23">
                  <c:v>297.3354</c:v>
                </c:pt>
                <c:pt idx="24">
                  <c:v>292.7688</c:v>
                </c:pt>
                <c:pt idx="25">
                  <c:v>288.2187</c:v>
                </c:pt>
                <c:pt idx="26">
                  <c:v>283.6848</c:v>
                </c:pt>
                <c:pt idx="27">
                  <c:v>279.1652</c:v>
                </c:pt>
                <c:pt idx="28">
                  <c:v>274.6593</c:v>
                </c:pt>
                <c:pt idx="29">
                  <c:v>270.1627</c:v>
                </c:pt>
                <c:pt idx="30">
                  <c:v>265.6758</c:v>
                </c:pt>
                <c:pt idx="31">
                  <c:v>261.1984</c:v>
                </c:pt>
                <c:pt idx="32">
                  <c:v>256.7274</c:v>
                </c:pt>
                <c:pt idx="33">
                  <c:v>252.2637</c:v>
                </c:pt>
                <c:pt idx="34">
                  <c:v>247.8077</c:v>
                </c:pt>
                <c:pt idx="35">
                  <c:v>243.3583</c:v>
                </c:pt>
                <c:pt idx="36">
                  <c:v>238.9152</c:v>
                </c:pt>
                <c:pt idx="37">
                  <c:v>234.4777</c:v>
                </c:pt>
                <c:pt idx="38">
                  <c:v>230.045</c:v>
                </c:pt>
                <c:pt idx="39">
                  <c:v>225.6166</c:v>
                </c:pt>
                <c:pt idx="40">
                  <c:v>221.1917</c:v>
                </c:pt>
                <c:pt idx="41">
                  <c:v>216.7696</c:v>
                </c:pt>
                <c:pt idx="42">
                  <c:v>212.3504</c:v>
                </c:pt>
                <c:pt idx="43">
                  <c:v>207.9331</c:v>
                </c:pt>
                <c:pt idx="44">
                  <c:v>203.5177</c:v>
                </c:pt>
                <c:pt idx="45">
                  <c:v>199.1033</c:v>
                </c:pt>
                <c:pt idx="46">
                  <c:v>194.6898</c:v>
                </c:pt>
                <c:pt idx="47">
                  <c:v>190.2765</c:v>
                </c:pt>
                <c:pt idx="48">
                  <c:v>185.8625</c:v>
                </c:pt>
                <c:pt idx="49">
                  <c:v>181.4483</c:v>
                </c:pt>
                <c:pt idx="50">
                  <c:v>177.0332</c:v>
                </c:pt>
                <c:pt idx="51">
                  <c:v>172.617</c:v>
                </c:pt>
                <c:pt idx="52">
                  <c:v>168.1998</c:v>
                </c:pt>
                <c:pt idx="53">
                  <c:v>163.7808</c:v>
                </c:pt>
                <c:pt idx="54">
                  <c:v>159.3598</c:v>
                </c:pt>
                <c:pt idx="55">
                  <c:v>154.9367</c:v>
                </c:pt>
                <c:pt idx="56">
                  <c:v>150.5109</c:v>
                </c:pt>
                <c:pt idx="57">
                  <c:v>146.082</c:v>
                </c:pt>
                <c:pt idx="58">
                  <c:v>141.6501</c:v>
                </c:pt>
                <c:pt idx="59">
                  <c:v>137.2154</c:v>
                </c:pt>
                <c:pt idx="60">
                  <c:v>132.7775</c:v>
                </c:pt>
                <c:pt idx="61">
                  <c:v>128.3364</c:v>
                </c:pt>
                <c:pt idx="62">
                  <c:v>123.8921</c:v>
                </c:pt>
                <c:pt idx="63">
                  <c:v>119.4443</c:v>
                </c:pt>
                <c:pt idx="64">
                  <c:v>114.9933</c:v>
                </c:pt>
                <c:pt idx="65">
                  <c:v>110.5383</c:v>
                </c:pt>
                <c:pt idx="66">
                  <c:v>106.0795</c:v>
                </c:pt>
                <c:pt idx="67">
                  <c:v>101.6165</c:v>
                </c:pt>
                <c:pt idx="68">
                  <c:v>97.1493</c:v>
                </c:pt>
                <c:pt idx="69">
                  <c:v>92.6779</c:v>
                </c:pt>
                <c:pt idx="70">
                  <c:v>88.202</c:v>
                </c:pt>
                <c:pt idx="71">
                  <c:v>83.7216</c:v>
                </c:pt>
                <c:pt idx="72">
                  <c:v>79.2362</c:v>
                </c:pt>
                <c:pt idx="73">
                  <c:v>74.7459</c:v>
                </c:pt>
                <c:pt idx="74">
                  <c:v>70.2503</c:v>
                </c:pt>
                <c:pt idx="75">
                  <c:v>65.7494</c:v>
                </c:pt>
                <c:pt idx="76">
                  <c:v>61.2426</c:v>
                </c:pt>
                <c:pt idx="77">
                  <c:v>56.7305</c:v>
                </c:pt>
                <c:pt idx="78">
                  <c:v>52.2118</c:v>
                </c:pt>
                <c:pt idx="79">
                  <c:v>47.6883</c:v>
                </c:pt>
                <c:pt idx="80">
                  <c:v>43.1565</c:v>
                </c:pt>
                <c:pt idx="81">
                  <c:v>38.6233</c:v>
                </c:pt>
                <c:pt idx="82">
                  <c:v>34.0764</c:v>
                </c:pt>
                <c:pt idx="83">
                  <c:v>29.5387</c:v>
                </c:pt>
                <c:pt idx="84">
                  <c:v>24.9691</c:v>
                </c:pt>
                <c:pt idx="85">
                  <c:v>20.4433</c:v>
                </c:pt>
                <c:pt idx="86">
                  <c:v>15.8245</c:v>
                </c:pt>
                <c:pt idx="87">
                  <c:v>11.3643</c:v>
                </c:pt>
                <c:pt idx="88">
                  <c:v>6.6236</c:v>
                </c:pt>
                <c:pt idx="89">
                  <c:v>2.528</c:v>
                </c:pt>
              </c:numCache>
            </c:numRef>
          </c:yVal>
          <c:smooth val="0"/>
        </c:ser>
        <c:dLbls>
          <c:numFmt formatCode="General"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600"/>
          <c:min val="0"/>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z [mm]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243447"/>
                </a:solidFill>
                <a:latin typeface="Calibri"/>
              </a:defRPr>
            </a:pPr>
            <a:endParaRPr lang="en-US"/>
          </a:p>
        </c:txPr>
        <c:crossAx val="2094734552"/>
        <c:crosses val="autoZero"/>
        <c:auto val="1"/>
        <c:lblAlgn val="ctr"/>
        <c:noMultiLvlLbl val="1"/>
        <c:majorUnit val="100"/>
      </c:valAx>
      <c:valAx>
        <c:axId val="2094734552"/>
        <c:scaling>
          <c:orientation val="minMax"/>
          <c:max val="450"/>
          <c:min val="0"/>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243447"/>
                </a:solidFill>
                <a:latin typeface="Calibri"/>
              </a:defRPr>
            </a:pPr>
            <a:endParaRPr lang="en-US"/>
          </a:p>
        </c:txPr>
        <c:crossAx val="2094734554"/>
        <c:crosses val="autoZero"/>
        <c:crossBetween val="midCat"/>
        <c:majorUnit val="10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libri"/>
              </a:defRPr>
            </a:pPr>
            <a:r>
              <a:rPr sz="1400" b="0" i="0" u="none" strike="noStrike">
                <a:solidFill>
                  <a:srgbClr val="14213D"/>
                </a:solidFill>
                <a:latin typeface="Calibri"/>
              </a:rPr>
              <a:t>Temperature [K]</a:t>
            </a:r>
          </a:p>
        </c:rich>
      </c:tx>
      <c:layout/>
      <c:overlay val="0"/>
    </c:title>
    <c:autoTitleDeleted val="0"/>
    <c:plotArea>
      <c:layout/>
      <c:scatterChart>
        <c:scatterStyle val="lineMarker"/>
        <c:varyColors val="0"/>
        <c:ser>
          <c:idx val="0"/>
          <c:order val="0"/>
          <c:tx>
            <c:strRef>
              <c:f>Sheet1!$B$1</c:f>
              <c:strCache>
                <c:ptCount val="1"/>
                <c:pt idx="0">
                  <c:v>outer wall</c:v>
                </c:pt>
              </c:strCache>
            </c:strRef>
          </c:tx>
          <c:spPr>
            <a:solidFill>
              <a:srgbClr val="D9480F"/>
            </a:solidFill>
            <a:ln w="28575" cap="flat">
              <a:solidFill>
                <a:srgbClr val="D9480F"/>
              </a:solidFill>
              <a:prstDash val="solid"/>
              <a:round/>
            </a:ln>
            <a:effectLst/>
          </c:spPr>
          <c:marker>
            <c:symbol val="none"/>
            <c:size val="6"/>
            <c:spPr>
              <a:solidFill>
                <a:srgbClr val="D9480F"/>
              </a:solidFill>
              <a:ln w="9525" cap="flat">
                <a:solidFill>
                  <a:srgbClr val="D9480F"/>
                </a:solidFill>
                <a:prstDash val="solid"/>
                <a:round/>
              </a:ln>
              <a:effectLst/>
            </c:spPr>
          </c:marker>
          <c:xVal>
            <c:numRef>
              <c:f>Sheet1!$A$2:$A$91</c:f>
              <c:numCache>
                <c:formatCode>General</c:formatCode>
                <c:ptCount val="90"/>
                <c:pt idx="0">
                  <c:v>3.3333</c:v>
                </c:pt>
                <c:pt idx="1">
                  <c:v>10</c:v>
                </c:pt>
                <c:pt idx="2">
                  <c:v>16.6667</c:v>
                </c:pt>
                <c:pt idx="3">
                  <c:v>23.3333</c:v>
                </c:pt>
                <c:pt idx="4">
                  <c:v>30</c:v>
                </c:pt>
                <c:pt idx="5">
                  <c:v>36.6667</c:v>
                </c:pt>
                <c:pt idx="6">
                  <c:v>43.3333</c:v>
                </c:pt>
                <c:pt idx="7">
                  <c:v>50</c:v>
                </c:pt>
                <c:pt idx="8">
                  <c:v>56.6667</c:v>
                </c:pt>
                <c:pt idx="9">
                  <c:v>63.3333</c:v>
                </c:pt>
                <c:pt idx="10">
                  <c:v>70</c:v>
                </c:pt>
                <c:pt idx="11">
                  <c:v>76.6667</c:v>
                </c:pt>
                <c:pt idx="12">
                  <c:v>83.3333</c:v>
                </c:pt>
                <c:pt idx="13">
                  <c:v>90</c:v>
                </c:pt>
                <c:pt idx="14">
                  <c:v>96.6667</c:v>
                </c:pt>
                <c:pt idx="15">
                  <c:v>103.3333</c:v>
                </c:pt>
                <c:pt idx="16">
                  <c:v>110</c:v>
                </c:pt>
                <c:pt idx="17">
                  <c:v>116.6667</c:v>
                </c:pt>
                <c:pt idx="18">
                  <c:v>123.3333</c:v>
                </c:pt>
                <c:pt idx="19">
                  <c:v>130</c:v>
                </c:pt>
                <c:pt idx="20">
                  <c:v>136.6667</c:v>
                </c:pt>
                <c:pt idx="21">
                  <c:v>143.3333</c:v>
                </c:pt>
                <c:pt idx="22">
                  <c:v>150</c:v>
                </c:pt>
                <c:pt idx="23">
                  <c:v>156.6667</c:v>
                </c:pt>
                <c:pt idx="24">
                  <c:v>163.3333</c:v>
                </c:pt>
                <c:pt idx="25">
                  <c:v>170</c:v>
                </c:pt>
                <c:pt idx="26">
                  <c:v>176.6667</c:v>
                </c:pt>
                <c:pt idx="27">
                  <c:v>183.3333</c:v>
                </c:pt>
                <c:pt idx="28">
                  <c:v>190</c:v>
                </c:pt>
                <c:pt idx="29">
                  <c:v>196.6667</c:v>
                </c:pt>
                <c:pt idx="30">
                  <c:v>203.3333</c:v>
                </c:pt>
                <c:pt idx="31">
                  <c:v>210</c:v>
                </c:pt>
                <c:pt idx="32">
                  <c:v>216.6667</c:v>
                </c:pt>
                <c:pt idx="33">
                  <c:v>223.3333</c:v>
                </c:pt>
                <c:pt idx="34">
                  <c:v>230</c:v>
                </c:pt>
                <c:pt idx="35">
                  <c:v>236.6667</c:v>
                </c:pt>
                <c:pt idx="36">
                  <c:v>243.3333</c:v>
                </c:pt>
                <c:pt idx="37">
                  <c:v>250</c:v>
                </c:pt>
                <c:pt idx="38">
                  <c:v>256.6667</c:v>
                </c:pt>
                <c:pt idx="39">
                  <c:v>263.3333</c:v>
                </c:pt>
                <c:pt idx="40">
                  <c:v>270</c:v>
                </c:pt>
                <c:pt idx="41">
                  <c:v>276.6667</c:v>
                </c:pt>
                <c:pt idx="42">
                  <c:v>283.3333</c:v>
                </c:pt>
                <c:pt idx="43">
                  <c:v>290</c:v>
                </c:pt>
                <c:pt idx="44">
                  <c:v>296.6667</c:v>
                </c:pt>
                <c:pt idx="45">
                  <c:v>303.3333</c:v>
                </c:pt>
                <c:pt idx="46">
                  <c:v>310</c:v>
                </c:pt>
                <c:pt idx="47">
                  <c:v>316.6667</c:v>
                </c:pt>
                <c:pt idx="48">
                  <c:v>323.3333</c:v>
                </c:pt>
                <c:pt idx="49">
                  <c:v>330</c:v>
                </c:pt>
                <c:pt idx="50">
                  <c:v>336.6667</c:v>
                </c:pt>
                <c:pt idx="51">
                  <c:v>343.3333</c:v>
                </c:pt>
                <c:pt idx="52">
                  <c:v>350</c:v>
                </c:pt>
                <c:pt idx="53">
                  <c:v>356.6667</c:v>
                </c:pt>
                <c:pt idx="54">
                  <c:v>363.3333</c:v>
                </c:pt>
                <c:pt idx="55">
                  <c:v>370</c:v>
                </c:pt>
                <c:pt idx="56">
                  <c:v>376.6667</c:v>
                </c:pt>
                <c:pt idx="57">
                  <c:v>383.3333</c:v>
                </c:pt>
                <c:pt idx="58">
                  <c:v>390</c:v>
                </c:pt>
                <c:pt idx="59">
                  <c:v>396.6667</c:v>
                </c:pt>
                <c:pt idx="60">
                  <c:v>403.3333</c:v>
                </c:pt>
                <c:pt idx="61">
                  <c:v>410</c:v>
                </c:pt>
                <c:pt idx="62">
                  <c:v>416.6667</c:v>
                </c:pt>
                <c:pt idx="63">
                  <c:v>423.3333</c:v>
                </c:pt>
                <c:pt idx="64">
                  <c:v>430</c:v>
                </c:pt>
                <c:pt idx="65">
                  <c:v>436.6667</c:v>
                </c:pt>
                <c:pt idx="66">
                  <c:v>443.3333</c:v>
                </c:pt>
                <c:pt idx="67">
                  <c:v>450</c:v>
                </c:pt>
                <c:pt idx="68">
                  <c:v>456.6667</c:v>
                </c:pt>
                <c:pt idx="69">
                  <c:v>463.3333</c:v>
                </c:pt>
                <c:pt idx="70">
                  <c:v>470</c:v>
                </c:pt>
                <c:pt idx="71">
                  <c:v>476.6667</c:v>
                </c:pt>
                <c:pt idx="72">
                  <c:v>483.3333</c:v>
                </c:pt>
                <c:pt idx="73">
                  <c:v>490</c:v>
                </c:pt>
                <c:pt idx="74">
                  <c:v>496.6667</c:v>
                </c:pt>
                <c:pt idx="75">
                  <c:v>503.3333</c:v>
                </c:pt>
                <c:pt idx="76">
                  <c:v>510</c:v>
                </c:pt>
                <c:pt idx="77">
                  <c:v>516.6667</c:v>
                </c:pt>
                <c:pt idx="78">
                  <c:v>523.3333</c:v>
                </c:pt>
                <c:pt idx="79">
                  <c:v>530</c:v>
                </c:pt>
                <c:pt idx="80">
                  <c:v>536.6667</c:v>
                </c:pt>
                <c:pt idx="81">
                  <c:v>543.3333</c:v>
                </c:pt>
                <c:pt idx="82">
                  <c:v>550</c:v>
                </c:pt>
                <c:pt idx="83">
                  <c:v>556.6667</c:v>
                </c:pt>
                <c:pt idx="84">
                  <c:v>563.3333</c:v>
                </c:pt>
                <c:pt idx="85">
                  <c:v>570</c:v>
                </c:pt>
                <c:pt idx="86">
                  <c:v>576.6667</c:v>
                </c:pt>
                <c:pt idx="87">
                  <c:v>583.3333</c:v>
                </c:pt>
                <c:pt idx="88">
                  <c:v>590</c:v>
                </c:pt>
                <c:pt idx="89">
                  <c:v>596.6667</c:v>
                </c:pt>
              </c:numCache>
            </c:numRef>
          </c:xVal>
          <c:yVal>
            <c:numRef>
              <c:f>Sheet1!$B$2:$B$91</c:f>
              <c:numCache>
                <c:formatCode>General</c:formatCode>
                <c:ptCount val="90"/>
                <c:pt idx="0">
                  <c:v>438.3317</c:v>
                </c:pt>
                <c:pt idx="1">
                  <c:v>442.261</c:v>
                </c:pt>
                <c:pt idx="2">
                  <c:v>447.3111</c:v>
                </c:pt>
                <c:pt idx="3">
                  <c:v>452.3797</c:v>
                </c:pt>
                <c:pt idx="4">
                  <c:v>457.2184</c:v>
                </c:pt>
                <c:pt idx="5">
                  <c:v>461.7973</c:v>
                </c:pt>
                <c:pt idx="6">
                  <c:v>466.126</c:v>
                </c:pt>
                <c:pt idx="7">
                  <c:v>470.2185</c:v>
                </c:pt>
                <c:pt idx="8">
                  <c:v>474.0884</c:v>
                </c:pt>
                <c:pt idx="9">
                  <c:v>477.7466</c:v>
                </c:pt>
                <c:pt idx="10">
                  <c:v>481.2054</c:v>
                </c:pt>
                <c:pt idx="11">
                  <c:v>484.4771</c:v>
                </c:pt>
                <c:pt idx="12">
                  <c:v>487.5738</c:v>
                </c:pt>
                <c:pt idx="13">
                  <c:v>490.5072</c:v>
                </c:pt>
                <c:pt idx="14">
                  <c:v>493.2883</c:v>
                </c:pt>
                <c:pt idx="15">
                  <c:v>495.9278</c:v>
                </c:pt>
                <c:pt idx="16">
                  <c:v>498.4354</c:v>
                </c:pt>
                <c:pt idx="17">
                  <c:v>500.8203</c:v>
                </c:pt>
                <c:pt idx="18">
                  <c:v>503.0909</c:v>
                </c:pt>
                <c:pt idx="19">
                  <c:v>505.2553</c:v>
                </c:pt>
                <c:pt idx="20">
                  <c:v>507.3206</c:v>
                </c:pt>
                <c:pt idx="21">
                  <c:v>509.2935</c:v>
                </c:pt>
                <c:pt idx="22">
                  <c:v>511.1802</c:v>
                </c:pt>
                <c:pt idx="23">
                  <c:v>512.9863</c:v>
                </c:pt>
                <c:pt idx="24">
                  <c:v>514.7171</c:v>
                </c:pt>
                <c:pt idx="25">
                  <c:v>516.3773</c:v>
                </c:pt>
                <c:pt idx="26">
                  <c:v>517.9714</c:v>
                </c:pt>
                <c:pt idx="27">
                  <c:v>519.5035</c:v>
                </c:pt>
                <c:pt idx="28">
                  <c:v>520.9773</c:v>
                </c:pt>
                <c:pt idx="29">
                  <c:v>522.3962</c:v>
                </c:pt>
                <c:pt idx="30">
                  <c:v>523.7635</c:v>
                </c:pt>
                <c:pt idx="31">
                  <c:v>525.0821</c:v>
                </c:pt>
                <c:pt idx="32">
                  <c:v>526.3548</c:v>
                </c:pt>
                <c:pt idx="33">
                  <c:v>527.5841</c:v>
                </c:pt>
                <c:pt idx="34">
                  <c:v>528.7723</c:v>
                </c:pt>
                <c:pt idx="35">
                  <c:v>529.9218</c:v>
                </c:pt>
                <c:pt idx="36">
                  <c:v>531.0345</c:v>
                </c:pt>
                <c:pt idx="37">
                  <c:v>532.1124</c:v>
                </c:pt>
                <c:pt idx="38">
                  <c:v>533.1574</c:v>
                </c:pt>
                <c:pt idx="39">
                  <c:v>534.1711</c:v>
                </c:pt>
                <c:pt idx="40">
                  <c:v>535.1551</c:v>
                </c:pt>
                <c:pt idx="41">
                  <c:v>536.1111</c:v>
                </c:pt>
                <c:pt idx="42">
                  <c:v>537.0403</c:v>
                </c:pt>
                <c:pt idx="43">
                  <c:v>537.9442</c:v>
                </c:pt>
                <c:pt idx="44">
                  <c:v>538.824</c:v>
                </c:pt>
                <c:pt idx="45">
                  <c:v>539.6811</c:v>
                </c:pt>
                <c:pt idx="46">
                  <c:v>540.5164</c:v>
                </c:pt>
                <c:pt idx="47">
                  <c:v>541.3311</c:v>
                </c:pt>
                <c:pt idx="48">
                  <c:v>542.1262</c:v>
                </c:pt>
                <c:pt idx="49">
                  <c:v>542.9027</c:v>
                </c:pt>
                <c:pt idx="50">
                  <c:v>543.6614</c:v>
                </c:pt>
                <c:pt idx="51">
                  <c:v>544.4033</c:v>
                </c:pt>
                <c:pt idx="52">
                  <c:v>545.1291</c:v>
                </c:pt>
                <c:pt idx="53">
                  <c:v>545.8394</c:v>
                </c:pt>
                <c:pt idx="54">
                  <c:v>546.5352</c:v>
                </c:pt>
                <c:pt idx="55">
                  <c:v>547.2169</c:v>
                </c:pt>
                <c:pt idx="56">
                  <c:v>547.8851</c:v>
                </c:pt>
                <c:pt idx="57">
                  <c:v>548.5405</c:v>
                </c:pt>
                <c:pt idx="58">
                  <c:v>549.1835</c:v>
                </c:pt>
                <c:pt idx="59">
                  <c:v>549.8144</c:v>
                </c:pt>
                <c:pt idx="60">
                  <c:v>550.4336</c:v>
                </c:pt>
                <c:pt idx="61">
                  <c:v>551.0415</c:v>
                </c:pt>
                <c:pt idx="62">
                  <c:v>551.6382</c:v>
                </c:pt>
                <c:pt idx="63">
                  <c:v>552.2239</c:v>
                </c:pt>
                <c:pt idx="64">
                  <c:v>552.7988</c:v>
                </c:pt>
                <c:pt idx="65">
                  <c:v>553.363</c:v>
                </c:pt>
                <c:pt idx="66">
                  <c:v>553.9166</c:v>
                </c:pt>
                <c:pt idx="67">
                  <c:v>554.4596</c:v>
                </c:pt>
                <c:pt idx="68">
                  <c:v>554.9921</c:v>
                </c:pt>
                <c:pt idx="69">
                  <c:v>555.514</c:v>
                </c:pt>
                <c:pt idx="70">
                  <c:v>556.0252</c:v>
                </c:pt>
                <c:pt idx="71">
                  <c:v>556.5256</c:v>
                </c:pt>
                <c:pt idx="72">
                  <c:v>557.0149</c:v>
                </c:pt>
                <c:pt idx="73">
                  <c:v>557.4928</c:v>
                </c:pt>
                <c:pt idx="74">
                  <c:v>557.9589</c:v>
                </c:pt>
                <c:pt idx="75">
                  <c:v>558.4127</c:v>
                </c:pt>
                <c:pt idx="76">
                  <c:v>558.8535</c:v>
                </c:pt>
                <c:pt idx="77">
                  <c:v>559.2804</c:v>
                </c:pt>
                <c:pt idx="78">
                  <c:v>559.6924</c:v>
                </c:pt>
                <c:pt idx="79">
                  <c:v>560.0882</c:v>
                </c:pt>
                <c:pt idx="80">
                  <c:v>560.466</c:v>
                </c:pt>
                <c:pt idx="81">
                  <c:v>560.824</c:v>
                </c:pt>
                <c:pt idx="82">
                  <c:v>561.1597</c:v>
                </c:pt>
                <c:pt idx="83">
                  <c:v>561.4706</c:v>
                </c:pt>
                <c:pt idx="84">
                  <c:v>561.753</c:v>
                </c:pt>
                <c:pt idx="85">
                  <c:v>562.0033</c:v>
                </c:pt>
                <c:pt idx="86">
                  <c:v>562.2167</c:v>
                </c:pt>
                <c:pt idx="87">
                  <c:v>562.3879</c:v>
                </c:pt>
                <c:pt idx="88">
                  <c:v>562.5104</c:v>
                </c:pt>
                <c:pt idx="89">
                  <c:v>562.5767</c:v>
                </c:pt>
              </c:numCache>
            </c:numRef>
          </c:yVal>
          <c:smooth val="0"/>
        </c:ser>
        <c:ser>
          <c:idx val="1"/>
          <c:order val="1"/>
          <c:tx>
            <c:strRef>
              <c:f>Sheet1!$C$1</c:f>
              <c:strCache>
                <c:ptCount val="1"/>
                <c:pt idx="0">
                  <c:v>inner wall</c:v>
                </c:pt>
              </c:strCache>
            </c:strRef>
          </c:tx>
          <c:spPr>
            <a:solidFill>
              <a:srgbClr val="F59F00"/>
            </a:solidFill>
            <a:ln w="28575" cap="flat">
              <a:solidFill>
                <a:srgbClr val="F59F00"/>
              </a:solidFill>
              <a:prstDash val="solid"/>
              <a:round/>
            </a:ln>
            <a:effectLst/>
          </c:spPr>
          <c:marker>
            <c:symbol val="none"/>
            <c:size val="6"/>
            <c:spPr>
              <a:solidFill>
                <a:srgbClr val="F59F00"/>
              </a:solidFill>
              <a:ln w="9525" cap="flat">
                <a:solidFill>
                  <a:srgbClr val="F59F00"/>
                </a:solidFill>
                <a:prstDash val="solid"/>
                <a:round/>
              </a:ln>
              <a:effectLst/>
            </c:spPr>
          </c:marker>
          <c:xVal>
            <c:numRef>
              <c:f>Sheet1!$A$2:$A$91</c:f>
              <c:numCache>
                <c:formatCode>General</c:formatCode>
                <c:ptCount val="90"/>
                <c:pt idx="0">
                  <c:v>3.3333</c:v>
                </c:pt>
                <c:pt idx="1">
                  <c:v>10</c:v>
                </c:pt>
                <c:pt idx="2">
                  <c:v>16.6667</c:v>
                </c:pt>
                <c:pt idx="3">
                  <c:v>23.3333</c:v>
                </c:pt>
                <c:pt idx="4">
                  <c:v>30</c:v>
                </c:pt>
                <c:pt idx="5">
                  <c:v>36.6667</c:v>
                </c:pt>
                <c:pt idx="6">
                  <c:v>43.3333</c:v>
                </c:pt>
                <c:pt idx="7">
                  <c:v>50</c:v>
                </c:pt>
                <c:pt idx="8">
                  <c:v>56.6667</c:v>
                </c:pt>
                <c:pt idx="9">
                  <c:v>63.3333</c:v>
                </c:pt>
                <c:pt idx="10">
                  <c:v>70</c:v>
                </c:pt>
                <c:pt idx="11">
                  <c:v>76.6667</c:v>
                </c:pt>
                <c:pt idx="12">
                  <c:v>83.3333</c:v>
                </c:pt>
                <c:pt idx="13">
                  <c:v>90</c:v>
                </c:pt>
                <c:pt idx="14">
                  <c:v>96.6667</c:v>
                </c:pt>
                <c:pt idx="15">
                  <c:v>103.3333</c:v>
                </c:pt>
                <c:pt idx="16">
                  <c:v>110</c:v>
                </c:pt>
                <c:pt idx="17">
                  <c:v>116.6667</c:v>
                </c:pt>
                <c:pt idx="18">
                  <c:v>123.3333</c:v>
                </c:pt>
                <c:pt idx="19">
                  <c:v>130</c:v>
                </c:pt>
                <c:pt idx="20">
                  <c:v>136.6667</c:v>
                </c:pt>
                <c:pt idx="21">
                  <c:v>143.3333</c:v>
                </c:pt>
                <c:pt idx="22">
                  <c:v>150</c:v>
                </c:pt>
                <c:pt idx="23">
                  <c:v>156.6667</c:v>
                </c:pt>
                <c:pt idx="24">
                  <c:v>163.3333</c:v>
                </c:pt>
                <c:pt idx="25">
                  <c:v>170</c:v>
                </c:pt>
                <c:pt idx="26">
                  <c:v>176.6667</c:v>
                </c:pt>
                <c:pt idx="27">
                  <c:v>183.3333</c:v>
                </c:pt>
                <c:pt idx="28">
                  <c:v>190</c:v>
                </c:pt>
                <c:pt idx="29">
                  <c:v>196.6667</c:v>
                </c:pt>
                <c:pt idx="30">
                  <c:v>203.3333</c:v>
                </c:pt>
                <c:pt idx="31">
                  <c:v>210</c:v>
                </c:pt>
                <c:pt idx="32">
                  <c:v>216.6667</c:v>
                </c:pt>
                <c:pt idx="33">
                  <c:v>223.3333</c:v>
                </c:pt>
                <c:pt idx="34">
                  <c:v>230</c:v>
                </c:pt>
                <c:pt idx="35">
                  <c:v>236.6667</c:v>
                </c:pt>
                <c:pt idx="36">
                  <c:v>243.3333</c:v>
                </c:pt>
                <c:pt idx="37">
                  <c:v>250</c:v>
                </c:pt>
                <c:pt idx="38">
                  <c:v>256.6667</c:v>
                </c:pt>
                <c:pt idx="39">
                  <c:v>263.3333</c:v>
                </c:pt>
                <c:pt idx="40">
                  <c:v>270</c:v>
                </c:pt>
                <c:pt idx="41">
                  <c:v>276.6667</c:v>
                </c:pt>
                <c:pt idx="42">
                  <c:v>283.3333</c:v>
                </c:pt>
                <c:pt idx="43">
                  <c:v>290</c:v>
                </c:pt>
                <c:pt idx="44">
                  <c:v>296.6667</c:v>
                </c:pt>
                <c:pt idx="45">
                  <c:v>303.3333</c:v>
                </c:pt>
                <c:pt idx="46">
                  <c:v>310</c:v>
                </c:pt>
                <c:pt idx="47">
                  <c:v>316.6667</c:v>
                </c:pt>
                <c:pt idx="48">
                  <c:v>323.3333</c:v>
                </c:pt>
                <c:pt idx="49">
                  <c:v>330</c:v>
                </c:pt>
                <c:pt idx="50">
                  <c:v>336.6667</c:v>
                </c:pt>
                <c:pt idx="51">
                  <c:v>343.3333</c:v>
                </c:pt>
                <c:pt idx="52">
                  <c:v>350</c:v>
                </c:pt>
                <c:pt idx="53">
                  <c:v>356.6667</c:v>
                </c:pt>
                <c:pt idx="54">
                  <c:v>363.3333</c:v>
                </c:pt>
                <c:pt idx="55">
                  <c:v>370</c:v>
                </c:pt>
                <c:pt idx="56">
                  <c:v>376.6667</c:v>
                </c:pt>
                <c:pt idx="57">
                  <c:v>383.3333</c:v>
                </c:pt>
                <c:pt idx="58">
                  <c:v>390</c:v>
                </c:pt>
                <c:pt idx="59">
                  <c:v>396.6667</c:v>
                </c:pt>
                <c:pt idx="60">
                  <c:v>403.3333</c:v>
                </c:pt>
                <c:pt idx="61">
                  <c:v>410</c:v>
                </c:pt>
                <c:pt idx="62">
                  <c:v>416.6667</c:v>
                </c:pt>
                <c:pt idx="63">
                  <c:v>423.3333</c:v>
                </c:pt>
                <c:pt idx="64">
                  <c:v>430</c:v>
                </c:pt>
                <c:pt idx="65">
                  <c:v>436.6667</c:v>
                </c:pt>
                <c:pt idx="66">
                  <c:v>443.3333</c:v>
                </c:pt>
                <c:pt idx="67">
                  <c:v>450</c:v>
                </c:pt>
                <c:pt idx="68">
                  <c:v>456.6667</c:v>
                </c:pt>
                <c:pt idx="69">
                  <c:v>463.3333</c:v>
                </c:pt>
                <c:pt idx="70">
                  <c:v>470</c:v>
                </c:pt>
                <c:pt idx="71">
                  <c:v>476.6667</c:v>
                </c:pt>
                <c:pt idx="72">
                  <c:v>483.3333</c:v>
                </c:pt>
                <c:pt idx="73">
                  <c:v>490</c:v>
                </c:pt>
                <c:pt idx="74">
                  <c:v>496.6667</c:v>
                </c:pt>
                <c:pt idx="75">
                  <c:v>503.3333</c:v>
                </c:pt>
                <c:pt idx="76">
                  <c:v>510</c:v>
                </c:pt>
                <c:pt idx="77">
                  <c:v>516.6667</c:v>
                </c:pt>
                <c:pt idx="78">
                  <c:v>523.3333</c:v>
                </c:pt>
                <c:pt idx="79">
                  <c:v>530</c:v>
                </c:pt>
                <c:pt idx="80">
                  <c:v>536.6667</c:v>
                </c:pt>
                <c:pt idx="81">
                  <c:v>543.3333</c:v>
                </c:pt>
                <c:pt idx="82">
                  <c:v>550</c:v>
                </c:pt>
                <c:pt idx="83">
                  <c:v>556.6667</c:v>
                </c:pt>
                <c:pt idx="84">
                  <c:v>563.3333</c:v>
                </c:pt>
                <c:pt idx="85">
                  <c:v>570</c:v>
                </c:pt>
                <c:pt idx="86">
                  <c:v>576.6667</c:v>
                </c:pt>
                <c:pt idx="87">
                  <c:v>583.3333</c:v>
                </c:pt>
                <c:pt idx="88">
                  <c:v>590</c:v>
                </c:pt>
                <c:pt idx="89">
                  <c:v>596.6667</c:v>
                </c:pt>
              </c:numCache>
            </c:numRef>
          </c:xVal>
          <c:yVal>
            <c:numRef>
              <c:f>Sheet1!$C$2:$C$91</c:f>
              <c:numCache>
                <c:formatCode>General</c:formatCode>
                <c:ptCount val="90"/>
                <c:pt idx="0">
                  <c:v>423.2122</c:v>
                </c:pt>
                <c:pt idx="1">
                  <c:v>432.6635</c:v>
                </c:pt>
                <c:pt idx="2">
                  <c:v>438.9942</c:v>
                </c:pt>
                <c:pt idx="3">
                  <c:v>444.2974</c:v>
                </c:pt>
                <c:pt idx="4">
                  <c:v>449.1844</c:v>
                </c:pt>
                <c:pt idx="5">
                  <c:v>453.7864</c:v>
                </c:pt>
                <c:pt idx="6">
                  <c:v>458.1352</c:v>
                </c:pt>
                <c:pt idx="7">
                  <c:v>462.2465</c:v>
                </c:pt>
                <c:pt idx="8">
                  <c:v>466.1338</c:v>
                </c:pt>
                <c:pt idx="9">
                  <c:v>469.81</c:v>
                </c:pt>
                <c:pt idx="10">
                  <c:v>473.2875</c:v>
                </c:pt>
                <c:pt idx="11">
                  <c:v>476.5775</c:v>
                </c:pt>
                <c:pt idx="12">
                  <c:v>479.6907</c:v>
                </c:pt>
                <c:pt idx="13">
                  <c:v>482.6393</c:v>
                </c:pt>
                <c:pt idx="14">
                  <c:v>485.4346</c:v>
                </c:pt>
                <c:pt idx="15">
                  <c:v>488.0875</c:v>
                </c:pt>
                <c:pt idx="16">
                  <c:v>490.6078</c:v>
                </c:pt>
                <c:pt idx="17">
                  <c:v>493.0048</c:v>
                </c:pt>
                <c:pt idx="18">
                  <c:v>495.2871</c:v>
                </c:pt>
                <c:pt idx="19">
                  <c:v>497.4628</c:v>
                </c:pt>
                <c:pt idx="20">
                  <c:v>499.5391</c:v>
                </c:pt>
                <c:pt idx="21">
                  <c:v>501.5228</c:v>
                </c:pt>
                <c:pt idx="22">
                  <c:v>503.4199</c:v>
                </c:pt>
                <c:pt idx="23">
                  <c:v>505.2362</c:v>
                </c:pt>
                <c:pt idx="24">
                  <c:v>506.9769</c:v>
                </c:pt>
                <c:pt idx="25">
                  <c:v>508.6469</c:v>
                </c:pt>
                <c:pt idx="26">
                  <c:v>510.2505</c:v>
                </c:pt>
                <c:pt idx="27">
                  <c:v>511.7918</c:v>
                </c:pt>
                <c:pt idx="28">
                  <c:v>513.2747</c:v>
                </c:pt>
                <c:pt idx="29">
                  <c:v>514.7025</c:v>
                </c:pt>
                <c:pt idx="30">
                  <c:v>516.0784</c:v>
                </c:pt>
                <c:pt idx="31">
                  <c:v>517.4055</c:v>
                </c:pt>
                <c:pt idx="32">
                  <c:v>518.6864</c:v>
                </c:pt>
                <c:pt idx="33">
                  <c:v>519.9237</c:v>
                </c:pt>
                <c:pt idx="34">
                  <c:v>521.1198</c:v>
                </c:pt>
                <c:pt idx="35">
                  <c:v>522.277</c:v>
                </c:pt>
                <c:pt idx="36">
                  <c:v>523.3972</c:v>
                </c:pt>
                <c:pt idx="37">
                  <c:v>524.4824</c:v>
                </c:pt>
                <c:pt idx="38">
                  <c:v>525.5345</c:v>
                </c:pt>
                <c:pt idx="39">
                  <c:v>526.5552</c:v>
                </c:pt>
                <c:pt idx="40">
                  <c:v>527.546</c:v>
                </c:pt>
                <c:pt idx="41">
                  <c:v>528.5085</c:v>
                </c:pt>
                <c:pt idx="42">
                  <c:v>529.4442</c:v>
                </c:pt>
                <c:pt idx="43">
                  <c:v>530.3544</c:v>
                </c:pt>
                <c:pt idx="44">
                  <c:v>531.2405</c:v>
                </c:pt>
                <c:pt idx="45">
                  <c:v>532.1036</c:v>
                </c:pt>
                <c:pt idx="46">
                  <c:v>532.9448</c:v>
                </c:pt>
                <c:pt idx="47">
                  <c:v>533.7654</c:v>
                </c:pt>
                <c:pt idx="48">
                  <c:v>534.5662</c:v>
                </c:pt>
                <c:pt idx="49">
                  <c:v>535.3484</c:v>
                </c:pt>
                <c:pt idx="50">
                  <c:v>536.1126</c:v>
                </c:pt>
                <c:pt idx="51">
                  <c:v>536.8599</c:v>
                </c:pt>
                <c:pt idx="52">
                  <c:v>537.591</c:v>
                </c:pt>
                <c:pt idx="53">
                  <c:v>538.3067</c:v>
                </c:pt>
                <c:pt idx="54">
                  <c:v>539.0077</c:v>
                </c:pt>
                <c:pt idx="55">
                  <c:v>539.6945</c:v>
                </c:pt>
                <c:pt idx="56">
                  <c:v>540.3679</c:v>
                </c:pt>
                <c:pt idx="57">
                  <c:v>541.0284</c:v>
                </c:pt>
                <c:pt idx="58">
                  <c:v>541.6764</c:v>
                </c:pt>
                <c:pt idx="59">
                  <c:v>542.3123</c:v>
                </c:pt>
                <c:pt idx="60">
                  <c:v>542.9366</c:v>
                </c:pt>
                <c:pt idx="61">
                  <c:v>543.5494</c:v>
                </c:pt>
                <c:pt idx="62">
                  <c:v>544.151</c:v>
                </c:pt>
                <c:pt idx="63">
                  <c:v>544.7416</c:v>
                </c:pt>
                <c:pt idx="64">
                  <c:v>545.3213</c:v>
                </c:pt>
                <c:pt idx="65">
                  <c:v>545.8903</c:v>
                </c:pt>
                <c:pt idx="66">
                  <c:v>546.4486</c:v>
                </c:pt>
                <c:pt idx="67">
                  <c:v>546.9963</c:v>
                </c:pt>
                <c:pt idx="68">
                  <c:v>547.5335</c:v>
                </c:pt>
                <c:pt idx="69">
                  <c:v>548.06</c:v>
                </c:pt>
                <c:pt idx="70">
                  <c:v>548.5758</c:v>
                </c:pt>
                <c:pt idx="71">
                  <c:v>549.0808</c:v>
                </c:pt>
                <c:pt idx="72">
                  <c:v>549.5748</c:v>
                </c:pt>
                <c:pt idx="73">
                  <c:v>550.0574</c:v>
                </c:pt>
                <c:pt idx="74">
                  <c:v>550.5283</c:v>
                </c:pt>
                <c:pt idx="75">
                  <c:v>550.987</c:v>
                </c:pt>
                <c:pt idx="76">
                  <c:v>551.4328</c:v>
                </c:pt>
                <c:pt idx="77">
                  <c:v>551.8649</c:v>
                </c:pt>
                <c:pt idx="78">
                  <c:v>552.2824</c:v>
                </c:pt>
                <c:pt idx="79">
                  <c:v>552.6838</c:v>
                </c:pt>
                <c:pt idx="80">
                  <c:v>553.0676</c:v>
                </c:pt>
                <c:pt idx="81">
                  <c:v>553.4321</c:v>
                </c:pt>
                <c:pt idx="82">
                  <c:v>553.7747</c:v>
                </c:pt>
                <c:pt idx="83">
                  <c:v>554.093</c:v>
                </c:pt>
                <c:pt idx="84">
                  <c:v>554.3834</c:v>
                </c:pt>
                <c:pt idx="85">
                  <c:v>554.6427</c:v>
                </c:pt>
                <c:pt idx="86">
                  <c:v>554.8653</c:v>
                </c:pt>
                <c:pt idx="87">
                  <c:v>555.0477</c:v>
                </c:pt>
                <c:pt idx="88">
                  <c:v>555.1811</c:v>
                </c:pt>
                <c:pt idx="89">
                  <c:v>555.2666</c:v>
                </c:pt>
              </c:numCache>
            </c:numRef>
          </c:yVal>
          <c:smooth val="0"/>
        </c:ser>
        <c:ser>
          <c:idx val="2"/>
          <c:order val="2"/>
          <c:tx>
            <c:strRef>
              <c:f>Sheet1!$D$1</c:f>
              <c:strCache>
                <c:ptCount val="1"/>
                <c:pt idx="0">
                  <c:v>air (bulk)</c:v>
                </c:pt>
              </c:strCache>
            </c:strRef>
          </c:tx>
          <c:spPr>
            <a:solidFill>
              <a:srgbClr val="2F5D8A"/>
            </a:solidFill>
            <a:ln w="28575" cap="flat">
              <a:solidFill>
                <a:srgbClr val="2F5D8A"/>
              </a:solidFill>
              <a:prstDash val="solid"/>
              <a:round/>
            </a:ln>
            <a:effectLst/>
          </c:spPr>
          <c:marker>
            <c:symbol val="none"/>
            <c:size val="6"/>
            <c:spPr>
              <a:solidFill>
                <a:srgbClr val="2F5D8A"/>
              </a:solidFill>
              <a:ln w="9525" cap="flat">
                <a:solidFill>
                  <a:srgbClr val="2F5D8A"/>
                </a:solidFill>
                <a:prstDash val="solid"/>
                <a:round/>
              </a:ln>
              <a:effectLst/>
            </c:spPr>
          </c:marker>
          <c:xVal>
            <c:numRef>
              <c:f>Sheet1!$A$2:$A$91</c:f>
              <c:numCache>
                <c:formatCode>General</c:formatCode>
                <c:ptCount val="90"/>
                <c:pt idx="0">
                  <c:v>3.3333</c:v>
                </c:pt>
                <c:pt idx="1">
                  <c:v>10</c:v>
                </c:pt>
                <c:pt idx="2">
                  <c:v>16.6667</c:v>
                </c:pt>
                <c:pt idx="3">
                  <c:v>23.3333</c:v>
                </c:pt>
                <c:pt idx="4">
                  <c:v>30</c:v>
                </c:pt>
                <c:pt idx="5">
                  <c:v>36.6667</c:v>
                </c:pt>
                <c:pt idx="6">
                  <c:v>43.3333</c:v>
                </c:pt>
                <c:pt idx="7">
                  <c:v>50</c:v>
                </c:pt>
                <c:pt idx="8">
                  <c:v>56.6667</c:v>
                </c:pt>
                <c:pt idx="9">
                  <c:v>63.3333</c:v>
                </c:pt>
                <c:pt idx="10">
                  <c:v>70</c:v>
                </c:pt>
                <c:pt idx="11">
                  <c:v>76.6667</c:v>
                </c:pt>
                <c:pt idx="12">
                  <c:v>83.3333</c:v>
                </c:pt>
                <c:pt idx="13">
                  <c:v>90</c:v>
                </c:pt>
                <c:pt idx="14">
                  <c:v>96.6667</c:v>
                </c:pt>
                <c:pt idx="15">
                  <c:v>103.3333</c:v>
                </c:pt>
                <c:pt idx="16">
                  <c:v>110</c:v>
                </c:pt>
                <c:pt idx="17">
                  <c:v>116.6667</c:v>
                </c:pt>
                <c:pt idx="18">
                  <c:v>123.3333</c:v>
                </c:pt>
                <c:pt idx="19">
                  <c:v>130</c:v>
                </c:pt>
                <c:pt idx="20">
                  <c:v>136.6667</c:v>
                </c:pt>
                <c:pt idx="21">
                  <c:v>143.3333</c:v>
                </c:pt>
                <c:pt idx="22">
                  <c:v>150</c:v>
                </c:pt>
                <c:pt idx="23">
                  <c:v>156.6667</c:v>
                </c:pt>
                <c:pt idx="24">
                  <c:v>163.3333</c:v>
                </c:pt>
                <c:pt idx="25">
                  <c:v>170</c:v>
                </c:pt>
                <c:pt idx="26">
                  <c:v>176.6667</c:v>
                </c:pt>
                <c:pt idx="27">
                  <c:v>183.3333</c:v>
                </c:pt>
                <c:pt idx="28">
                  <c:v>190</c:v>
                </c:pt>
                <c:pt idx="29">
                  <c:v>196.6667</c:v>
                </c:pt>
                <c:pt idx="30">
                  <c:v>203.3333</c:v>
                </c:pt>
                <c:pt idx="31">
                  <c:v>210</c:v>
                </c:pt>
                <c:pt idx="32">
                  <c:v>216.6667</c:v>
                </c:pt>
                <c:pt idx="33">
                  <c:v>223.3333</c:v>
                </c:pt>
                <c:pt idx="34">
                  <c:v>230</c:v>
                </c:pt>
                <c:pt idx="35">
                  <c:v>236.6667</c:v>
                </c:pt>
                <c:pt idx="36">
                  <c:v>243.3333</c:v>
                </c:pt>
                <c:pt idx="37">
                  <c:v>250</c:v>
                </c:pt>
                <c:pt idx="38">
                  <c:v>256.6667</c:v>
                </c:pt>
                <c:pt idx="39">
                  <c:v>263.3333</c:v>
                </c:pt>
                <c:pt idx="40">
                  <c:v>270</c:v>
                </c:pt>
                <c:pt idx="41">
                  <c:v>276.6667</c:v>
                </c:pt>
                <c:pt idx="42">
                  <c:v>283.3333</c:v>
                </c:pt>
                <c:pt idx="43">
                  <c:v>290</c:v>
                </c:pt>
                <c:pt idx="44">
                  <c:v>296.6667</c:v>
                </c:pt>
                <c:pt idx="45">
                  <c:v>303.3333</c:v>
                </c:pt>
                <c:pt idx="46">
                  <c:v>310</c:v>
                </c:pt>
                <c:pt idx="47">
                  <c:v>316.6667</c:v>
                </c:pt>
                <c:pt idx="48">
                  <c:v>323.3333</c:v>
                </c:pt>
                <c:pt idx="49">
                  <c:v>330</c:v>
                </c:pt>
                <c:pt idx="50">
                  <c:v>336.6667</c:v>
                </c:pt>
                <c:pt idx="51">
                  <c:v>343.3333</c:v>
                </c:pt>
                <c:pt idx="52">
                  <c:v>350</c:v>
                </c:pt>
                <c:pt idx="53">
                  <c:v>356.6667</c:v>
                </c:pt>
                <c:pt idx="54">
                  <c:v>363.3333</c:v>
                </c:pt>
                <c:pt idx="55">
                  <c:v>370</c:v>
                </c:pt>
                <c:pt idx="56">
                  <c:v>376.6667</c:v>
                </c:pt>
                <c:pt idx="57">
                  <c:v>383.3333</c:v>
                </c:pt>
                <c:pt idx="58">
                  <c:v>390</c:v>
                </c:pt>
                <c:pt idx="59">
                  <c:v>396.6667</c:v>
                </c:pt>
                <c:pt idx="60">
                  <c:v>403.3333</c:v>
                </c:pt>
                <c:pt idx="61">
                  <c:v>410</c:v>
                </c:pt>
                <c:pt idx="62">
                  <c:v>416.6667</c:v>
                </c:pt>
                <c:pt idx="63">
                  <c:v>423.3333</c:v>
                </c:pt>
                <c:pt idx="64">
                  <c:v>430</c:v>
                </c:pt>
                <c:pt idx="65">
                  <c:v>436.6667</c:v>
                </c:pt>
                <c:pt idx="66">
                  <c:v>443.3333</c:v>
                </c:pt>
                <c:pt idx="67">
                  <c:v>450</c:v>
                </c:pt>
                <c:pt idx="68">
                  <c:v>456.6667</c:v>
                </c:pt>
                <c:pt idx="69">
                  <c:v>463.3333</c:v>
                </c:pt>
                <c:pt idx="70">
                  <c:v>470</c:v>
                </c:pt>
                <c:pt idx="71">
                  <c:v>476.6667</c:v>
                </c:pt>
                <c:pt idx="72">
                  <c:v>483.3333</c:v>
                </c:pt>
                <c:pt idx="73">
                  <c:v>490</c:v>
                </c:pt>
                <c:pt idx="74">
                  <c:v>496.6667</c:v>
                </c:pt>
                <c:pt idx="75">
                  <c:v>503.3333</c:v>
                </c:pt>
                <c:pt idx="76">
                  <c:v>510</c:v>
                </c:pt>
                <c:pt idx="77">
                  <c:v>516.6667</c:v>
                </c:pt>
                <c:pt idx="78">
                  <c:v>523.3333</c:v>
                </c:pt>
                <c:pt idx="79">
                  <c:v>530</c:v>
                </c:pt>
                <c:pt idx="80">
                  <c:v>536.6667</c:v>
                </c:pt>
                <c:pt idx="81">
                  <c:v>543.3333</c:v>
                </c:pt>
                <c:pt idx="82">
                  <c:v>550</c:v>
                </c:pt>
                <c:pt idx="83">
                  <c:v>556.6667</c:v>
                </c:pt>
                <c:pt idx="84">
                  <c:v>563.3333</c:v>
                </c:pt>
                <c:pt idx="85">
                  <c:v>570</c:v>
                </c:pt>
                <c:pt idx="86">
                  <c:v>576.6667</c:v>
                </c:pt>
                <c:pt idx="87">
                  <c:v>583.3333</c:v>
                </c:pt>
                <c:pt idx="88">
                  <c:v>590</c:v>
                </c:pt>
                <c:pt idx="89">
                  <c:v>596.6667</c:v>
                </c:pt>
              </c:numCache>
            </c:numRef>
          </c:xVal>
          <c:yVal>
            <c:numRef>
              <c:f>Sheet1!$D$2:$D$91</c:f>
              <c:numCache>
                <c:formatCode>General</c:formatCode>
                <c:ptCount val="90"/>
                <c:pt idx="0">
                  <c:v>301.7333</c:v>
                </c:pt>
                <c:pt idx="1">
                  <c:v>302.3888</c:v>
                </c:pt>
                <c:pt idx="2">
                  <c:v>303.0503</c:v>
                </c:pt>
                <c:pt idx="3">
                  <c:v>303.7595</c:v>
                </c:pt>
                <c:pt idx="4">
                  <c:v>304.4702</c:v>
                </c:pt>
                <c:pt idx="5">
                  <c:v>305.1851</c:v>
                </c:pt>
                <c:pt idx="6">
                  <c:v>305.9025</c:v>
                </c:pt>
                <c:pt idx="7">
                  <c:v>306.6226</c:v>
                </c:pt>
                <c:pt idx="8">
                  <c:v>307.3451</c:v>
                </c:pt>
                <c:pt idx="9">
                  <c:v>308.07</c:v>
                </c:pt>
                <c:pt idx="10">
                  <c:v>308.7971</c:v>
                </c:pt>
                <c:pt idx="11">
                  <c:v>309.5265</c:v>
                </c:pt>
                <c:pt idx="12">
                  <c:v>310.2581</c:v>
                </c:pt>
                <c:pt idx="13">
                  <c:v>310.9918</c:v>
                </c:pt>
                <c:pt idx="14">
                  <c:v>311.7276</c:v>
                </c:pt>
                <c:pt idx="15">
                  <c:v>312.4654</c:v>
                </c:pt>
                <c:pt idx="16">
                  <c:v>313.2051</c:v>
                </c:pt>
                <c:pt idx="17">
                  <c:v>313.9465</c:v>
                </c:pt>
                <c:pt idx="18">
                  <c:v>314.6895</c:v>
                </c:pt>
                <c:pt idx="19">
                  <c:v>315.434</c:v>
                </c:pt>
                <c:pt idx="20">
                  <c:v>316.18</c:v>
                </c:pt>
                <c:pt idx="21">
                  <c:v>316.9273</c:v>
                </c:pt>
                <c:pt idx="22">
                  <c:v>317.6757</c:v>
                </c:pt>
                <c:pt idx="23">
                  <c:v>318.4253</c:v>
                </c:pt>
                <c:pt idx="24">
                  <c:v>319.1759</c:v>
                </c:pt>
                <c:pt idx="25">
                  <c:v>319.9275</c:v>
                </c:pt>
                <c:pt idx="26">
                  <c:v>320.68</c:v>
                </c:pt>
                <c:pt idx="27">
                  <c:v>321.4333</c:v>
                </c:pt>
                <c:pt idx="28">
                  <c:v>322.1872</c:v>
                </c:pt>
                <c:pt idx="29">
                  <c:v>322.9419</c:v>
                </c:pt>
                <c:pt idx="30">
                  <c:v>323.6972</c:v>
                </c:pt>
                <c:pt idx="31">
                  <c:v>324.453</c:v>
                </c:pt>
                <c:pt idx="32">
                  <c:v>325.2093</c:v>
                </c:pt>
                <c:pt idx="33">
                  <c:v>325.9662</c:v>
                </c:pt>
                <c:pt idx="34">
                  <c:v>326.7235</c:v>
                </c:pt>
                <c:pt idx="35">
                  <c:v>327.4812</c:v>
                </c:pt>
                <c:pt idx="36">
                  <c:v>328.2393</c:v>
                </c:pt>
                <c:pt idx="37">
                  <c:v>328.9978</c:v>
                </c:pt>
                <c:pt idx="38">
                  <c:v>329.7566</c:v>
                </c:pt>
                <c:pt idx="39">
                  <c:v>330.5157</c:v>
                </c:pt>
                <c:pt idx="40">
                  <c:v>331.2751</c:v>
                </c:pt>
                <c:pt idx="41">
                  <c:v>332.0349</c:v>
                </c:pt>
                <c:pt idx="42">
                  <c:v>332.7949</c:v>
                </c:pt>
                <c:pt idx="43">
                  <c:v>333.5552</c:v>
                </c:pt>
                <c:pt idx="44">
                  <c:v>334.3157</c:v>
                </c:pt>
                <c:pt idx="45">
                  <c:v>335.0765</c:v>
                </c:pt>
                <c:pt idx="46">
                  <c:v>335.8376</c:v>
                </c:pt>
                <c:pt idx="47">
                  <c:v>336.5988</c:v>
                </c:pt>
                <c:pt idx="48">
                  <c:v>337.3603</c:v>
                </c:pt>
                <c:pt idx="49">
                  <c:v>338.1219</c:v>
                </c:pt>
                <c:pt idx="50">
                  <c:v>338.8838</c:v>
                </c:pt>
                <c:pt idx="51">
                  <c:v>339.6458</c:v>
                </c:pt>
                <c:pt idx="52">
                  <c:v>340.408</c:v>
                </c:pt>
                <c:pt idx="53">
                  <c:v>341.1703</c:v>
                </c:pt>
                <c:pt idx="54">
                  <c:v>341.9327</c:v>
                </c:pt>
                <c:pt idx="55">
                  <c:v>342.6953</c:v>
                </c:pt>
                <c:pt idx="56">
                  <c:v>343.458</c:v>
                </c:pt>
                <c:pt idx="57">
                  <c:v>344.2208</c:v>
                </c:pt>
                <c:pt idx="58">
                  <c:v>344.9836</c:v>
                </c:pt>
                <c:pt idx="59">
                  <c:v>345.7466</c:v>
                </c:pt>
                <c:pt idx="60">
                  <c:v>346.5095</c:v>
                </c:pt>
                <c:pt idx="61">
                  <c:v>347.2726</c:v>
                </c:pt>
                <c:pt idx="62">
                  <c:v>348.0356</c:v>
                </c:pt>
                <c:pt idx="63">
                  <c:v>348.7986</c:v>
                </c:pt>
                <c:pt idx="64">
                  <c:v>349.5617</c:v>
                </c:pt>
                <c:pt idx="65">
                  <c:v>350.3247</c:v>
                </c:pt>
                <c:pt idx="66">
                  <c:v>351.0878</c:v>
                </c:pt>
                <c:pt idx="67">
                  <c:v>351.8508</c:v>
                </c:pt>
                <c:pt idx="68">
                  <c:v>352.6138</c:v>
                </c:pt>
                <c:pt idx="69">
                  <c:v>353.3767</c:v>
                </c:pt>
                <c:pt idx="70">
                  <c:v>354.1396</c:v>
                </c:pt>
                <c:pt idx="71">
                  <c:v>354.9025</c:v>
                </c:pt>
                <c:pt idx="72">
                  <c:v>355.6652</c:v>
                </c:pt>
                <c:pt idx="73">
                  <c:v>356.4278</c:v>
                </c:pt>
                <c:pt idx="74">
                  <c:v>357.1903</c:v>
                </c:pt>
                <c:pt idx="75">
                  <c:v>357.9526</c:v>
                </c:pt>
                <c:pt idx="76">
                  <c:v>358.7147</c:v>
                </c:pt>
                <c:pt idx="77">
                  <c:v>359.4765</c:v>
                </c:pt>
                <c:pt idx="78">
                  <c:v>360.238</c:v>
                </c:pt>
                <c:pt idx="79">
                  <c:v>360.9992</c:v>
                </c:pt>
                <c:pt idx="80">
                  <c:v>361.7598</c:v>
                </c:pt>
                <c:pt idx="81">
                  <c:v>362.5201</c:v>
                </c:pt>
                <c:pt idx="82">
                  <c:v>363.2793</c:v>
                </c:pt>
                <c:pt idx="83">
                  <c:v>364.0386</c:v>
                </c:pt>
                <c:pt idx="84">
                  <c:v>364.7953</c:v>
                </c:pt>
                <c:pt idx="85">
                  <c:v>365.5548</c:v>
                </c:pt>
                <c:pt idx="86">
                  <c:v>366.3024</c:v>
                </c:pt>
                <c:pt idx="87">
                  <c:v>367.0838</c:v>
                </c:pt>
                <c:pt idx="88">
                  <c:v>367.7279</c:v>
                </c:pt>
                <c:pt idx="89">
                  <c:v>368.9324</c:v>
                </c:pt>
              </c:numCache>
            </c:numRef>
          </c:yVal>
          <c:smooth val="0"/>
        </c:ser>
        <c:dLbls>
          <c:numFmt formatCode="General"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600"/>
          <c:min val="0"/>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z [mm]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243447"/>
                </a:solidFill>
                <a:latin typeface="Calibri"/>
              </a:defRPr>
            </a:pPr>
            <a:endParaRPr lang="en-US"/>
          </a:p>
        </c:txPr>
        <c:crossAx val="2094734552"/>
        <c:crosses val="autoZero"/>
        <c:auto val="1"/>
        <c:lblAlgn val="ctr"/>
        <c:noMultiLvlLbl val="1"/>
        <c:majorUnit val="100"/>
      </c:valAx>
      <c:valAx>
        <c:axId val="2094734552"/>
        <c:scaling>
          <c:orientation val="minMax"/>
          <c:max val="600"/>
          <c:min val="280"/>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243447"/>
                </a:solidFill>
                <a:latin typeface="Calibri"/>
              </a:defRPr>
            </a:pPr>
            <a:endParaRPr lang="en-US"/>
          </a:p>
        </c:txPr>
        <c:crossAx val="2094734554"/>
        <c:crosses val="autoZero"/>
        <c:crossBetween val="midCat"/>
        <c:majorUnit val="40"/>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Pressure drop [Pa]</a:t>
            </a:r>
          </a:p>
        </c:rich>
      </c:tx>
      <c:layout/>
      <c:overlay val="0"/>
    </c:title>
    <c:autoTitleDeleted val="0"/>
    <c:plotArea>
      <c:layout/>
      <c:scatterChart>
        <c:scatterStyle val="lineMarker"/>
        <c:varyColors val="0"/>
        <c:ser>
          <c:idx val="0"/>
          <c:order val="0"/>
          <c:tx>
            <c:strRef>
              <c:f>Sheet1!$B$1</c:f>
              <c:strCache>
                <c:ptCount val="1"/>
                <c:pt idx="0">
                  <c:v>Pressure drop [Pa]</c:v>
                </c:pt>
              </c:strCache>
            </c:strRef>
          </c:tx>
          <c:spPr>
            <a:solidFill>
              <a:srgbClr val="2F5D8A"/>
            </a:solidFill>
            <a:ln w="25400" cap="flat">
              <a:solidFill>
                <a:srgbClr val="2F5D8A"/>
              </a:solidFill>
              <a:prstDash val="solid"/>
              <a:round/>
            </a:ln>
            <a:effectLst/>
          </c:spPr>
          <c:marker>
            <c:symbol val="circle"/>
            <c:size val="8"/>
            <c:spPr>
              <a:solidFill>
                <a:srgbClr val="2F5D8A"/>
              </a:solidFill>
              <a:ln w="9525" cap="flat">
                <a:solidFill>
                  <a:srgbClr val="2F5D8A"/>
                </a:solidFill>
                <a:prstDash val="solid"/>
                <a:round/>
              </a:ln>
              <a:effectLst/>
            </c:spPr>
          </c:marker>
          <c:dLbls>
            <c:dLbl>
              <c:idx val="0"/>
              <c:tx>
                <c:rich>
                  <a:bodyPr>
                    <a:spAutoFit/>
                  </a:bodyPr>
                  <a:lstStyle/>
                  <a:p>
                    <a:pPr>
                      <a:defRPr/>
                    </a:pPr>
                    <a:r>
                      <a:rPr lang="en-US" dirty="0"/>
                      <a:t>379.9</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13c3-e903-b7af-31b609873f6d}"/>
                </c:ext>
              </c:extLst>
            </c:dLbl>
            <c:dLbl>
              <c:idx val="1"/>
              <c:tx>
                <c:rich>
                  <a:bodyPr>
                    <a:spAutoFit/>
                  </a:bodyPr>
                  <a:lstStyle/>
                  <a:p>
                    <a:pPr>
                      <a:defRPr/>
                    </a:pPr>
                    <a:r>
                      <a:rPr lang="en-US" dirty="0"/>
                      <a:t>438.1</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13c3-e903-b7af-31b609873f6d}"/>
                </c:ext>
              </c:extLst>
            </c:dLbl>
            <c:dLbl>
              <c:idx val="2"/>
              <c:tx>
                <c:rich>
                  <a:bodyPr>
                    <a:spAutoFit/>
                  </a:bodyPr>
                  <a:lstStyle/>
                  <a:p>
                    <a:pPr>
                      <a:defRPr/>
                    </a:pPr>
                    <a:r>
                      <a:rPr lang="en-US" dirty="0"/>
                      <a:t>499.7</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13c3-e903-b7af-31b609873f6d}"/>
                </c:ext>
              </c:extLst>
            </c:dLbl>
          </c:dLbls>
          <c:xVal>
            <c:numRef>
              <c:f>Sheet1!$A$2:$A$4</c:f>
              <c:numCache>
                <c:formatCode>General</c:formatCode>
                <c:ptCount val="3"/>
                <c:pt idx="0">
                  <c:v>21.15</c:v>
                </c:pt>
                <c:pt idx="1">
                  <c:v>23.5</c:v>
                </c:pt>
                <c:pt idx="2">
                  <c:v>25.85</c:v>
                </c:pt>
              </c:numCache>
            </c:numRef>
          </c:xVal>
          <c:yVal>
            <c:numRef>
              <c:f>Sheet1!$B$2:$B$4</c:f>
              <c:numCache>
                <c:formatCode>General</c:formatCode>
                <c:ptCount val="3"/>
                <c:pt idx="0">
                  <c:v>379.93</c:v>
                </c:pt>
                <c:pt idx="1">
                  <c:v>438.13</c:v>
                </c:pt>
                <c:pt idx="2">
                  <c:v>499.69</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27"/>
          <c:min val="2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1"/>
      </c:valAx>
      <c:valAx>
        <c:axId val="2094734552"/>
        <c:scaling>
          <c:orientation val="minMax"/>
          <c:max val="520"/>
          <c:min val="360"/>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4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Outlet bulk temperature [K]</a:t>
            </a:r>
          </a:p>
        </c:rich>
      </c:tx>
      <c:layout/>
      <c:overlay val="0"/>
    </c:title>
    <c:autoTitleDeleted val="0"/>
    <c:plotArea>
      <c:layout/>
      <c:scatterChart>
        <c:scatterStyle val="lineMarker"/>
        <c:varyColors val="0"/>
        <c:ser>
          <c:idx val="0"/>
          <c:order val="0"/>
          <c:tx>
            <c:strRef>
              <c:f>Sheet1!$B$1</c:f>
              <c:strCache>
                <c:ptCount val="1"/>
                <c:pt idx="0">
                  <c:v>Outlet bulk temperature [K]</c:v>
                </c:pt>
              </c:strCache>
            </c:strRef>
          </c:tx>
          <c:spPr>
            <a:solidFill>
              <a:srgbClr val="2F5D8A"/>
            </a:solidFill>
            <a:ln w="25400" cap="flat">
              <a:solidFill>
                <a:srgbClr val="2F5D8A"/>
              </a:solidFill>
              <a:prstDash val="solid"/>
              <a:round/>
            </a:ln>
            <a:effectLst/>
          </c:spPr>
          <c:marker>
            <c:symbol val="circle"/>
            <c:size val="8"/>
            <c:spPr>
              <a:solidFill>
                <a:srgbClr val="2F5D8A"/>
              </a:solidFill>
              <a:ln w="9525" cap="flat">
                <a:solidFill>
                  <a:srgbClr val="2F5D8A"/>
                </a:solidFill>
                <a:prstDash val="solid"/>
                <a:round/>
              </a:ln>
              <a:effectLst/>
            </c:spPr>
          </c:marker>
          <c:dLbls>
            <c:dLbl>
              <c:idx val="0"/>
              <c:tx>
                <c:rich>
                  <a:bodyPr>
                    <a:spAutoFit/>
                  </a:bodyPr>
                  <a:lstStyle/>
                  <a:p>
                    <a:pPr>
                      <a:defRPr/>
                    </a:pPr>
                    <a:r>
                      <a:rPr lang="en-US" dirty="0"/>
                      <a:t>376.6</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ed62-673b-d14f-0ad31128dd15}"/>
                </c:ext>
              </c:extLst>
            </c:dLbl>
            <c:dLbl>
              <c:idx val="1"/>
              <c:tx>
                <c:rich>
                  <a:bodyPr>
                    <a:spAutoFit/>
                  </a:bodyPr>
                  <a:lstStyle/>
                  <a:p>
                    <a:pPr>
                      <a:defRPr/>
                    </a:pPr>
                    <a:r>
                      <a:rPr lang="en-US" dirty="0"/>
                      <a:t>368.9</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ed62-673b-d14f-0ad31128dd15}"/>
                </c:ext>
              </c:extLst>
            </c:dLbl>
            <c:dLbl>
              <c:idx val="2"/>
              <c:tx>
                <c:rich>
                  <a:bodyPr>
                    <a:spAutoFit/>
                  </a:bodyPr>
                  <a:lstStyle/>
                  <a:p>
                    <a:pPr>
                      <a:defRPr/>
                    </a:pPr>
                    <a:r>
                      <a:rPr lang="en-US" dirty="0"/>
                      <a:t>362.7</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ed62-673b-d14f-0ad31128dd15}"/>
                </c:ext>
              </c:extLst>
            </c:dLbl>
          </c:dLbls>
          <c:xVal>
            <c:numRef>
              <c:f>Sheet1!$A$2:$A$4</c:f>
              <c:numCache>
                <c:formatCode>General</c:formatCode>
                <c:ptCount val="3"/>
                <c:pt idx="0">
                  <c:v>21.15</c:v>
                </c:pt>
                <c:pt idx="1">
                  <c:v>23.5</c:v>
                </c:pt>
                <c:pt idx="2">
                  <c:v>25.85</c:v>
                </c:pt>
              </c:numCache>
            </c:numRef>
          </c:xVal>
          <c:yVal>
            <c:numRef>
              <c:f>Sheet1!$B$2:$B$4</c:f>
              <c:numCache>
                <c:formatCode>General</c:formatCode>
                <c:ptCount val="3"/>
                <c:pt idx="0">
                  <c:v>376.56</c:v>
                </c:pt>
                <c:pt idx="1">
                  <c:v>368.93</c:v>
                </c:pt>
                <c:pt idx="2">
                  <c:v>362.69</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27"/>
          <c:min val="2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1"/>
      </c:valAx>
      <c:valAx>
        <c:axId val="2094734552"/>
        <c:scaling>
          <c:orientation val="minMax"/>
          <c:max val="382"/>
          <c:min val="358"/>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6"/>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λ₁ (S1)</a:t>
            </a:r>
          </a:p>
        </c:rich>
      </c:tx>
      <c:layout/>
      <c:overlay val="0"/>
    </c:title>
    <c:autoTitleDeleted val="0"/>
    <c:plotArea>
      <c:layout/>
      <c:scatterChart>
        <c:scatterStyle val="lineMarker"/>
        <c:varyColors val="0"/>
        <c:ser>
          <c:idx val="0"/>
          <c:order val="0"/>
          <c:tx>
            <c:strRef>
              <c:f>Sheet1!$B$1</c:f>
              <c:strCache>
                <c:ptCount val="1"/>
                <c:pt idx="0">
                  <c:v>λ₁ (S1)</c:v>
                </c:pt>
              </c:strCache>
            </c:strRef>
          </c:tx>
          <c:spPr>
            <a:solidFill>
              <a:srgbClr val="2F5D8A"/>
            </a:solidFill>
            <a:ln w="25400" cap="flat">
              <a:solidFill>
                <a:srgbClr val="2F5D8A"/>
              </a:solidFill>
              <a:prstDash val="solid"/>
              <a:round/>
            </a:ln>
            <a:effectLst/>
          </c:spPr>
          <c:marker>
            <c:symbol val="circle"/>
            <c:size val="8"/>
            <c:spPr>
              <a:solidFill>
                <a:srgbClr val="2F5D8A"/>
              </a:solidFill>
              <a:ln w="9525" cap="flat">
                <a:solidFill>
                  <a:srgbClr val="2F5D8A"/>
                </a:solidFill>
                <a:prstDash val="solid"/>
                <a:round/>
              </a:ln>
              <a:effectLst/>
            </c:spPr>
          </c:marker>
          <c:dLbls>
            <c:dLbl>
              <c:idx val="0"/>
              <c:tx>
                <c:rich>
                  <a:bodyPr>
                    <a:spAutoFit/>
                  </a:bodyPr>
                  <a:lstStyle/>
                  <a:p>
                    <a:pPr>
                      <a:defRPr/>
                    </a:pPr>
                    <a:r>
                      <a:rPr lang="en-US" dirty="0"/>
                      <a:t>1.003</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852b-97f4-ab39-14d50ec59dfc}"/>
                </c:ext>
              </c:extLst>
            </c:dLbl>
            <c:dLbl>
              <c:idx val="1"/>
              <c:tx>
                <c:rich>
                  <a:bodyPr>
                    <a:spAutoFit/>
                  </a:bodyPr>
                  <a:lstStyle/>
                  <a:p>
                    <a:pPr>
                      <a:defRPr/>
                    </a:pPr>
                    <a:r>
                      <a:rPr lang="en-US" dirty="0"/>
                      <a:t>1.108</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852b-97f4-ab39-14d50ec59dfc}"/>
                </c:ext>
              </c:extLst>
            </c:dLbl>
            <c:dLbl>
              <c:idx val="2"/>
              <c:tx>
                <c:rich>
                  <a:bodyPr>
                    <a:spAutoFit/>
                  </a:bodyPr>
                  <a:lstStyle/>
                  <a:p>
                    <a:pPr>
                      <a:defRPr/>
                    </a:pPr>
                    <a:r>
                      <a:rPr lang="en-US" dirty="0"/>
                      <a:t>1.211</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852b-97f4-ab39-14d50ec59dfc}"/>
                </c:ext>
              </c:extLst>
            </c:dLbl>
          </c:dLbls>
          <c:xVal>
            <c:numRef>
              <c:f>Sheet1!$A$2:$A$4</c:f>
              <c:numCache>
                <c:formatCode>General</c:formatCode>
                <c:ptCount val="3"/>
                <c:pt idx="0">
                  <c:v>21.15</c:v>
                </c:pt>
                <c:pt idx="1">
                  <c:v>23.5</c:v>
                </c:pt>
                <c:pt idx="2">
                  <c:v>25.85</c:v>
                </c:pt>
              </c:numCache>
            </c:numRef>
          </c:xVal>
          <c:yVal>
            <c:numRef>
              <c:f>Sheet1!$B$2:$B$4</c:f>
              <c:numCache>
                <c:formatCode>General</c:formatCode>
                <c:ptCount val="3"/>
                <c:pt idx="0">
                  <c:v>1.00307</c:v>
                </c:pt>
                <c:pt idx="1">
                  <c:v>1.10805</c:v>
                </c:pt>
                <c:pt idx="2">
                  <c:v>1.21087</c:v>
                </c:pt>
              </c:numCache>
            </c:numRef>
          </c:yVal>
          <c:smooth val="0"/>
        </c:ser>
        <c:ser>
          <c:idx val="1"/>
          <c:order val="1"/>
          <c:tx>
            <c:strRef>
              <c:f>Sheet1!$C$1</c:f>
              <c:strCache>
                <c:ptCount val="1"/>
                <c:pt idx="0">
                  <c:v>ref_lambda_1</c:v>
                </c:pt>
              </c:strCache>
            </c:strRef>
          </c:tx>
          <c:spPr>
            <a:solidFill>
              <a:srgbClr val="9AA5B1"/>
            </a:solidFill>
            <a:ln w="15875" cap="flat">
              <a:solidFill>
                <a:srgbClr val="9AA5B1"/>
              </a:solidFill>
              <a:prstDash val="dash"/>
              <a:round/>
            </a:ln>
            <a:effectLst/>
          </c:spPr>
          <c:marker>
            <c:symbol val="none"/>
          </c:marker>
          <c:dLbls>
            <c:dLbl>
              <c:idx val="0"/>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8cac-93ce-8864-f4617d519765}"/>
                </c:ext>
              </c:extLst>
            </c:dLbl>
            <c:dLbl>
              <c:idx val="1"/>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8cac-93ce-8864-f4617d519765}"/>
                </c:ext>
              </c:extLst>
            </c:dLbl>
            <c:dLbl>
              <c:idx val="2"/>
              <c:tx>
                <c:rich>
                  <a:bodyPr>
                    <a:spAutoFit/>
                  </a:bodyPr>
                  <a:lstStyle/>
                  <a:p>
                    <a:pPr>
                      <a:defRPr/>
                    </a:pPr>
                    <a:r>
                      <a:rPr lang="en-US" dirty="0"/>
                      <a:t>λ₁ = 1</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8cac-93ce-8864-f4617d519765}"/>
                </c:ext>
              </c:extLst>
            </c:dLbl>
          </c:dLbls>
          <c:xVal>
            <c:numRef>
              <c:f>Sheet1!$A$2:$A$4</c:f>
              <c:numCache>
                <c:formatCode>General</c:formatCode>
                <c:ptCount val="3"/>
                <c:pt idx="0">
                  <c:v>21.15</c:v>
                </c:pt>
                <c:pt idx="1">
                  <c:v>23.5</c:v>
                </c:pt>
                <c:pt idx="2">
                  <c:v>25.85</c:v>
                </c:pt>
              </c:numCache>
            </c:numRef>
          </c:xVal>
          <c:yVal>
            <c:numRef>
              <c:f>Sheet1!$C$2:$C$4</c:f>
              <c:numCache>
                <c:formatCode>General</c:formatCode>
                <c:ptCount val="3"/>
                <c:pt idx="0">
                  <c:v>1</c:v>
                </c:pt>
                <c:pt idx="1">
                  <c:v>1</c:v>
                </c:pt>
                <c:pt idx="2">
                  <c:v>1</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27"/>
          <c:min val="2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1"/>
      </c:valAx>
      <c:valAx>
        <c:axId val="2094734552"/>
        <c:scaling>
          <c:orientation val="minMax"/>
          <c:max val="1.3"/>
          <c:min val="0.9"/>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Maximum solid temperature [K]</a:t>
            </a:r>
          </a:p>
        </c:rich>
      </c:tx>
      <c:layout/>
      <c:overlay val="0"/>
    </c:title>
    <c:autoTitleDeleted val="0"/>
    <c:plotArea>
      <c:layout/>
      <c:scatterChart>
        <c:scatterStyle val="lineMarker"/>
        <c:varyColors val="0"/>
        <c:ser>
          <c:idx val="0"/>
          <c:order val="0"/>
          <c:tx>
            <c:strRef>
              <c:f>Sheet1!$B$1</c:f>
              <c:strCache>
                <c:ptCount val="1"/>
                <c:pt idx="0">
                  <c:v>Maximum solid temperature [K]</c:v>
                </c:pt>
              </c:strCache>
            </c:strRef>
          </c:tx>
          <c:spPr>
            <a:solidFill>
              <a:srgbClr val="D9480F"/>
            </a:solidFill>
            <a:ln w="25400" cap="flat">
              <a:solidFill>
                <a:srgbClr val="D9480F"/>
              </a:solidFill>
              <a:prstDash val="solid"/>
              <a:round/>
            </a:ln>
            <a:effectLst/>
          </c:spPr>
          <c:marker>
            <c:symbol val="circle"/>
            <c:size val="8"/>
            <c:spPr>
              <a:solidFill>
                <a:srgbClr val="D9480F"/>
              </a:solidFill>
              <a:ln w="9525" cap="flat">
                <a:solidFill>
                  <a:srgbClr val="D9480F"/>
                </a:solidFill>
                <a:prstDash val="solid"/>
                <a:round/>
              </a:ln>
              <a:effectLst/>
            </c:spPr>
          </c:marker>
          <c:dLbls>
            <c:dLbl>
              <c:idx val="0"/>
              <c:tx>
                <c:rich>
                  <a:bodyPr>
                    <a:spAutoFit/>
                  </a:bodyPr>
                  <a:lstStyle/>
                  <a:p>
                    <a:pPr>
                      <a:defRPr/>
                    </a:pPr>
                    <a:r>
                      <a:rPr lang="en-US" dirty="0"/>
                      <a:t>534.5</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a733-2c40-e9b9-b7def13c1670}"/>
                </c:ext>
              </c:extLst>
            </c:dLbl>
            <c:dLbl>
              <c:idx val="1"/>
              <c:tx>
                <c:rich>
                  <a:bodyPr>
                    <a:spAutoFit/>
                  </a:bodyPr>
                  <a:lstStyle/>
                  <a:p>
                    <a:pPr>
                      <a:defRPr/>
                    </a:pPr>
                    <a:r>
                      <a:rPr lang="en-US" dirty="0"/>
                      <a:t>562.6</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a733-2c40-e9b9-b7def13c1670}"/>
                </c:ext>
              </c:extLst>
            </c:dLbl>
            <c:dLbl>
              <c:idx val="2"/>
              <c:tx>
                <c:rich>
                  <a:bodyPr>
                    <a:spAutoFit/>
                  </a:bodyPr>
                  <a:lstStyle/>
                  <a:p>
                    <a:pPr>
                      <a:defRPr/>
                    </a:pPr>
                    <a:r>
                      <a:rPr lang="en-US" dirty="0"/>
                      <a:t>591.1</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a733-2c40-e9b9-b7def13c1670}"/>
                </c:ext>
              </c:extLst>
            </c:dLbl>
          </c:dLbls>
          <c:xVal>
            <c:numRef>
              <c:f>Sheet1!$A$2:$A$4</c:f>
              <c:numCache>
                <c:formatCode>General</c:formatCode>
                <c:ptCount val="3"/>
                <c:pt idx="0">
                  <c:v>7200</c:v>
                </c:pt>
                <c:pt idx="1">
                  <c:v>8000</c:v>
                </c:pt>
                <c:pt idx="2">
                  <c:v>8800</c:v>
                </c:pt>
              </c:numCache>
            </c:numRef>
          </c:xVal>
          <c:yVal>
            <c:numRef>
              <c:f>Sheet1!$B$2:$B$4</c:f>
              <c:numCache>
                <c:formatCode>General</c:formatCode>
                <c:ptCount val="3"/>
                <c:pt idx="0">
                  <c:v>534.45</c:v>
                </c:pt>
                <c:pt idx="1">
                  <c:v>562.58</c:v>
                </c:pt>
                <c:pt idx="2">
                  <c:v>591.13</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9000"/>
          <c:min val="700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500"/>
      </c:valAx>
      <c:valAx>
        <c:axId val="2094734552"/>
        <c:scaling>
          <c:orientation val="minMax"/>
          <c:max val="610"/>
          <c:min val="520"/>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30"/>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LC2 max von Mises [MPa]</a:t>
            </a:r>
          </a:p>
        </c:rich>
      </c:tx>
      <c:layout/>
      <c:overlay val="0"/>
    </c:title>
    <c:autoTitleDeleted val="0"/>
    <c:plotArea>
      <c:layout/>
      <c:scatterChart>
        <c:scatterStyle val="lineMarker"/>
        <c:varyColors val="0"/>
        <c:ser>
          <c:idx val="0"/>
          <c:order val="0"/>
          <c:tx>
            <c:strRef>
              <c:f>Sheet1!$B$1</c:f>
              <c:strCache>
                <c:ptCount val="1"/>
                <c:pt idx="0">
                  <c:v>LC2 max von Mises [MPa]</c:v>
                </c:pt>
              </c:strCache>
            </c:strRef>
          </c:tx>
          <c:spPr>
            <a:solidFill>
              <a:srgbClr val="D9480F"/>
            </a:solidFill>
            <a:ln w="25400" cap="flat">
              <a:solidFill>
                <a:srgbClr val="D9480F"/>
              </a:solidFill>
              <a:prstDash val="solid"/>
              <a:round/>
            </a:ln>
            <a:effectLst/>
          </c:spPr>
          <c:marker>
            <c:symbol val="circle"/>
            <c:size val="8"/>
            <c:spPr>
              <a:solidFill>
                <a:srgbClr val="D9480F"/>
              </a:solidFill>
              <a:ln w="9525" cap="flat">
                <a:solidFill>
                  <a:srgbClr val="D9480F"/>
                </a:solidFill>
                <a:prstDash val="solid"/>
                <a:round/>
              </a:ln>
              <a:effectLst/>
            </c:spPr>
          </c:marker>
          <c:dLbls>
            <c:dLbl>
              <c:idx val="0"/>
              <c:tx>
                <c:rich>
                  <a:bodyPr>
                    <a:spAutoFit/>
                  </a:bodyPr>
                  <a:lstStyle/>
                  <a:p>
                    <a:pPr>
                      <a:defRPr/>
                    </a:pPr>
                    <a:r>
                      <a:rPr lang="en-US" dirty="0"/>
                      <a:t>538.5</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f217-1572-b5a6-0dcf6bd10070}"/>
                </c:ext>
              </c:extLst>
            </c:dLbl>
            <c:dLbl>
              <c:idx val="1"/>
              <c:tx>
                <c:rich>
                  <a:bodyPr>
                    <a:spAutoFit/>
                  </a:bodyPr>
                  <a:lstStyle/>
                  <a:p>
                    <a:pPr>
                      <a:defRPr/>
                    </a:pPr>
                    <a:r>
                      <a:rPr lang="en-US" dirty="0"/>
                      <a:t>605.2</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f217-1572-b5a6-0dcf6bd10070}"/>
                </c:ext>
              </c:extLst>
            </c:dLbl>
            <c:dLbl>
              <c:idx val="2"/>
              <c:tx>
                <c:rich>
                  <a:bodyPr>
                    <a:spAutoFit/>
                  </a:bodyPr>
                  <a:lstStyle/>
                  <a:p>
                    <a:pPr>
                      <a:defRPr/>
                    </a:pPr>
                    <a:r>
                      <a:rPr lang="en-US" dirty="0"/>
                      <a:t>673.0</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f217-1572-b5a6-0dcf6bd10070}"/>
                </c:ext>
              </c:extLst>
            </c:dLbl>
          </c:dLbls>
          <c:xVal>
            <c:numRef>
              <c:f>Sheet1!$A$2:$A$4</c:f>
              <c:numCache>
                <c:formatCode>General</c:formatCode>
                <c:ptCount val="3"/>
                <c:pt idx="0">
                  <c:v>7200</c:v>
                </c:pt>
                <c:pt idx="1">
                  <c:v>8000</c:v>
                </c:pt>
                <c:pt idx="2">
                  <c:v>8800</c:v>
                </c:pt>
              </c:numCache>
            </c:numRef>
          </c:xVal>
          <c:yVal>
            <c:numRef>
              <c:f>Sheet1!$B$2:$B$4</c:f>
              <c:numCache>
                <c:formatCode>General</c:formatCode>
                <c:ptCount val="3"/>
                <c:pt idx="0">
                  <c:v>538.526</c:v>
                </c:pt>
                <c:pt idx="1">
                  <c:v>605.161</c:v>
                </c:pt>
                <c:pt idx="2">
                  <c:v>673.024</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9000"/>
          <c:min val="700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500"/>
      </c:valAx>
      <c:valAx>
        <c:axId val="2094734552"/>
        <c:scaling>
          <c:orientation val="minMax"/>
          <c:max val="710"/>
          <c:min val="510"/>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λ₁ (S1)</a:t>
            </a:r>
          </a:p>
        </c:rich>
      </c:tx>
      <c:layout/>
      <c:overlay val="0"/>
    </c:title>
    <c:autoTitleDeleted val="0"/>
    <c:plotArea>
      <c:layout/>
      <c:scatterChart>
        <c:scatterStyle val="lineMarker"/>
        <c:varyColors val="0"/>
        <c:ser>
          <c:idx val="0"/>
          <c:order val="0"/>
          <c:tx>
            <c:strRef>
              <c:f>Sheet1!$B$1</c:f>
              <c:strCache>
                <c:ptCount val="1"/>
                <c:pt idx="0">
                  <c:v>λ₁ (S1)</c:v>
                </c:pt>
              </c:strCache>
            </c:strRef>
          </c:tx>
          <c:spPr>
            <a:solidFill>
              <a:srgbClr val="D9480F"/>
            </a:solidFill>
            <a:ln w="25400" cap="flat">
              <a:solidFill>
                <a:srgbClr val="D9480F"/>
              </a:solidFill>
              <a:prstDash val="solid"/>
              <a:round/>
            </a:ln>
            <a:effectLst/>
          </c:spPr>
          <c:marker>
            <c:symbol val="circle"/>
            <c:size val="8"/>
            <c:spPr>
              <a:solidFill>
                <a:srgbClr val="D9480F"/>
              </a:solidFill>
              <a:ln w="9525" cap="flat">
                <a:solidFill>
                  <a:srgbClr val="D9480F"/>
                </a:solidFill>
                <a:prstDash val="solid"/>
                <a:round/>
              </a:ln>
              <a:effectLst/>
            </c:spPr>
          </c:marker>
          <c:dLbls>
            <c:dLbl>
              <c:idx val="0"/>
              <c:tx>
                <c:rich>
                  <a:bodyPr>
                    <a:spAutoFit/>
                  </a:bodyPr>
                  <a:lstStyle/>
                  <a:p>
                    <a:pPr>
                      <a:defRPr/>
                    </a:pPr>
                    <a:r>
                      <a:rPr lang="en-US" dirty="0"/>
                      <a:t>1.255</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ff50-2bfd-507b-521c040882fe}"/>
                </c:ext>
              </c:extLst>
            </c:dLbl>
            <c:dLbl>
              <c:idx val="1"/>
              <c:tx>
                <c:rich>
                  <a:bodyPr>
                    <a:spAutoFit/>
                  </a:bodyPr>
                  <a:lstStyle/>
                  <a:p>
                    <a:pPr>
                      <a:defRPr/>
                    </a:pPr>
                    <a:r>
                      <a:rPr lang="en-US" dirty="0"/>
                      <a:t>1.108</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ff50-2bfd-507b-521c040882fe}"/>
                </c:ext>
              </c:extLst>
            </c:dLbl>
            <c:dLbl>
              <c:idx val="2"/>
              <c:tx>
                <c:rich>
                  <a:bodyPr>
                    <a:spAutoFit/>
                  </a:bodyPr>
                  <a:lstStyle/>
                  <a:p>
                    <a:pPr>
                      <a:defRPr/>
                    </a:pPr>
                    <a:r>
                      <a:rPr lang="en-US" dirty="0"/>
                      <a:t>0.988</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ff50-2bfd-507b-521c040882fe}"/>
                </c:ext>
              </c:extLst>
            </c:dLbl>
          </c:dLbls>
          <c:xVal>
            <c:numRef>
              <c:f>Sheet1!$A$2:$A$4</c:f>
              <c:numCache>
                <c:formatCode>General</c:formatCode>
                <c:ptCount val="3"/>
                <c:pt idx="0">
                  <c:v>7200</c:v>
                </c:pt>
                <c:pt idx="1">
                  <c:v>8000</c:v>
                </c:pt>
                <c:pt idx="2">
                  <c:v>8800</c:v>
                </c:pt>
              </c:numCache>
            </c:numRef>
          </c:xVal>
          <c:yVal>
            <c:numRef>
              <c:f>Sheet1!$B$2:$B$4</c:f>
              <c:numCache>
                <c:formatCode>General</c:formatCode>
                <c:ptCount val="3"/>
                <c:pt idx="0">
                  <c:v>1.25464</c:v>
                </c:pt>
                <c:pt idx="1">
                  <c:v>1.10805</c:v>
                </c:pt>
                <c:pt idx="2">
                  <c:v>0.98834</c:v>
                </c:pt>
              </c:numCache>
            </c:numRef>
          </c:yVal>
          <c:smooth val="0"/>
        </c:ser>
        <c:ser>
          <c:idx val="1"/>
          <c:order val="1"/>
          <c:tx>
            <c:strRef>
              <c:f>Sheet1!$C$1</c:f>
              <c:strCache>
                <c:ptCount val="1"/>
                <c:pt idx="0">
                  <c:v>ref_lambda_1</c:v>
                </c:pt>
              </c:strCache>
            </c:strRef>
          </c:tx>
          <c:spPr>
            <a:solidFill>
              <a:srgbClr val="9AA5B1"/>
            </a:solidFill>
            <a:ln w="15875" cap="flat">
              <a:solidFill>
                <a:srgbClr val="9AA5B1"/>
              </a:solidFill>
              <a:prstDash val="dash"/>
              <a:round/>
            </a:ln>
            <a:effectLst/>
          </c:spPr>
          <c:marker>
            <c:symbol val="none"/>
          </c:marker>
          <c:dLbls>
            <c:dLbl>
              <c:idx val="0"/>
              <c:tx>
                <c:rich>
                  <a:bodyPr>
                    <a:spAutoFit/>
                  </a:bodyPr>
                  <a:lstStyle/>
                  <a:p>
                    <a:pPr>
                      <a:defRPr/>
                    </a:pPr>
                    <a:r>
                      <a:rPr lang="en-US" dirty="0"/>
                      <a:t>λ₁ = 1</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9cf3-cecc-ec9e-cce451e398f5}"/>
                </c:ext>
              </c:extLst>
            </c:dLbl>
            <c:dLbl>
              <c:idx val="1"/>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9cf3-cecc-ec9e-cce451e398f5}"/>
                </c:ext>
              </c:extLst>
            </c:dLbl>
            <c:dLbl>
              <c:idx val="2"/>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9cf3-cecc-ec9e-cce451e398f5}"/>
                </c:ext>
              </c:extLst>
            </c:dLbl>
          </c:dLbls>
          <c:xVal>
            <c:numRef>
              <c:f>Sheet1!$A$2:$A$4</c:f>
              <c:numCache>
                <c:formatCode>General</c:formatCode>
                <c:ptCount val="3"/>
                <c:pt idx="0">
                  <c:v>7200</c:v>
                </c:pt>
                <c:pt idx="1">
                  <c:v>8000</c:v>
                </c:pt>
                <c:pt idx="2">
                  <c:v>8800</c:v>
                </c:pt>
              </c:numCache>
            </c:numRef>
          </c:xVal>
          <c:yVal>
            <c:numRef>
              <c:f>Sheet1!$C$2:$C$4</c:f>
              <c:numCache>
                <c:formatCode>General</c:formatCode>
                <c:ptCount val="3"/>
                <c:pt idx="0">
                  <c:v>1</c:v>
                </c:pt>
                <c:pt idx="1">
                  <c:v>1</c:v>
                </c:pt>
                <c:pt idx="2">
                  <c:v>1</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9000"/>
          <c:min val="700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500"/>
      </c:valAx>
      <c:valAx>
        <c:axId val="2094734552"/>
        <c:scaling>
          <c:orientation val="minMax"/>
          <c:max val="1.35"/>
          <c:min val="0.9"/>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0.15"/>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LC1 max deformation [mm]</a:t>
            </a:r>
          </a:p>
        </c:rich>
      </c:tx>
      <c:layout/>
      <c:overlay val="0"/>
    </c:title>
    <c:autoTitleDeleted val="0"/>
    <c:plotArea>
      <c:layout/>
      <c:scatterChart>
        <c:scatterStyle val="lineMarker"/>
        <c:varyColors val="0"/>
        <c:ser>
          <c:idx val="0"/>
          <c:order val="0"/>
          <c:tx>
            <c:strRef>
              <c:f>Sheet1!$B$1</c:f>
              <c:strCache>
                <c:ptCount val="1"/>
                <c:pt idx="0">
                  <c:v>LC1 max deformation [mm]</c:v>
                </c:pt>
              </c:strCache>
            </c:strRef>
          </c:tx>
          <c:spPr>
            <a:solidFill>
              <a:srgbClr val="5C6B7A"/>
            </a:solidFill>
            <a:ln w="25400" cap="flat">
              <a:solidFill>
                <a:srgbClr val="5C6B7A"/>
              </a:solidFill>
              <a:prstDash val="solid"/>
              <a:round/>
            </a:ln>
            <a:effectLst/>
          </c:spPr>
          <c:marker>
            <c:symbol val="circle"/>
            <c:size val="8"/>
            <c:spPr>
              <a:solidFill>
                <a:srgbClr val="5C6B7A"/>
              </a:solidFill>
              <a:ln w="9525" cap="flat">
                <a:solidFill>
                  <a:srgbClr val="5C6B7A"/>
                </a:solidFill>
                <a:prstDash val="solid"/>
                <a:round/>
              </a:ln>
              <a:effectLst/>
            </c:spPr>
          </c:marker>
          <c:dLbls>
            <c:dLbl>
              <c:idx val="0"/>
              <c:tx>
                <c:rich>
                  <a:bodyPr>
                    <a:spAutoFit/>
                  </a:bodyPr>
                  <a:lstStyle/>
                  <a:p>
                    <a:pPr>
                      <a:defRPr/>
                    </a:pPr>
                    <a:r>
                      <a:rPr lang="en-US" dirty="0"/>
                      <a:t>1.836</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390d-a056-d133-974839677ccc}"/>
                </c:ext>
              </c:extLst>
            </c:dLbl>
            <c:dLbl>
              <c:idx val="1"/>
              <c:tx>
                <c:rich>
                  <a:bodyPr>
                    <a:spAutoFit/>
                  </a:bodyPr>
                  <a:lstStyle/>
                  <a:p>
                    <a:pPr>
                      <a:defRPr/>
                    </a:pPr>
                    <a:r>
                      <a:rPr lang="en-US" dirty="0"/>
                      <a:t>1.844</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390d-a056-d133-974839677ccc}"/>
                </c:ext>
              </c:extLst>
            </c:dLbl>
            <c:dLbl>
              <c:idx val="2"/>
              <c:tx>
                <c:rich>
                  <a:bodyPr>
                    <a:spAutoFit/>
                  </a:bodyPr>
                  <a:lstStyle/>
                  <a:p>
                    <a:pPr>
                      <a:defRPr/>
                    </a:pPr>
                    <a:r>
                      <a:rPr lang="en-US" dirty="0"/>
                      <a:t>1.853</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390d-a056-d133-974839677ccc}"/>
                </c:ext>
              </c:extLst>
            </c:dLbl>
          </c:dLbls>
          <c:xVal>
            <c:numRef>
              <c:f>Sheet1!$A$2:$A$4</c:f>
              <c:numCache>
                <c:formatCode>General</c:formatCode>
                <c:ptCount val="3"/>
                <c:pt idx="0">
                  <c:v>8</c:v>
                </c:pt>
                <c:pt idx="1">
                  <c:v>10</c:v>
                </c:pt>
                <c:pt idx="2">
                  <c:v>12</c:v>
                </c:pt>
              </c:numCache>
            </c:numRef>
          </c:xVal>
          <c:yVal>
            <c:numRef>
              <c:f>Sheet1!$B$2:$B$4</c:f>
              <c:numCache>
                <c:formatCode>General</c:formatCode>
                <c:ptCount val="3"/>
                <c:pt idx="0">
                  <c:v>1.8355</c:v>
                </c:pt>
                <c:pt idx="1">
                  <c:v>1.8443</c:v>
                </c:pt>
                <c:pt idx="2">
                  <c:v>1.8528</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13"/>
          <c:min val="7"/>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1"/>
      </c:valAx>
      <c:valAx>
        <c:axId val="2094734552"/>
        <c:scaling>
          <c:orientation val="minMax"/>
          <c:max val="1.86"/>
          <c:min val="1.83"/>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0.01"/>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Critical load P_cr [kN]</a:t>
            </a:r>
          </a:p>
        </c:rich>
      </c:tx>
      <c:layout/>
      <c:overlay val="0"/>
    </c:title>
    <c:autoTitleDeleted val="0"/>
    <c:plotArea>
      <c:layout/>
      <c:scatterChart>
        <c:scatterStyle val="lineMarker"/>
        <c:varyColors val="0"/>
        <c:ser>
          <c:idx val="0"/>
          <c:order val="0"/>
          <c:tx>
            <c:strRef>
              <c:f>Sheet1!$B$1</c:f>
              <c:strCache>
                <c:ptCount val="1"/>
                <c:pt idx="0">
                  <c:v>Critical load P_cr [kN]</c:v>
                </c:pt>
              </c:strCache>
            </c:strRef>
          </c:tx>
          <c:spPr>
            <a:solidFill>
              <a:srgbClr val="5C6B7A"/>
            </a:solidFill>
            <a:ln w="25400" cap="flat">
              <a:solidFill>
                <a:srgbClr val="5C6B7A"/>
              </a:solidFill>
              <a:prstDash val="solid"/>
              <a:round/>
            </a:ln>
            <a:effectLst/>
          </c:spPr>
          <c:marker>
            <c:symbol val="circle"/>
            <c:size val="8"/>
            <c:spPr>
              <a:solidFill>
                <a:srgbClr val="5C6B7A"/>
              </a:solidFill>
              <a:ln w="9525" cap="flat">
                <a:solidFill>
                  <a:srgbClr val="5C6B7A"/>
                </a:solidFill>
                <a:prstDash val="solid"/>
                <a:round/>
              </a:ln>
              <a:effectLst/>
            </c:spPr>
          </c:marker>
          <c:dLbls>
            <c:dLbl>
              <c:idx val="0"/>
              <c:tx>
                <c:rich>
                  <a:bodyPr>
                    <a:spAutoFit/>
                  </a:bodyPr>
                  <a:lstStyle/>
                  <a:p>
                    <a:pPr>
                      <a:defRPr/>
                    </a:pPr>
                    <a:r>
                      <a:rPr lang="en-US" dirty="0"/>
                      <a:t>386</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326a-ce34-8c4e-69e7505eb4ec}"/>
                </c:ext>
              </c:extLst>
            </c:dLbl>
            <c:dLbl>
              <c:idx val="1"/>
              <c:tx>
                <c:rich>
                  <a:bodyPr>
                    <a:spAutoFit/>
                  </a:bodyPr>
                  <a:lstStyle/>
                  <a:p>
                    <a:pPr>
                      <a:defRPr/>
                    </a:pPr>
                    <a:r>
                      <a:rPr lang="en-US" dirty="0"/>
                      <a:t>608</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326a-ce34-8c4e-69e7505eb4ec}"/>
                </c:ext>
              </c:extLst>
            </c:dLbl>
            <c:dLbl>
              <c:idx val="2"/>
              <c:tx>
                <c:rich>
                  <a:bodyPr>
                    <a:spAutoFit/>
                  </a:bodyPr>
                  <a:lstStyle/>
                  <a:p>
                    <a:pPr>
                      <a:defRPr/>
                    </a:pPr>
                    <a:r>
                      <a:rPr lang="en-US" dirty="0"/>
                      <a:t>908</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326a-ce34-8c4e-69e7505eb4ec}"/>
                </c:ext>
              </c:extLst>
            </c:dLbl>
          </c:dLbls>
          <c:xVal>
            <c:numRef>
              <c:f>Sheet1!$A$2:$A$4</c:f>
              <c:numCache>
                <c:formatCode>General</c:formatCode>
                <c:ptCount val="3"/>
                <c:pt idx="0">
                  <c:v>8</c:v>
                </c:pt>
                <c:pt idx="1">
                  <c:v>10</c:v>
                </c:pt>
                <c:pt idx="2">
                  <c:v>12</c:v>
                </c:pt>
              </c:numCache>
            </c:numRef>
          </c:xVal>
          <c:yVal>
            <c:numRef>
              <c:f>Sheet1!$B$2:$B$4</c:f>
              <c:numCache>
                <c:formatCode>General</c:formatCode>
                <c:ptCount val="3"/>
                <c:pt idx="0">
                  <c:v>385.73</c:v>
                </c:pt>
                <c:pt idx="1">
                  <c:v>608.25</c:v>
                </c:pt>
                <c:pt idx="2">
                  <c:v>907.89</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13"/>
          <c:min val="7"/>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1"/>
      </c:valAx>
      <c:valAx>
        <c:axId val="2094734552"/>
        <c:scaling>
          <c:orientation val="minMax"/>
          <c:max val="1000"/>
          <c:min val="300"/>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200"/>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λ₁ (S1)</a:t>
            </a:r>
          </a:p>
        </c:rich>
      </c:tx>
      <c:layout/>
      <c:overlay val="0"/>
    </c:title>
    <c:autoTitleDeleted val="0"/>
    <c:plotArea>
      <c:layout/>
      <c:scatterChart>
        <c:scatterStyle val="lineMarker"/>
        <c:varyColors val="0"/>
        <c:ser>
          <c:idx val="0"/>
          <c:order val="0"/>
          <c:tx>
            <c:strRef>
              <c:f>Sheet1!$B$1</c:f>
              <c:strCache>
                <c:ptCount val="1"/>
                <c:pt idx="0">
                  <c:v>λ₁ (S1)</c:v>
                </c:pt>
              </c:strCache>
            </c:strRef>
          </c:tx>
          <c:spPr>
            <a:solidFill>
              <a:srgbClr val="5C6B7A"/>
            </a:solidFill>
            <a:ln w="25400" cap="flat">
              <a:solidFill>
                <a:srgbClr val="5C6B7A"/>
              </a:solidFill>
              <a:prstDash val="solid"/>
              <a:round/>
            </a:ln>
            <a:effectLst/>
          </c:spPr>
          <c:marker>
            <c:symbol val="circle"/>
            <c:size val="8"/>
            <c:spPr>
              <a:solidFill>
                <a:srgbClr val="5C6B7A"/>
              </a:solidFill>
              <a:ln w="9525" cap="flat">
                <a:solidFill>
                  <a:srgbClr val="5C6B7A"/>
                </a:solidFill>
                <a:prstDash val="solid"/>
                <a:round/>
              </a:ln>
              <a:effectLst/>
            </c:spPr>
          </c:marker>
          <c:dLbls>
            <c:dLbl>
              <c:idx val="0"/>
              <c:tx>
                <c:rich>
                  <a:bodyPr>
                    <a:spAutoFit/>
                  </a:bodyPr>
                  <a:lstStyle/>
                  <a:p>
                    <a:pPr>
                      <a:defRPr/>
                    </a:pPr>
                    <a:r>
                      <a:rPr lang="en-US" dirty="0"/>
                      <a:t>0.945</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59b9-316c-a179-d38874120727}"/>
                </c:ext>
              </c:extLst>
            </c:dLbl>
            <c:dLbl>
              <c:idx val="1"/>
              <c:tx>
                <c:rich>
                  <a:bodyPr>
                    <a:spAutoFit/>
                  </a:bodyPr>
                  <a:lstStyle/>
                  <a:p>
                    <a:pPr>
                      <a:defRPr/>
                    </a:pPr>
                    <a:r>
                      <a:rPr lang="en-US" dirty="0"/>
                      <a:t>1.108</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59b9-316c-a179-d38874120727}"/>
                </c:ext>
              </c:extLst>
            </c:dLbl>
            <c:dLbl>
              <c:idx val="2"/>
              <c:tx>
                <c:rich>
                  <a:bodyPr>
                    <a:spAutoFit/>
                  </a:bodyPr>
                  <a:lstStyle/>
                  <a:p>
                    <a:pPr>
                      <a:defRPr/>
                    </a:pPr>
                    <a:r>
                      <a:rPr lang="en-US" dirty="0"/>
                      <a:t>1.287</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59b9-316c-a179-d38874120727}"/>
                </c:ext>
              </c:extLst>
            </c:dLbl>
          </c:dLbls>
          <c:xVal>
            <c:numRef>
              <c:f>Sheet1!$A$2:$A$4</c:f>
              <c:numCache>
                <c:formatCode>General</c:formatCode>
                <c:ptCount val="3"/>
                <c:pt idx="0">
                  <c:v>8</c:v>
                </c:pt>
                <c:pt idx="1">
                  <c:v>10</c:v>
                </c:pt>
                <c:pt idx="2">
                  <c:v>12</c:v>
                </c:pt>
              </c:numCache>
            </c:numRef>
          </c:xVal>
          <c:yVal>
            <c:numRef>
              <c:f>Sheet1!$B$2:$B$4</c:f>
              <c:numCache>
                <c:formatCode>General</c:formatCode>
                <c:ptCount val="3"/>
                <c:pt idx="0">
                  <c:v>0.94497</c:v>
                </c:pt>
                <c:pt idx="1">
                  <c:v>1.10805</c:v>
                </c:pt>
                <c:pt idx="2">
                  <c:v>1.28702</c:v>
                </c:pt>
              </c:numCache>
            </c:numRef>
          </c:yVal>
          <c:smooth val="0"/>
        </c:ser>
        <c:ser>
          <c:idx val="1"/>
          <c:order val="1"/>
          <c:tx>
            <c:strRef>
              <c:f>Sheet1!$C$1</c:f>
              <c:strCache>
                <c:ptCount val="1"/>
                <c:pt idx="0">
                  <c:v>ref_lambda_1</c:v>
                </c:pt>
              </c:strCache>
            </c:strRef>
          </c:tx>
          <c:spPr>
            <a:solidFill>
              <a:srgbClr val="9AA5B1"/>
            </a:solidFill>
            <a:ln w="15875" cap="flat">
              <a:solidFill>
                <a:srgbClr val="9AA5B1"/>
              </a:solidFill>
              <a:prstDash val="dash"/>
              <a:round/>
            </a:ln>
            <a:effectLst/>
          </c:spPr>
          <c:marker>
            <c:symbol val="none"/>
          </c:marker>
          <c:dLbls>
            <c:dLbl>
              <c:idx val="0"/>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ea66-4585-ec7b-dc1275dfa0ef}"/>
                </c:ext>
              </c:extLst>
            </c:dLbl>
            <c:dLbl>
              <c:idx val="1"/>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ea66-4585-ec7b-dc1275dfa0ef}"/>
                </c:ext>
              </c:extLst>
            </c:dLbl>
            <c:dLbl>
              <c:idx val="2"/>
              <c:tx>
                <c:rich>
                  <a:bodyPr>
                    <a:spAutoFit/>
                  </a:bodyPr>
                  <a:lstStyle/>
                  <a:p>
                    <a:pPr>
                      <a:defRPr/>
                    </a:pPr>
                    <a:r>
                      <a:rPr lang="en-US" dirty="0"/>
                      <a:t>λ₁ = 1</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ea66-4585-ec7b-dc1275dfa0ef}"/>
                </c:ext>
              </c:extLst>
            </c:dLbl>
          </c:dLbls>
          <c:xVal>
            <c:numRef>
              <c:f>Sheet1!$A$2:$A$4</c:f>
              <c:numCache>
                <c:formatCode>General</c:formatCode>
                <c:ptCount val="3"/>
                <c:pt idx="0">
                  <c:v>8</c:v>
                </c:pt>
                <c:pt idx="1">
                  <c:v>10</c:v>
                </c:pt>
                <c:pt idx="2">
                  <c:v>12</c:v>
                </c:pt>
              </c:numCache>
            </c:numRef>
          </c:xVal>
          <c:yVal>
            <c:numRef>
              <c:f>Sheet1!$C$2:$C$4</c:f>
              <c:numCache>
                <c:formatCode>General</c:formatCode>
                <c:ptCount val="3"/>
                <c:pt idx="0">
                  <c:v>1</c:v>
                </c:pt>
                <c:pt idx="1">
                  <c:v>1</c:v>
                </c:pt>
                <c:pt idx="2">
                  <c:v>1</c:v>
                </c:pt>
              </c:numCache>
            </c:numRef>
          </c:yVal>
          <c:smooth val="0"/>
        </c:ser>
        <c:dLbls>
          <c:numFmt formatCode="General" sourceLinked="0"/>
          <c:txPr>
            <a:bodyPr/>
            <a:lstStyle/>
            <a:p>
              <a:pPr>
                <a:defRPr b="1" i="0" strike="noStrike" sz="1200" u="none">
                  <a:solidFill>
                    <a:srgbClr val="243447"/>
                  </a:solidFill>
                  <a:latin typeface="Calibri"/>
                </a:defRPr>
              </a:pPr>
            </a:p>
          </c:txPr>
          <c:dLblPos val="t"/>
          <c:showLegendKey val="0"/>
          <c:showVal val="0"/>
          <c:showCatName val="0"/>
          <c:showSerName val="0"/>
          <c:showPercent val="0"/>
          <c:showBubbleSize val="0"/>
        </c:dLbls>
        <c:axId val="2094734554"/>
        <c:axId val="2094734552"/>
      </c:scatterChart>
      <c:valAx>
        <c:axId val="2094734554"/>
        <c:scaling>
          <c:orientation val="minMax"/>
          <c:max val="13"/>
          <c:min val="7"/>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2"/>
        <c:crosses val="autoZero"/>
        <c:auto val="1"/>
        <c:lblAlgn val="ctr"/>
        <c:noMultiLvlLbl val="1"/>
        <c:majorUnit val="1"/>
      </c:valAx>
      <c:valAx>
        <c:axId val="2094734552"/>
        <c:scaling>
          <c:orientation val="minMax"/>
          <c:max val="1.35"/>
          <c:min val="0.9"/>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C93"/>
                </a:solidFill>
                <a:latin typeface="Calibri"/>
              </a:defRPr>
            </a:pPr>
            <a:endParaRPr lang="en-US"/>
          </a:p>
        </c:txPr>
        <c:crossAx val="2094734554"/>
        <c:crosses val="autoZero"/>
        <c:crossBetween val="midCat"/>
        <c:majorUnit val="0.1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Good morning. This is my internship project at Eleation, February to May 2025: flow behaviour and thermal effects in a multiphysics system.
The picture is the system itself — an Inconel 718 duct, 600 mm long, cooled by air inside and heated outside. Simple geometry, but it couples turbulent flow, conjugate heat transfer and thermo-structural response, up to buckling.
One point up front: the original internship files were not retained, so the geometry, set-up and results come from a documented re-analysis in ANSYS, carried out after the internship. Every number traces to an audited dataset, and I will be explicit about what the model can and cannot claim.
Transition: first, the context and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 internship was at Eleation from February to May 2025, during my B.Tech in Aerospace Engineering at Dayananda Sagar University; the domain is multiphysics simulation.
On the right, the ANSYS Workbench chain: SpaceClaim for the geometry, Fluent for flow and heat transfer, Mechanical for thermal stress and linear buckling. The only data passed between the solvers is the temperature field.
The box at the bottom notes how the analysis record was produced. The analysis ran on the ANSYS Student licence, whose 128,000-node structural limit matters later.
Transition: so what exactly is the engineering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Read the schematic from left to right. Air enters at 300 K and 23.5 m/s. The outer surface receives a uniform 8000 W/m². That heat conducts through the 10 mm Inconel wall, is convected into the air, and the air carries it out of the duct.
The engineering point is the chain along the bottom. A hot wall wants to grow. If the duct is free, it simply gets longer. If both ends are held axially, that growth is prevented and turns into axial compression — and a long, compressed tube can buckle sideways.
So the questions are linked: how hot does the wall get, how much stress does the restraint create, and how close is the restrained duct to instability. Steps one to three run in Fluent, four to seven in Mechanical, linked by a one-way temperature transfer.
Transition: that gives the six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Six objectives, in the order the workflow answers them.
One and two are the physics: the flow and the thermal field in the wall.
Three and four are about trusting those results: an independent analytical model built before any mesh existed, and mesh studies on both the CFD side and the structural side.
Five and six are the structural questions: how much stress free versus restrained expansion produces, and how the stability depends on the supports and on velocity, heat flux and wall thickness.
I will close the loop on each of these in the findings slide.
Transition: the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drawing is the longitudinal section: a straight duct, 20 mm bore, 40 mm outside diameter — so a 10 mm wall — and 600 mm long.
It is modelled as two bodies that share one cylindrical interface: the fluid domain, air, in blue, and the solid domain, Inconel 718, in grey. Because the interface topology is shared, the mesh is conformal, and heat passes directly from solid cells to fluid cells with no interpolation.
Heat enters only through the outer cylindrical wall, the red arrows; the end faces are adiabatic. Flow runs from z equals 0 to 600 mm. The end face on the right is drawn from the exported SpaceClaim geometry.
Transition: how the CFD was set up on this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Top row: the workflow, ending in a conjugate heat transfer solution — the energy equation is solved in the air and in the Inconel wall together.
The solver is pressure-based, steady and coupled, with energy on. Turbulence is k-omega SST on a wall-resolved mesh: the first cell sits inside the viscous sublayer, y-plus at most 0.585, so no wall functions are used.
The key modelling choice is on the right: the interface temperature is not imposed — it is part of the solution. The boundary conditions are the baseline: 23.5 m/s and 300 K at the inlet, zero gauge pressure at the outlet, 8000 W/m² on the outer wall, adiabatic ends. The run was staged — flow, then energy, then second-order schemes.
Transition: which mesh, and how do I know it converged?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Three meshes built from the same scripted topology: coarse 51,840 cells, medium 159,840, fine 500,580.
The number that matters: from medium to fine, the pressure drop changes by 0.23 % and the maximum solid temperature by 1.75 K. Richardson extrapolation puts the medium mesh 4.4 K above the extrapolated 558.13 K, so its error is small and on the hotter, conservative side. The observed order is 1.2 to 1.6, so I call this approximately convergent — I do not claim strict mesh independence.
The medium mesh became the baseline for a second, practical reason: the fine solid would need about 157 thousand structural nodes, above the 128,000-node limit.
On the right, the residual history: converged at 600, confirmed at 700, with mass and energy imbalances at round-off level.
Transition: what the converged solution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Four numbers summarise the baseline, all on the medium mesh: pressure drop 438.13 Pa, outlet bulk temperature 368.93 K, 602.755 W into the air, and a maximum solid temperature of 562.58 K on the outer wall at the outlet end.
The charts explain them. Left: the air accelerates along the duct — the area is constant, but the air heats and its density falls. Middle: the static pressure falls steeply at the inlet, where the boundary layer is thin, then almost linearly. Right: the air heats linearly, as a uniform flux requires, while the wall runs far above it.
Look at the gap between the inner and outer wall curves: at mid-span it is only 7.58 K. The metal conducts well; the air film carries most of the thermal resistance.
Transition: can these numbers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Before any mesh existed I built an independent analytical model from standard correlations, so this table compares two independent models of the same duct.
Reynolds number matches because it is fixed by the mass flux. The heat input differs by 0.071 %, which is exactly the area ratio of the 48-sided CFD cross-section: a geometric effect, not a modelling error. The pressure drop agrees within 0.77 %, but for partly compensating reasons: friction is lower in the CFD because the heated gas changes its properties, while the flow-development term is higher.
The largest difference is the maximum solid temperature: 19.1 K lower in the CFD — 15.0 K from the higher heat-transfer coefficient in the developing flow and 4.2 K from axial conduction in the wall, which a one-dimensional model cannot see.
Neither model was adjusted to match the other — and this is verification, not experimental validation: there are no measurements.
Transition: moving the temperature field into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structural model imports its temperature from Fluent. Left column: Fluent field, mapping with mesh-based external data and shape functions, then the Mechanical model, with zero thermal strain at 300 K.
The coupling is one-way: temperature goes from CFD to the structure and nothing comes back. That is justified because the wall deformation changes the flow area by only 0.70 % — this is not a two-way FSI model.
The quality numbers: all 108,252 structural nodes received a temperature, the mapped range matches the source range, and against an exact shape-function evaluation the error is at most 0.081 K inside the source mesh. The picture compares Fluent cell values with mapped Mechanical node values in the wall — they are practically identical.
Transition: what that temperature field does to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Two load cases, same temperature field, different supports.
Left, LC1: the duct is held just enough to stop rigid-body motion, so it expands freely — about 1.844 mm — and the only stress comes from the temperature gradients: a peak of 24.28 MPa.
Right, LC2: both end faces are held axially — support S1. The same growth is now prevented. That creates an end force of 548.94 kN, a mean axial stress of minus 582.44 MPa, and a local peak von Mises stress of 605.16 MPa at the outer edge of the inlet face.
The engineering message is in the box: in a hot, thick-walled duct, the restraint — not the gradient — creates the stress; at mid-span the restrained stress is 32 times the free one. The peak is 57.8 % of the local yield strength, so the static state is elastic.
Transition: that much compression raises the stability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A tube carrying 548.94 kN of compression must be checked for buckling, so I ran a linear eigenvalue buckling analysis on the LC2 pre-stress.
For support S1 the first eigenvalue is 1.108: the idealised model bifurcates at 1.108 times the thermal load — a critical load of 608.25 kN. The picture is mode 1 from the side: a whole-duct sideways sway, the ends moving in opposite directions while their rotation is held — a guided column. The colours are a normalised eigenvector, so the amplitude has no physical meaning.
Compare with the first-yield factor of 1.730: in this idealised model elastic bifurcation comes before first yield, so the S1 model is stability-limited and close to instability.
Just as important is what 1.108 is not. It belongs to a perfectly straight, elastic tube with idealised supports. Real tubes have imperfections and plasticity, which lower the capacity. So it is not a collapse load and not a factor of safety.
Transition: how strongly this depends on the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Same duct, same thermal load, three idealised end conditions, arranged by increasing end restraint.
S1, the baseline, lets the ends sway: λ1 = 1.108. S3 clamps one end and pins the other: 2.232. S2 clamps both ends: 4.300.
The static peak stress is identical in all three — 605.16 MPa. Only the stability changes, by a factor of 3.9. The governing mechanism changes too: under S1 bifurcation comes first; under S3 and S2 first yield comes first.
I deliberately do not rank these. The real support of the duct is not defined, and this slide shows that its lateral and rotational stiffness controls the stability conclusion more than anything else in the model.
Transition: the operating and design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 parametric study moves one factor at a time around the baseline P00: inlet velocity plus and minus 10 %, outer-wall heat flux plus and minus 10 %, and wall thickness 8 and 12 mm.
For thickness the total heat input is held constant, so the flux is rescaled; otherwise a thicker wall would simply receive more heat and hide the cross-section effect.
The important point is on the right: every case is a full chain — its own converged CFD, its own temperature mapping, LC1 and LC2 statics and a buckling analysis, all with support S1. No screening estimate or interpolation enters the results, and a control case repeated the baseline and reproduced it.
One-factor-at-a-time cannot show interactions; I come back to that in the limitations.
Transition: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Nine charts, three per variable; the middle point is always the baseline.
Top row, velocity: it acts mainly on the cooling and the pressure drop. Minus 10 % velocity lowers the pressure drop by 13.3 % and the air leaves hotter; λ1 follows the wall temperature and falls to 1.003.
Middle row, heat flux: this is the thermal load itself. The maximum solid temperature moves by about 28 K each way, the LC2 stress by minus 11.0 and plus 11.2 %, and at plus 10 % flux λ1 drops below 1, to 0.988.
Bottom row, thickness at constant total heat: the temperatures barely move and the deformation changes by about half a percent, but the critical load changes by minus 36.6 and plus 49.3 %, and the 8 mm wall has λ1 = 0.945.
For the two cases below 1, the static stresses are pre-buckling equilibrium results.
Transition: what all of this adds up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Six findings, each traced to the final engineering audit.
One: restraint dominates the thermal stress. Two: the idealised baseline is stability-limited — λ1 of 1.108 sits below the first-yield factor. Three: the end support controls that conclusion — 1.108 to 4.300 at the same stress. Four: heat flux drives temperature and stress directly. Five: thickness acts on stiffness and buckling capacity, not on temperature.
Six links back to the verification objectives: the numerical uncertainty is small compared with the modelling uncertainty. Mesh effects are 4.4 K on the CFD side and below 5 × 10⁻⁴ on the structural side, and the fluid pressure load is negligible — while the support definition changes λ1 by a factor of 3.9.
Transition: the limits of these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 limitations are part of the result.
This is a re-analysis with no experimental data, so the model is verified, not validated. The supports are idealised, and the buckling analysis is linear: no imperfections, no plasticity, no post-buckling path. The additional LS-DYNA extension covers only the elastic, geometrically nonlinear part, with numerical imperfections. The material model has temperature-dependent stiffness and expansion but no inelastic stress-strain data, and Poisson's ratio is an assumption. The parametric study is one-factor-at-a-time, and the CFD model form — for example the turbulence model — was not varied.
The future work follows directly from that list: measure the wall temperatures and pressure drop on a rig, characterise the real support stiffness, run an imperfection-sensitive nonlinear buckling analysis with inelastic data, and examine turbulence and radiation modelling where it is justified.
Transition: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To conclude. Within an idealised numerical model, the chain from flow to stability is complete and checked at every step.
The CFD is converged and verified, with a maximum solid temperature of 562.58 K. Restraint turns thermal growth into a 605.16 MPa local peak stress. The idealised S1 duct is stability-limited at λ1 = 1.108, and the end restraint controls that conclusion.
What the work does not show is that a real component is structurally adequate — that would need the real supports, imperfections, inelastic behaviour and measurements.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The linear eigenvalue result belongs to a perfectly straight, elastic tube. To see how a duct with a small initial out-of-straightness behaves as the thermal load rises, I added a geometrically nonlinear buckling analysis in ANSYS LS-DYNA. It is a follow-on extension of the project, not part of the original internship work, and the Mechanical result remains the reference.
First I verified the LS-DYNA model against Mechanical: same mesh, same mapped Fluent temperatures, same S1 supports. The static peak is 605.160 against 605.161 MPa, and the linear buckling factor 1.1095, 0.13 % from Mechanical.
Then I seeded the first buckling mode with three numerical amplitudes — 0.1, 0.6 and 1.2 mm. These are sensitivity values, not manufacturing tolerances. A perfect-geometry run serves as reference, and the temperature rise was raised to 1.3 times the operating field. The picture shows the 1.2 mm case: the whole duct sways sideways, ends in opposite directions, with no local mode.
Transition: what the imperfection size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The three cases represent small, medium and large numerical imperfections of the same mode shape.
The imperfection size decides when the duct starts to bend. The response leaves the perfect path — axial force 1 % below the perfect case — at λ 1.070 for 0.1 mm, 0.825 for 0.6 mm and already 0.375 for 1.2 mm. At the operating field, λ = 1, the axial force falls from 552.2 to 503.5 kN and the peak stress rises from 690 to 1104 MPa as the amplitude grows.
On the right of the chart the curves are normalised by the critical load and the initial sway, and they collapse onto one curve: a single global mode, amplified by the imperfection.
Transition: how this compares with the Mechanical buckling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Here is the comparison with Mechanical. Southwell plots of the three load paths give a characteristic load of 607.7 to 612.3 kN, against the Mechanical critical load of 608.25 kN at λ1 = 1.108. So the characteristic global buckling load is relatively insensitive to the tested amplitudes, while the deformation and stress response is strongly imperfection-sensitive. The 0.1 mm case reaches a maximum of 601.0 kN at λ 1.185; the other two are still rising at λ 1.3.
This is not a factor of safety, and it is not experimental validation: it is a second numerical model of the same idealised problem.
The material model is elastic, because the project has no defensible temperature-dependent plastic stress-strain curve for Inconel 718. The peak stress reaches the local yield estimate at λ 1.109, 1.031 and 0.974 — the 1.2 mm case slightly before λ = 1 — so the later parts of the curves lie outside the elastic range and are not a collapse prediction. The perfect-geometry run does not identify a bifurcation load, so the Mechanical eigenvalue remains the reference.
Transition: back to the main study — the parametric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3D9"/>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3D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chart" Target="/ppt/charts/chart7.xml"/><Relationship Id="rId5" Type="http://schemas.openxmlformats.org/officeDocument/2006/relationships/chart" Target="/ppt/charts/chart8.xml"/><Relationship Id="rId6" Type="http://schemas.openxmlformats.org/officeDocument/2006/relationships/chart" Target="/ppt/charts/chart9.xml"/><Relationship Id="rId7" Type="http://schemas.openxmlformats.org/officeDocument/2006/relationships/chart" Target="/ppt/charts/chart10.xml"/><Relationship Id="rId8" Type="http://schemas.openxmlformats.org/officeDocument/2006/relationships/chart" Target="/ppt/charts/chart11.xml"/><Relationship Id="rId9" Type="http://schemas.openxmlformats.org/officeDocument/2006/relationships/chart" Target="/ppt/charts/chart12.xml"/><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6766560" cy="320040"/>
          </a:xfrm>
          <a:prstGeom prst="rect">
            <a:avLst/>
          </a:prstGeom>
          <a:noFill/>
          <a:ln/>
        </p:spPr>
        <p:txBody>
          <a:bodyPr wrap="square" lIns="0" tIns="0" rIns="0" bIns="0" rtlCol="0" anchor="ctr"/>
          <a:lstStyle/>
          <a:p>
            <a:pPr indent="0" marL="0">
              <a:buNone/>
            </a:pPr>
            <a:r>
              <a:rPr lang="en-US" sz="1200" b="1" spc="200" kern="0" dirty="0">
                <a:solidFill>
                  <a:srgbClr val="F59F00"/>
                </a:solidFill>
                <a:latin typeface="Calibri" pitchFamily="34" charset="0"/>
                <a:ea typeface="Calibri" pitchFamily="34" charset="-122"/>
                <a:cs typeface="Calibri" pitchFamily="34" charset="-120"/>
              </a:rPr>
              <a:t>INTERNSHIP PROJECT  ·  FINAL TECHNICAL PRESENTATION</a:t>
            </a:r>
            <a:endParaRPr lang="en-US" sz="1200" dirty="0"/>
          </a:p>
        </p:txBody>
      </p:sp>
      <p:sp>
        <p:nvSpPr>
          <p:cNvPr id="3" name="Text 1"/>
          <p:cNvSpPr txBox="1"/>
          <p:nvPr/>
        </p:nvSpPr>
        <p:spPr>
          <a:xfrm>
            <a:off x="548640" y="1051560"/>
            <a:ext cx="6583680" cy="160020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Flow Behavior and Thermal Effects in Multiphysics Systems</a:t>
            </a:r>
            <a:endParaRPr lang="en-US" sz="3800" dirty="0"/>
          </a:p>
        </p:txBody>
      </p:sp>
      <p:sp>
        <p:nvSpPr>
          <p:cNvPr id="4" name="Text 2"/>
          <p:cNvSpPr txBox="1"/>
          <p:nvPr/>
        </p:nvSpPr>
        <p:spPr>
          <a:xfrm>
            <a:off x="548640" y="2697480"/>
            <a:ext cx="6400800" cy="77724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CFD, Conjugate Heat Transfer and Thermo-Structural Analysis of a Heated Cylindrical Duct</a:t>
            </a:r>
            <a:endParaRPr lang="en-US" sz="1800" dirty="0"/>
          </a:p>
        </p:txBody>
      </p:sp>
      <p:sp>
        <p:nvSpPr>
          <p:cNvPr id="5" name="Text 3"/>
          <p:cNvSpPr txBox="1"/>
          <p:nvPr/>
        </p:nvSpPr>
        <p:spPr>
          <a:xfrm>
            <a:off x="548640" y="3840480"/>
            <a:ext cx="6675120" cy="1097280"/>
          </a:xfrm>
          <a:prstGeom prst="rect">
            <a:avLst/>
          </a:prstGeom>
          <a:noFill/>
          <a:ln/>
        </p:spPr>
        <p:txBody>
          <a:bodyPr wrap="square" lIns="0" tIns="0" rIns="0" bIns="0" rtlCol="0" anchor="t"/>
          <a:lstStyle/>
          <a:p>
            <a:pPr indent="0" marL="0">
              <a:spcAft>
                <a:spcPts val="400"/>
              </a:spcAft>
              <a:buNone/>
            </a:pPr>
            <a:r>
              <a:rPr lang="en-US" sz="2000" b="1" dirty="0">
                <a:solidFill>
                  <a:srgbClr val="FFFFFF"/>
                </a:solidFill>
                <a:latin typeface="Calibri" pitchFamily="34" charset="0"/>
                <a:ea typeface="Calibri" pitchFamily="34" charset="-122"/>
                <a:cs typeface="Calibri" pitchFamily="34" charset="-120"/>
              </a:rPr>
              <a:t>Rohan Balram Patel</a:t>
            </a:r>
            <a:endParaRPr lang="en-US" sz="2000" dirty="0"/>
          </a:p>
          <a:p>
            <a:pPr indent="0" marL="0">
              <a:spcAft>
                <a:spcPts val="400"/>
              </a:spcAft>
              <a:buNone/>
            </a:pPr>
            <a:r>
              <a:rPr lang="en-US" sz="1500" dirty="0">
                <a:solidFill>
                  <a:srgbClr val="DDE6F0"/>
                </a:solidFill>
                <a:latin typeface="Calibri" pitchFamily="34" charset="0"/>
                <a:ea typeface="Calibri" pitchFamily="34" charset="-122"/>
                <a:cs typeface="Calibri" pitchFamily="34" charset="-120"/>
              </a:rPr>
              <a:t>B.Tech Aerospace Engineering  ·  Dayananda Sagar University, Bengaluru</a:t>
            </a:r>
            <a:endParaRPr lang="en-US" sz="2000" dirty="0"/>
          </a:p>
          <a:p>
            <a:pPr indent="0" marL="0">
              <a:spcAft>
                <a:spcPts val="400"/>
              </a:spcAft>
              <a:buNone/>
            </a:pPr>
            <a:r>
              <a:rPr lang="en-US" sz="1500" dirty="0">
                <a:solidFill>
                  <a:srgbClr val="DDE6F0"/>
                </a:solidFill>
                <a:latin typeface="Calibri" pitchFamily="34" charset="0"/>
                <a:ea typeface="Calibri" pitchFamily="34" charset="-122"/>
                <a:cs typeface="Calibri" pitchFamily="34" charset="-120"/>
              </a:rPr>
              <a:t>Internship: Eleation  ·  February – May 2025</a:t>
            </a:r>
            <a:endParaRPr lang="en-US" sz="2000" dirty="0"/>
          </a:p>
        </p:txBody>
      </p:sp>
      <p:sp>
        <p:nvSpPr>
          <p:cNvPr id="6" name="Shape 4"/>
          <p:cNvSpPr/>
          <p:nvPr/>
        </p:nvSpPr>
        <p:spPr>
          <a:xfrm>
            <a:off x="7452360" y="1143000"/>
            <a:ext cx="4206240" cy="2697480"/>
          </a:xfrm>
          <a:prstGeom prst="roundRect">
            <a:avLst>
              <a:gd name="adj" fmla="val 2712"/>
            </a:avLst>
          </a:prstGeom>
          <a:solidFill>
            <a:srgbClr val="FFFFFF"/>
          </a:solidFill>
          <a:ln/>
        </p:spPr>
      </p:sp>
      <p:pic>
        <p:nvPicPr>
          <p:cNvPr id="7" name="Image 0" descr="/mnt/attach/outputs/S10C1/14_Presentation/Figures/cad_3d_interface.png">    </p:cNvPr>
          <p:cNvPicPr>
            <a:picLocks noChangeAspect="1"/>
          </p:cNvPicPr>
          <p:nvPr/>
        </p:nvPicPr>
        <p:blipFill>
          <a:blip r:embed="rId1"/>
          <a:stretch>
            <a:fillRect/>
          </a:stretch>
        </p:blipFill>
        <p:spPr>
          <a:xfrm>
            <a:off x="7589520" y="1600200"/>
            <a:ext cx="3931920" cy="1404257"/>
          </a:xfrm>
          <a:prstGeom prst="rect">
            <a:avLst/>
          </a:prstGeom>
        </p:spPr>
      </p:pic>
      <p:sp>
        <p:nvSpPr>
          <p:cNvPr id="8" name="Text 5"/>
          <p:cNvSpPr txBox="1"/>
          <p:nvPr/>
        </p:nvSpPr>
        <p:spPr>
          <a:xfrm>
            <a:off x="7635240" y="3187337"/>
            <a:ext cx="3840480" cy="502920"/>
          </a:xfrm>
          <a:prstGeom prst="rect">
            <a:avLst/>
          </a:prstGeom>
          <a:noFill/>
          <a:ln/>
        </p:spPr>
        <p:txBody>
          <a:bodyPr wrap="square" lIns="0" tIns="0" rIns="0" bIns="0" rtlCol="0" anchor="ctr"/>
          <a:lstStyle/>
          <a:p>
            <a:pPr algn="ctr" indent="0" marL="0">
              <a:buNone/>
            </a:pPr>
            <a:r>
              <a:rPr lang="en-US" sz="1100" dirty="0">
                <a:solidFill>
                  <a:srgbClr val="6B7C93"/>
                </a:solidFill>
                <a:latin typeface="Calibri" pitchFamily="34" charset="0"/>
                <a:ea typeface="Calibri" pitchFamily="34" charset="-122"/>
                <a:cs typeface="Calibri" pitchFamily="34" charset="-120"/>
              </a:rPr>
              <a:t>SpaceClaim CAD: air passage (blue) inside the Inconel 718 duct, Ø20 / Ø40 × 600 mm</a:t>
            </a:r>
            <a:endParaRPr lang="en-US" sz="1100" dirty="0"/>
          </a:p>
        </p:txBody>
      </p:sp>
      <p:sp>
        <p:nvSpPr>
          <p:cNvPr id="9" name="Shape 6"/>
          <p:cNvSpPr/>
          <p:nvPr/>
        </p:nvSpPr>
        <p:spPr>
          <a:xfrm>
            <a:off x="548640" y="5349240"/>
            <a:ext cx="11109960" cy="731520"/>
          </a:xfrm>
          <a:prstGeom prst="roundRect">
            <a:avLst>
              <a:gd name="adj" fmla="val 10000"/>
            </a:avLst>
          </a:prstGeom>
          <a:solidFill>
            <a:srgbClr val="1E2F52"/>
          </a:solidFill>
          <a:ln w="9525">
            <a:solidFill>
              <a:srgbClr val="3B5078"/>
            </a:solidFill>
            <a:prstDash val="solid"/>
          </a:ln>
        </p:spPr>
      </p:sp>
      <p:sp>
        <p:nvSpPr>
          <p:cNvPr id="10" name="Text 7"/>
          <p:cNvSpPr txBox="1"/>
          <p:nvPr/>
        </p:nvSpPr>
        <p:spPr>
          <a:xfrm>
            <a:off x="731520" y="5394960"/>
            <a:ext cx="10789920" cy="640080"/>
          </a:xfrm>
          <a:prstGeom prst="rect">
            <a:avLst/>
          </a:prstGeom>
          <a:noFill/>
          <a:ln/>
        </p:spPr>
        <p:txBody>
          <a:bodyPr wrap="square" lIns="0" tIns="0" rIns="0" bIns="0" rtlCol="0" anchor="ctr"/>
          <a:lstStyle/>
          <a:p>
            <a:pPr indent="0" marL="0">
              <a:buNone/>
            </a:pPr>
            <a:r>
              <a:rPr lang="en-US" sz="1300" b="1" dirty="0">
                <a:solidFill>
                  <a:srgbClr val="F59F00"/>
                </a:solidFill>
                <a:latin typeface="Calibri" pitchFamily="34" charset="0"/>
                <a:ea typeface="Calibri" pitchFamily="34" charset="-122"/>
                <a:cs typeface="Calibri" pitchFamily="34" charset="-120"/>
              </a:rPr>
              <a:t>Numerical analysis  </a:t>
            </a:r>
            <a:pPr indent="0" marL="0">
              <a:buNone/>
            </a:pPr>
            <a:r>
              <a:rPr lang="en-US" sz="1300" dirty="0">
                <a:solidFill>
                  <a:srgbClr val="DDE6F0"/>
                </a:solidFill>
                <a:latin typeface="Calibri" pitchFamily="34" charset="0"/>
                <a:ea typeface="Calibri" pitchFamily="34" charset="-122"/>
                <a:cs typeface="Calibri" pitchFamily="34" charset="-120"/>
              </a:rPr>
              <a:t>ANSYS Workbench, ANSYS Fluent and ANSYS Mechanical</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3D9"/>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Internship and Project Context</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A multiphysics simulation study: one heated duct, three coupled physics, one ANSYS tool chain</a:t>
            </a:r>
            <a:endParaRPr lang="en-US" sz="1600" dirty="0"/>
          </a:p>
        </p:txBody>
      </p:sp>
      <p:sp>
        <p:nvSpPr>
          <p:cNvPr id="5" name="Shape 3"/>
          <p:cNvSpPr/>
          <p:nvPr/>
        </p:nvSpPr>
        <p:spPr>
          <a:xfrm>
            <a:off x="457200" y="1463040"/>
            <a:ext cx="5577840" cy="3566160"/>
          </a:xfrm>
          <a:prstGeom prst="roundRect">
            <a:avLst>
              <a:gd name="adj" fmla="val 2051"/>
            </a:avLst>
          </a:prstGeom>
          <a:solidFill>
            <a:srgbClr val="EEF3F8"/>
          </a:solidFill>
          <a:ln/>
        </p:spPr>
      </p:sp>
      <p:sp>
        <p:nvSpPr>
          <p:cNvPr id="6" name="Text 4"/>
          <p:cNvSpPr txBox="1"/>
          <p:nvPr/>
        </p:nvSpPr>
        <p:spPr>
          <a:xfrm>
            <a:off x="685800" y="1645920"/>
            <a:ext cx="1417320" cy="457200"/>
          </a:xfrm>
          <a:prstGeom prst="rect">
            <a:avLst/>
          </a:prstGeom>
          <a:noFill/>
          <a:ln/>
        </p:spPr>
        <p:txBody>
          <a:bodyPr wrap="square" lIns="0" tIns="0" rIns="0" bIns="0" rtlCol="0" anchor="t"/>
          <a:lstStyle/>
          <a:p>
            <a:pPr indent="0" marL="0">
              <a:buNone/>
            </a:pPr>
            <a:r>
              <a:rPr lang="en-US" sz="1400" b="1" dirty="0">
                <a:solidFill>
                  <a:srgbClr val="2F5D8A"/>
                </a:solidFill>
                <a:latin typeface="Calibri" pitchFamily="34" charset="0"/>
                <a:ea typeface="Calibri" pitchFamily="34" charset="-122"/>
                <a:cs typeface="Calibri" pitchFamily="34" charset="-120"/>
              </a:rPr>
              <a:t>Organisation</a:t>
            </a:r>
            <a:endParaRPr lang="en-US" sz="1400" dirty="0"/>
          </a:p>
        </p:txBody>
      </p:sp>
      <p:sp>
        <p:nvSpPr>
          <p:cNvPr id="7" name="Text 5"/>
          <p:cNvSpPr txBox="1"/>
          <p:nvPr/>
        </p:nvSpPr>
        <p:spPr>
          <a:xfrm>
            <a:off x="2148840" y="1645920"/>
            <a:ext cx="3657600" cy="45720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Eleation</a:t>
            </a:r>
            <a:endParaRPr lang="en-US" sz="1400" dirty="0"/>
          </a:p>
        </p:txBody>
      </p:sp>
      <p:sp>
        <p:nvSpPr>
          <p:cNvPr id="8" name="Text 6"/>
          <p:cNvSpPr txBox="1"/>
          <p:nvPr/>
        </p:nvSpPr>
        <p:spPr>
          <a:xfrm>
            <a:off x="685800" y="2103120"/>
            <a:ext cx="1417320" cy="457200"/>
          </a:xfrm>
          <a:prstGeom prst="rect">
            <a:avLst/>
          </a:prstGeom>
          <a:noFill/>
          <a:ln/>
        </p:spPr>
        <p:txBody>
          <a:bodyPr wrap="square" lIns="0" tIns="0" rIns="0" bIns="0" rtlCol="0" anchor="t"/>
          <a:lstStyle/>
          <a:p>
            <a:pPr indent="0" marL="0">
              <a:buNone/>
            </a:pPr>
            <a:r>
              <a:rPr lang="en-US" sz="1400" b="1" dirty="0">
                <a:solidFill>
                  <a:srgbClr val="2F5D8A"/>
                </a:solidFill>
                <a:latin typeface="Calibri" pitchFamily="34" charset="0"/>
                <a:ea typeface="Calibri" pitchFamily="34" charset="-122"/>
                <a:cs typeface="Calibri" pitchFamily="34" charset="-120"/>
              </a:rPr>
              <a:t>Period</a:t>
            </a:r>
            <a:endParaRPr lang="en-US" sz="1400" dirty="0"/>
          </a:p>
        </p:txBody>
      </p:sp>
      <p:sp>
        <p:nvSpPr>
          <p:cNvPr id="9" name="Text 7"/>
          <p:cNvSpPr txBox="1"/>
          <p:nvPr/>
        </p:nvSpPr>
        <p:spPr>
          <a:xfrm>
            <a:off x="2148840" y="2103120"/>
            <a:ext cx="3657600" cy="45720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February – May 2025</a:t>
            </a:r>
            <a:endParaRPr lang="en-US" sz="1400" dirty="0"/>
          </a:p>
        </p:txBody>
      </p:sp>
      <p:sp>
        <p:nvSpPr>
          <p:cNvPr id="10" name="Text 8"/>
          <p:cNvSpPr txBox="1"/>
          <p:nvPr/>
        </p:nvSpPr>
        <p:spPr>
          <a:xfrm>
            <a:off x="685800" y="2560320"/>
            <a:ext cx="1417320" cy="896112"/>
          </a:xfrm>
          <a:prstGeom prst="rect">
            <a:avLst/>
          </a:prstGeom>
          <a:noFill/>
          <a:ln/>
        </p:spPr>
        <p:txBody>
          <a:bodyPr wrap="square" lIns="0" tIns="0" rIns="0" bIns="0" rtlCol="0" anchor="t"/>
          <a:lstStyle/>
          <a:p>
            <a:pPr indent="0" marL="0">
              <a:buNone/>
            </a:pPr>
            <a:r>
              <a:rPr lang="en-US" sz="1400" b="1" dirty="0">
                <a:solidFill>
                  <a:srgbClr val="2F5D8A"/>
                </a:solidFill>
                <a:latin typeface="Calibri" pitchFamily="34" charset="0"/>
                <a:ea typeface="Calibri" pitchFamily="34" charset="-122"/>
                <a:cs typeface="Calibri" pitchFamily="34" charset="-120"/>
              </a:rPr>
              <a:t>Engineer</a:t>
            </a:r>
            <a:endParaRPr lang="en-US" sz="1400" dirty="0"/>
          </a:p>
        </p:txBody>
      </p:sp>
      <p:sp>
        <p:nvSpPr>
          <p:cNvPr id="11" name="Text 9"/>
          <p:cNvSpPr txBox="1"/>
          <p:nvPr/>
        </p:nvSpPr>
        <p:spPr>
          <a:xfrm>
            <a:off x="2148840" y="2560320"/>
            <a:ext cx="3657600" cy="896112"/>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Rohan Balram Patel, B.Tech Aerospace Engineering, Dayananda Sagar University, Bengaluru</a:t>
            </a:r>
            <a:endParaRPr lang="en-US" sz="1400" dirty="0"/>
          </a:p>
        </p:txBody>
      </p:sp>
      <p:sp>
        <p:nvSpPr>
          <p:cNvPr id="12" name="Text 10"/>
          <p:cNvSpPr txBox="1"/>
          <p:nvPr/>
        </p:nvSpPr>
        <p:spPr>
          <a:xfrm>
            <a:off x="685800" y="3456432"/>
            <a:ext cx="1417320" cy="731520"/>
          </a:xfrm>
          <a:prstGeom prst="rect">
            <a:avLst/>
          </a:prstGeom>
          <a:noFill/>
          <a:ln/>
        </p:spPr>
        <p:txBody>
          <a:bodyPr wrap="square" lIns="0" tIns="0" rIns="0" bIns="0" rtlCol="0" anchor="t"/>
          <a:lstStyle/>
          <a:p>
            <a:pPr indent="0" marL="0">
              <a:buNone/>
            </a:pPr>
            <a:r>
              <a:rPr lang="en-US" sz="1400" b="1" dirty="0">
                <a:solidFill>
                  <a:srgbClr val="2F5D8A"/>
                </a:solidFill>
                <a:latin typeface="Calibri" pitchFamily="34" charset="0"/>
                <a:ea typeface="Calibri" pitchFamily="34" charset="-122"/>
                <a:cs typeface="Calibri" pitchFamily="34" charset="-120"/>
              </a:rPr>
              <a:t>Domain</a:t>
            </a:r>
            <a:endParaRPr lang="en-US" sz="1400" dirty="0"/>
          </a:p>
        </p:txBody>
      </p:sp>
      <p:sp>
        <p:nvSpPr>
          <p:cNvPr id="13" name="Text 11"/>
          <p:cNvSpPr txBox="1"/>
          <p:nvPr/>
        </p:nvSpPr>
        <p:spPr>
          <a:xfrm>
            <a:off x="2148840" y="3456432"/>
            <a:ext cx="3657600" cy="73152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Multiphysics simulation: CFD, conjugate heat transfer, thermo-structural and stability analysis</a:t>
            </a:r>
            <a:endParaRPr lang="en-US" sz="1400" dirty="0"/>
          </a:p>
        </p:txBody>
      </p:sp>
      <p:sp>
        <p:nvSpPr>
          <p:cNvPr id="14" name="Text 12"/>
          <p:cNvSpPr txBox="1"/>
          <p:nvPr/>
        </p:nvSpPr>
        <p:spPr>
          <a:xfrm>
            <a:off x="685800" y="4187952"/>
            <a:ext cx="1417320" cy="731520"/>
          </a:xfrm>
          <a:prstGeom prst="rect">
            <a:avLst/>
          </a:prstGeom>
          <a:noFill/>
          <a:ln/>
        </p:spPr>
        <p:txBody>
          <a:bodyPr wrap="square" lIns="0" tIns="0" rIns="0" bIns="0" rtlCol="0" anchor="t"/>
          <a:lstStyle/>
          <a:p>
            <a:pPr indent="0" marL="0">
              <a:buNone/>
            </a:pPr>
            <a:r>
              <a:rPr lang="en-US" sz="1400" b="1" dirty="0">
                <a:solidFill>
                  <a:srgbClr val="2F5D8A"/>
                </a:solidFill>
                <a:latin typeface="Calibri" pitchFamily="34" charset="0"/>
                <a:ea typeface="Calibri" pitchFamily="34" charset="-122"/>
                <a:cs typeface="Calibri" pitchFamily="34" charset="-120"/>
              </a:rPr>
              <a:t>Project</a:t>
            </a:r>
            <a:endParaRPr lang="en-US" sz="1400" dirty="0"/>
          </a:p>
        </p:txBody>
      </p:sp>
      <p:sp>
        <p:nvSpPr>
          <p:cNvPr id="15" name="Text 13"/>
          <p:cNvSpPr txBox="1"/>
          <p:nvPr/>
        </p:nvSpPr>
        <p:spPr>
          <a:xfrm>
            <a:off x="2148840" y="4187952"/>
            <a:ext cx="3657600" cy="73152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Flow Behavior and Thermal Effects in Multiphysics Systems</a:t>
            </a:r>
            <a:endParaRPr lang="en-US" sz="1400" dirty="0"/>
          </a:p>
        </p:txBody>
      </p:sp>
      <p:sp>
        <p:nvSpPr>
          <p:cNvPr id="16" name="Shape 14"/>
          <p:cNvSpPr/>
          <p:nvPr/>
        </p:nvSpPr>
        <p:spPr>
          <a:xfrm>
            <a:off x="6355080" y="1463040"/>
            <a:ext cx="5376672" cy="3566160"/>
          </a:xfrm>
          <a:prstGeom prst="roundRect">
            <a:avLst>
              <a:gd name="adj" fmla="val 2051"/>
            </a:avLst>
          </a:prstGeom>
          <a:solidFill>
            <a:srgbClr val="FFFFFF"/>
          </a:solidFill>
          <a:ln w="12700">
            <a:solidFill>
              <a:srgbClr val="C9D3DE"/>
            </a:solidFill>
            <a:prstDash val="dash"/>
          </a:ln>
        </p:spPr>
      </p:sp>
      <p:sp>
        <p:nvSpPr>
          <p:cNvPr id="17" name="Text 15"/>
          <p:cNvSpPr txBox="1"/>
          <p:nvPr/>
        </p:nvSpPr>
        <p:spPr>
          <a:xfrm>
            <a:off x="6537960" y="1572768"/>
            <a:ext cx="493776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ANSYS Workbench project</a:t>
            </a:r>
            <a:endParaRPr lang="en-US" sz="1500" dirty="0"/>
          </a:p>
        </p:txBody>
      </p:sp>
      <p:sp>
        <p:nvSpPr>
          <p:cNvPr id="18" name="Shape 16"/>
          <p:cNvSpPr/>
          <p:nvPr/>
        </p:nvSpPr>
        <p:spPr>
          <a:xfrm>
            <a:off x="6583680" y="2057400"/>
            <a:ext cx="1691640" cy="658368"/>
          </a:xfrm>
          <a:prstGeom prst="roundRect">
            <a:avLst>
              <a:gd name="adj" fmla="val 11111"/>
            </a:avLst>
          </a:prstGeom>
          <a:solidFill>
            <a:srgbClr val="5C6B7A"/>
          </a:solidFill>
          <a:ln/>
        </p:spPr>
      </p:sp>
      <p:sp>
        <p:nvSpPr>
          <p:cNvPr id="19" name="Text 17"/>
          <p:cNvSpPr txBox="1"/>
          <p:nvPr/>
        </p:nvSpPr>
        <p:spPr>
          <a:xfrm>
            <a:off x="6583680" y="2057400"/>
            <a:ext cx="169164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SpaceClaim</a:t>
            </a:r>
            <a:endParaRPr lang="en-US" sz="1600" dirty="0"/>
          </a:p>
        </p:txBody>
      </p:sp>
      <p:sp>
        <p:nvSpPr>
          <p:cNvPr id="20" name="Text 18"/>
          <p:cNvSpPr txBox="1"/>
          <p:nvPr/>
        </p:nvSpPr>
        <p:spPr>
          <a:xfrm>
            <a:off x="8412480" y="2057400"/>
            <a:ext cx="3154680" cy="658368"/>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geometry: fluid + solid bodies, shared interface</a:t>
            </a:r>
            <a:endParaRPr lang="en-US" sz="1400" dirty="0"/>
          </a:p>
        </p:txBody>
      </p:sp>
      <p:sp>
        <p:nvSpPr>
          <p:cNvPr id="21" name="Shape 19"/>
          <p:cNvSpPr/>
          <p:nvPr/>
        </p:nvSpPr>
        <p:spPr>
          <a:xfrm>
            <a:off x="7269480" y="2734056"/>
            <a:ext cx="310896" cy="237744"/>
          </a:xfrm>
          <a:prstGeom prst="downArrow">
            <a:avLst/>
          </a:prstGeom>
          <a:solidFill>
            <a:srgbClr val="9AA5B1"/>
          </a:solidFill>
          <a:ln/>
        </p:spPr>
      </p:sp>
      <p:sp>
        <p:nvSpPr>
          <p:cNvPr id="22" name="Shape 20"/>
          <p:cNvSpPr/>
          <p:nvPr/>
        </p:nvSpPr>
        <p:spPr>
          <a:xfrm>
            <a:off x="6583680" y="2990088"/>
            <a:ext cx="1691640" cy="658368"/>
          </a:xfrm>
          <a:prstGeom prst="roundRect">
            <a:avLst>
              <a:gd name="adj" fmla="val 11111"/>
            </a:avLst>
          </a:prstGeom>
          <a:solidFill>
            <a:srgbClr val="2F5D8A"/>
          </a:solidFill>
          <a:ln/>
        </p:spPr>
      </p:sp>
      <p:sp>
        <p:nvSpPr>
          <p:cNvPr id="23" name="Text 21"/>
          <p:cNvSpPr txBox="1"/>
          <p:nvPr/>
        </p:nvSpPr>
        <p:spPr>
          <a:xfrm>
            <a:off x="6583680" y="2990088"/>
            <a:ext cx="169164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Fluent</a:t>
            </a:r>
            <a:endParaRPr lang="en-US" sz="1600" dirty="0"/>
          </a:p>
        </p:txBody>
      </p:sp>
      <p:sp>
        <p:nvSpPr>
          <p:cNvPr id="24" name="Text 22"/>
          <p:cNvSpPr txBox="1"/>
          <p:nvPr/>
        </p:nvSpPr>
        <p:spPr>
          <a:xfrm>
            <a:off x="8412480" y="2990088"/>
            <a:ext cx="3154680" cy="658368"/>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turbulent flow + conjugate heat transfer</a:t>
            </a:r>
            <a:endParaRPr lang="en-US" sz="1400" dirty="0"/>
          </a:p>
        </p:txBody>
      </p:sp>
      <p:sp>
        <p:nvSpPr>
          <p:cNvPr id="25" name="Shape 23"/>
          <p:cNvSpPr/>
          <p:nvPr/>
        </p:nvSpPr>
        <p:spPr>
          <a:xfrm>
            <a:off x="7269480" y="3666744"/>
            <a:ext cx="310896" cy="237744"/>
          </a:xfrm>
          <a:prstGeom prst="downArrow">
            <a:avLst/>
          </a:prstGeom>
          <a:solidFill>
            <a:srgbClr val="9AA5B1"/>
          </a:solidFill>
          <a:ln/>
        </p:spPr>
      </p:sp>
      <p:sp>
        <p:nvSpPr>
          <p:cNvPr id="26" name="Shape 24"/>
          <p:cNvSpPr/>
          <p:nvPr/>
        </p:nvSpPr>
        <p:spPr>
          <a:xfrm>
            <a:off x="6583680" y="3922776"/>
            <a:ext cx="1691640" cy="658368"/>
          </a:xfrm>
          <a:prstGeom prst="roundRect">
            <a:avLst>
              <a:gd name="adj" fmla="val 11111"/>
            </a:avLst>
          </a:prstGeom>
          <a:solidFill>
            <a:srgbClr val="D9480F"/>
          </a:solidFill>
          <a:ln/>
        </p:spPr>
      </p:sp>
      <p:sp>
        <p:nvSpPr>
          <p:cNvPr id="27" name="Text 25"/>
          <p:cNvSpPr txBox="1"/>
          <p:nvPr/>
        </p:nvSpPr>
        <p:spPr>
          <a:xfrm>
            <a:off x="6583680" y="3922776"/>
            <a:ext cx="169164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Mechanical</a:t>
            </a:r>
            <a:endParaRPr lang="en-US" sz="1600" dirty="0"/>
          </a:p>
        </p:txBody>
      </p:sp>
      <p:sp>
        <p:nvSpPr>
          <p:cNvPr id="28" name="Text 26"/>
          <p:cNvSpPr txBox="1"/>
          <p:nvPr/>
        </p:nvSpPr>
        <p:spPr>
          <a:xfrm>
            <a:off x="8412480" y="3922776"/>
            <a:ext cx="3154680" cy="658368"/>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thermal stress + linear buckling</a:t>
            </a:r>
            <a:endParaRPr lang="en-US" sz="1400" dirty="0"/>
          </a:p>
        </p:txBody>
      </p:sp>
      <p:sp>
        <p:nvSpPr>
          <p:cNvPr id="29" name="Text 27"/>
          <p:cNvSpPr txBox="1"/>
          <p:nvPr/>
        </p:nvSpPr>
        <p:spPr>
          <a:xfrm>
            <a:off x="6583680" y="4681728"/>
            <a:ext cx="4937760" cy="274320"/>
          </a:xfrm>
          <a:prstGeom prst="rect">
            <a:avLst/>
          </a:prstGeom>
          <a:noFill/>
          <a:ln/>
        </p:spPr>
        <p:txBody>
          <a:bodyPr wrap="square" lIns="0" tIns="0" rIns="0" bIns="0" rtlCol="0" anchor="ctr"/>
          <a:lstStyle/>
          <a:p>
            <a:pPr indent="0" marL="0">
              <a:buNone/>
            </a:pPr>
            <a:r>
              <a:rPr lang="en-US" sz="1200" i="1" dirty="0">
                <a:solidFill>
                  <a:srgbClr val="6B7C93"/>
                </a:solidFill>
                <a:latin typeface="Calibri" pitchFamily="34" charset="0"/>
                <a:ea typeface="Calibri" pitchFamily="34" charset="-122"/>
                <a:cs typeface="Calibri" pitchFamily="34" charset="-120"/>
              </a:rPr>
              <a:t>Temperature field: Fluent → Mechanical (one-way)</a:t>
            </a:r>
            <a:endParaRPr lang="en-US" sz="1200" dirty="0"/>
          </a:p>
        </p:txBody>
      </p:sp>
      <p:sp>
        <p:nvSpPr>
          <p:cNvPr id="30" name="Shape 28"/>
          <p:cNvSpPr/>
          <p:nvPr/>
        </p:nvSpPr>
        <p:spPr>
          <a:xfrm>
            <a:off x="457200" y="5257800"/>
            <a:ext cx="11277295" cy="960120"/>
          </a:xfrm>
          <a:prstGeom prst="roundRect">
            <a:avLst>
              <a:gd name="adj" fmla="val 7619"/>
            </a:avLst>
          </a:prstGeom>
          <a:solidFill>
            <a:srgbClr val="FFF4E6"/>
          </a:solidFill>
          <a:ln/>
        </p:spPr>
      </p:sp>
      <p:sp>
        <p:nvSpPr>
          <p:cNvPr id="31" name="Text 29"/>
          <p:cNvSpPr txBox="1"/>
          <p:nvPr/>
        </p:nvSpPr>
        <p:spPr>
          <a:xfrm>
            <a:off x="685800" y="5303520"/>
            <a:ext cx="10820095" cy="868680"/>
          </a:xfrm>
          <a:prstGeom prst="rect">
            <a:avLst/>
          </a:prstGeom>
          <a:noFill/>
          <a:ln/>
        </p:spPr>
        <p:txBody>
          <a:bodyPr wrap="square" lIns="0" tIns="0" rIns="0" bIns="0" rtlCol="0" anchor="ctr"/>
          <a:lstStyle/>
          <a:p>
            <a:pPr indent="0" marL="0">
              <a:buNone/>
            </a:pPr>
            <a:r>
              <a:rPr lang="en-US" sz="1400" b="1" dirty="0">
                <a:solidFill>
                  <a:srgbClr val="D9480F"/>
                </a:solidFill>
                <a:latin typeface="Calibri" pitchFamily="34" charset="0"/>
                <a:ea typeface="Calibri" pitchFamily="34" charset="-122"/>
                <a:cs typeface="Calibri" pitchFamily="34" charset="-120"/>
              </a:rPr>
              <a:t>Note on the analysis record.  </a:t>
            </a:r>
            <a:pPr indent="0" marL="0">
              <a:buNone/>
            </a:pPr>
            <a:r>
              <a:rPr lang="en-US" sz="1400" dirty="0">
                <a:solidFill>
                  <a:srgbClr val="243447"/>
                </a:solidFill>
                <a:latin typeface="Calibri" pitchFamily="34" charset="0"/>
                <a:ea typeface="Calibri" pitchFamily="34" charset="-122"/>
                <a:cs typeface="Calibri" pitchFamily="34" charset="-120"/>
              </a:rPr>
              <a:t>The original internship project files were not retained. The geometry, simulation set-up and numerical results presented here come from a re-analysis of the internship problem, carried out after the internship with ANSYS Workbench, Fluent and Mechanical.</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The Engineering Problem</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Air cools a heated Inconel duct — and the hot wall, if restrained, is pushed towards buckling</a:t>
            </a:r>
            <a:endParaRPr lang="en-US" sz="1600" dirty="0"/>
          </a:p>
        </p:txBody>
      </p:sp>
      <p:sp>
        <p:nvSpPr>
          <p:cNvPr id="5" name="Shape 3"/>
          <p:cNvSpPr/>
          <p:nvPr/>
        </p:nvSpPr>
        <p:spPr>
          <a:xfrm>
            <a:off x="713232" y="2011680"/>
            <a:ext cx="384048" cy="1984248"/>
          </a:xfrm>
          <a:prstGeom prst="rect">
            <a:avLst/>
          </a:prstGeom>
          <a:solidFill>
            <a:srgbClr val="D5DBE3"/>
          </a:solidFill>
          <a:ln w="12700">
            <a:solidFill>
              <a:srgbClr val="5C6B7A"/>
            </a:solidFill>
            <a:prstDash val="solid"/>
          </a:ln>
        </p:spPr>
      </p:sp>
      <p:sp>
        <p:nvSpPr>
          <p:cNvPr id="6" name="Shape 4"/>
          <p:cNvSpPr/>
          <p:nvPr/>
        </p:nvSpPr>
        <p:spPr>
          <a:xfrm>
            <a:off x="10149840" y="2011680"/>
            <a:ext cx="384048" cy="1984248"/>
          </a:xfrm>
          <a:prstGeom prst="rect">
            <a:avLst/>
          </a:prstGeom>
          <a:solidFill>
            <a:srgbClr val="D5DBE3"/>
          </a:solidFill>
          <a:ln w="12700">
            <a:solidFill>
              <a:srgbClr val="5C6B7A"/>
            </a:solidFill>
            <a:prstDash val="solid"/>
          </a:ln>
        </p:spPr>
      </p:sp>
      <p:sp>
        <p:nvSpPr>
          <p:cNvPr id="7" name="Shape 5"/>
          <p:cNvSpPr/>
          <p:nvPr/>
        </p:nvSpPr>
        <p:spPr>
          <a:xfrm>
            <a:off x="1097280" y="2103120"/>
            <a:ext cx="9052560" cy="420624"/>
          </a:xfrm>
          <a:prstGeom prst="rect">
            <a:avLst/>
          </a:prstGeom>
          <a:solidFill>
            <a:srgbClr val="A9B4C2"/>
          </a:solidFill>
          <a:ln w="12700">
            <a:solidFill>
              <a:srgbClr val="5C6B7A"/>
            </a:solidFill>
            <a:prstDash val="solid"/>
          </a:ln>
        </p:spPr>
      </p:sp>
      <p:sp>
        <p:nvSpPr>
          <p:cNvPr id="8" name="Shape 6"/>
          <p:cNvSpPr/>
          <p:nvPr/>
        </p:nvSpPr>
        <p:spPr>
          <a:xfrm>
            <a:off x="1097280" y="3483864"/>
            <a:ext cx="9052560" cy="420624"/>
          </a:xfrm>
          <a:prstGeom prst="rect">
            <a:avLst/>
          </a:prstGeom>
          <a:solidFill>
            <a:srgbClr val="A9B4C2"/>
          </a:solidFill>
          <a:ln w="12700">
            <a:solidFill>
              <a:srgbClr val="5C6B7A"/>
            </a:solidFill>
            <a:prstDash val="solid"/>
          </a:ln>
        </p:spPr>
      </p:sp>
      <p:sp>
        <p:nvSpPr>
          <p:cNvPr id="9" name="Shape 7"/>
          <p:cNvSpPr/>
          <p:nvPr/>
        </p:nvSpPr>
        <p:spPr>
          <a:xfrm>
            <a:off x="1097280" y="2523744"/>
            <a:ext cx="9052560" cy="960120"/>
          </a:xfrm>
          <a:prstGeom prst="rect">
            <a:avLst/>
          </a:prstGeom>
          <a:solidFill>
            <a:srgbClr val="DCEBF8"/>
          </a:solidFill>
          <a:ln w="9525">
            <a:solidFill>
              <a:srgbClr val="7FA8D1"/>
            </a:solidFill>
            <a:prstDash val="solid"/>
          </a:ln>
        </p:spPr>
      </p:sp>
      <p:sp>
        <p:nvSpPr>
          <p:cNvPr id="10" name="Shape 8"/>
          <p:cNvSpPr/>
          <p:nvPr/>
        </p:nvSpPr>
        <p:spPr>
          <a:xfrm>
            <a:off x="2377440" y="2875788"/>
            <a:ext cx="1188720" cy="256032"/>
          </a:xfrm>
          <a:prstGeom prst="rightArrow">
            <a:avLst/>
          </a:prstGeom>
          <a:solidFill>
            <a:srgbClr val="2F5D8A"/>
          </a:solidFill>
          <a:ln/>
        </p:spPr>
      </p:sp>
      <p:sp>
        <p:nvSpPr>
          <p:cNvPr id="11" name="Shape 9"/>
          <p:cNvSpPr/>
          <p:nvPr/>
        </p:nvSpPr>
        <p:spPr>
          <a:xfrm>
            <a:off x="5120640" y="2875788"/>
            <a:ext cx="1188720" cy="256032"/>
          </a:xfrm>
          <a:prstGeom prst="rightArrow">
            <a:avLst/>
          </a:prstGeom>
          <a:solidFill>
            <a:srgbClr val="2F5D8A"/>
          </a:solidFill>
          <a:ln/>
        </p:spPr>
      </p:sp>
      <p:sp>
        <p:nvSpPr>
          <p:cNvPr id="12" name="Shape 10"/>
          <p:cNvSpPr/>
          <p:nvPr/>
        </p:nvSpPr>
        <p:spPr>
          <a:xfrm>
            <a:off x="7863840" y="2875788"/>
            <a:ext cx="1188720" cy="256032"/>
          </a:xfrm>
          <a:prstGeom prst="rightArrow">
            <a:avLst/>
          </a:prstGeom>
          <a:solidFill>
            <a:srgbClr val="2F5D8A"/>
          </a:solidFill>
          <a:ln/>
        </p:spPr>
      </p:sp>
      <p:sp>
        <p:nvSpPr>
          <p:cNvPr id="13" name="Shape 11"/>
          <p:cNvSpPr/>
          <p:nvPr/>
        </p:nvSpPr>
        <p:spPr>
          <a:xfrm>
            <a:off x="1417320" y="1719072"/>
            <a:ext cx="182880" cy="329184"/>
          </a:xfrm>
          <a:prstGeom prst="downArrow">
            <a:avLst/>
          </a:prstGeom>
          <a:solidFill>
            <a:srgbClr val="D9480F"/>
          </a:solidFill>
          <a:ln/>
        </p:spPr>
      </p:sp>
      <p:sp>
        <p:nvSpPr>
          <p:cNvPr id="14" name="Shape 12"/>
          <p:cNvSpPr/>
          <p:nvPr/>
        </p:nvSpPr>
        <p:spPr>
          <a:xfrm>
            <a:off x="1417320" y="3959352"/>
            <a:ext cx="182880" cy="329184"/>
          </a:xfrm>
          <a:prstGeom prst="upArrow">
            <a:avLst/>
          </a:prstGeom>
          <a:solidFill>
            <a:srgbClr val="D9480F"/>
          </a:solidFill>
          <a:ln/>
        </p:spPr>
      </p:sp>
      <p:sp>
        <p:nvSpPr>
          <p:cNvPr id="15" name="Shape 13"/>
          <p:cNvSpPr/>
          <p:nvPr/>
        </p:nvSpPr>
        <p:spPr>
          <a:xfrm>
            <a:off x="2167128" y="1719072"/>
            <a:ext cx="182880" cy="329184"/>
          </a:xfrm>
          <a:prstGeom prst="downArrow">
            <a:avLst/>
          </a:prstGeom>
          <a:solidFill>
            <a:srgbClr val="D9480F"/>
          </a:solidFill>
          <a:ln/>
        </p:spPr>
      </p:sp>
      <p:sp>
        <p:nvSpPr>
          <p:cNvPr id="16" name="Shape 14"/>
          <p:cNvSpPr/>
          <p:nvPr/>
        </p:nvSpPr>
        <p:spPr>
          <a:xfrm>
            <a:off x="2167128" y="3959352"/>
            <a:ext cx="182880" cy="329184"/>
          </a:xfrm>
          <a:prstGeom prst="upArrow">
            <a:avLst/>
          </a:prstGeom>
          <a:solidFill>
            <a:srgbClr val="D9480F"/>
          </a:solidFill>
          <a:ln/>
        </p:spPr>
      </p:sp>
      <p:sp>
        <p:nvSpPr>
          <p:cNvPr id="17" name="Shape 15"/>
          <p:cNvSpPr/>
          <p:nvPr/>
        </p:nvSpPr>
        <p:spPr>
          <a:xfrm>
            <a:off x="2916936" y="1719072"/>
            <a:ext cx="182880" cy="329184"/>
          </a:xfrm>
          <a:prstGeom prst="downArrow">
            <a:avLst/>
          </a:prstGeom>
          <a:solidFill>
            <a:srgbClr val="D9480F"/>
          </a:solidFill>
          <a:ln/>
        </p:spPr>
      </p:sp>
      <p:sp>
        <p:nvSpPr>
          <p:cNvPr id="18" name="Shape 16"/>
          <p:cNvSpPr/>
          <p:nvPr/>
        </p:nvSpPr>
        <p:spPr>
          <a:xfrm>
            <a:off x="2916936" y="3959352"/>
            <a:ext cx="182880" cy="329184"/>
          </a:xfrm>
          <a:prstGeom prst="upArrow">
            <a:avLst/>
          </a:prstGeom>
          <a:solidFill>
            <a:srgbClr val="D9480F"/>
          </a:solidFill>
          <a:ln/>
        </p:spPr>
      </p:sp>
      <p:sp>
        <p:nvSpPr>
          <p:cNvPr id="19" name="Shape 17"/>
          <p:cNvSpPr/>
          <p:nvPr/>
        </p:nvSpPr>
        <p:spPr>
          <a:xfrm>
            <a:off x="3666744" y="1719072"/>
            <a:ext cx="182880" cy="329184"/>
          </a:xfrm>
          <a:prstGeom prst="downArrow">
            <a:avLst/>
          </a:prstGeom>
          <a:solidFill>
            <a:srgbClr val="D9480F"/>
          </a:solidFill>
          <a:ln/>
        </p:spPr>
      </p:sp>
      <p:sp>
        <p:nvSpPr>
          <p:cNvPr id="20" name="Shape 18"/>
          <p:cNvSpPr/>
          <p:nvPr/>
        </p:nvSpPr>
        <p:spPr>
          <a:xfrm>
            <a:off x="3666744" y="3959352"/>
            <a:ext cx="182880" cy="329184"/>
          </a:xfrm>
          <a:prstGeom prst="upArrow">
            <a:avLst/>
          </a:prstGeom>
          <a:solidFill>
            <a:srgbClr val="D9480F"/>
          </a:solidFill>
          <a:ln/>
        </p:spPr>
      </p:sp>
      <p:sp>
        <p:nvSpPr>
          <p:cNvPr id="21" name="Shape 19"/>
          <p:cNvSpPr/>
          <p:nvPr/>
        </p:nvSpPr>
        <p:spPr>
          <a:xfrm>
            <a:off x="4416552" y="1719072"/>
            <a:ext cx="182880" cy="329184"/>
          </a:xfrm>
          <a:prstGeom prst="downArrow">
            <a:avLst/>
          </a:prstGeom>
          <a:solidFill>
            <a:srgbClr val="D9480F"/>
          </a:solidFill>
          <a:ln/>
        </p:spPr>
      </p:sp>
      <p:sp>
        <p:nvSpPr>
          <p:cNvPr id="22" name="Shape 20"/>
          <p:cNvSpPr/>
          <p:nvPr/>
        </p:nvSpPr>
        <p:spPr>
          <a:xfrm>
            <a:off x="4416552" y="3959352"/>
            <a:ext cx="182880" cy="329184"/>
          </a:xfrm>
          <a:prstGeom prst="upArrow">
            <a:avLst/>
          </a:prstGeom>
          <a:solidFill>
            <a:srgbClr val="D9480F"/>
          </a:solidFill>
          <a:ln/>
        </p:spPr>
      </p:sp>
      <p:sp>
        <p:nvSpPr>
          <p:cNvPr id="23" name="Shape 21"/>
          <p:cNvSpPr/>
          <p:nvPr/>
        </p:nvSpPr>
        <p:spPr>
          <a:xfrm>
            <a:off x="5166360" y="1719072"/>
            <a:ext cx="182880" cy="329184"/>
          </a:xfrm>
          <a:prstGeom prst="downArrow">
            <a:avLst/>
          </a:prstGeom>
          <a:solidFill>
            <a:srgbClr val="D9480F"/>
          </a:solidFill>
          <a:ln/>
        </p:spPr>
      </p:sp>
      <p:sp>
        <p:nvSpPr>
          <p:cNvPr id="24" name="Shape 22"/>
          <p:cNvSpPr/>
          <p:nvPr/>
        </p:nvSpPr>
        <p:spPr>
          <a:xfrm>
            <a:off x="5166360" y="3959352"/>
            <a:ext cx="182880" cy="329184"/>
          </a:xfrm>
          <a:prstGeom prst="upArrow">
            <a:avLst/>
          </a:prstGeom>
          <a:solidFill>
            <a:srgbClr val="D9480F"/>
          </a:solidFill>
          <a:ln/>
        </p:spPr>
      </p:sp>
      <p:sp>
        <p:nvSpPr>
          <p:cNvPr id="25" name="Shape 23"/>
          <p:cNvSpPr/>
          <p:nvPr/>
        </p:nvSpPr>
        <p:spPr>
          <a:xfrm>
            <a:off x="5916168" y="1719072"/>
            <a:ext cx="182880" cy="329184"/>
          </a:xfrm>
          <a:prstGeom prst="downArrow">
            <a:avLst/>
          </a:prstGeom>
          <a:solidFill>
            <a:srgbClr val="D9480F"/>
          </a:solidFill>
          <a:ln/>
        </p:spPr>
      </p:sp>
      <p:sp>
        <p:nvSpPr>
          <p:cNvPr id="26" name="Shape 24"/>
          <p:cNvSpPr/>
          <p:nvPr/>
        </p:nvSpPr>
        <p:spPr>
          <a:xfrm>
            <a:off x="5916168" y="3959352"/>
            <a:ext cx="182880" cy="329184"/>
          </a:xfrm>
          <a:prstGeom prst="upArrow">
            <a:avLst/>
          </a:prstGeom>
          <a:solidFill>
            <a:srgbClr val="D9480F"/>
          </a:solidFill>
          <a:ln/>
        </p:spPr>
      </p:sp>
      <p:sp>
        <p:nvSpPr>
          <p:cNvPr id="27" name="Shape 25"/>
          <p:cNvSpPr/>
          <p:nvPr/>
        </p:nvSpPr>
        <p:spPr>
          <a:xfrm>
            <a:off x="6665976" y="1719072"/>
            <a:ext cx="182880" cy="329184"/>
          </a:xfrm>
          <a:prstGeom prst="downArrow">
            <a:avLst/>
          </a:prstGeom>
          <a:solidFill>
            <a:srgbClr val="D9480F"/>
          </a:solidFill>
          <a:ln/>
        </p:spPr>
      </p:sp>
      <p:sp>
        <p:nvSpPr>
          <p:cNvPr id="28" name="Shape 26"/>
          <p:cNvSpPr/>
          <p:nvPr/>
        </p:nvSpPr>
        <p:spPr>
          <a:xfrm>
            <a:off x="6665976" y="3959352"/>
            <a:ext cx="182880" cy="329184"/>
          </a:xfrm>
          <a:prstGeom prst="upArrow">
            <a:avLst/>
          </a:prstGeom>
          <a:solidFill>
            <a:srgbClr val="D9480F"/>
          </a:solidFill>
          <a:ln/>
        </p:spPr>
      </p:sp>
      <p:sp>
        <p:nvSpPr>
          <p:cNvPr id="29" name="Shape 27"/>
          <p:cNvSpPr/>
          <p:nvPr/>
        </p:nvSpPr>
        <p:spPr>
          <a:xfrm>
            <a:off x="7415784" y="1719072"/>
            <a:ext cx="182880" cy="329184"/>
          </a:xfrm>
          <a:prstGeom prst="downArrow">
            <a:avLst/>
          </a:prstGeom>
          <a:solidFill>
            <a:srgbClr val="D9480F"/>
          </a:solidFill>
          <a:ln/>
        </p:spPr>
      </p:sp>
      <p:sp>
        <p:nvSpPr>
          <p:cNvPr id="30" name="Shape 28"/>
          <p:cNvSpPr/>
          <p:nvPr/>
        </p:nvSpPr>
        <p:spPr>
          <a:xfrm>
            <a:off x="7415784" y="3959352"/>
            <a:ext cx="182880" cy="329184"/>
          </a:xfrm>
          <a:prstGeom prst="upArrow">
            <a:avLst/>
          </a:prstGeom>
          <a:solidFill>
            <a:srgbClr val="D9480F"/>
          </a:solidFill>
          <a:ln/>
        </p:spPr>
      </p:sp>
      <p:sp>
        <p:nvSpPr>
          <p:cNvPr id="31" name="Shape 29"/>
          <p:cNvSpPr/>
          <p:nvPr/>
        </p:nvSpPr>
        <p:spPr>
          <a:xfrm>
            <a:off x="8165592" y="1719072"/>
            <a:ext cx="182880" cy="329184"/>
          </a:xfrm>
          <a:prstGeom prst="downArrow">
            <a:avLst/>
          </a:prstGeom>
          <a:solidFill>
            <a:srgbClr val="D9480F"/>
          </a:solidFill>
          <a:ln/>
        </p:spPr>
      </p:sp>
      <p:sp>
        <p:nvSpPr>
          <p:cNvPr id="32" name="Shape 30"/>
          <p:cNvSpPr/>
          <p:nvPr/>
        </p:nvSpPr>
        <p:spPr>
          <a:xfrm>
            <a:off x="8165592" y="3959352"/>
            <a:ext cx="182880" cy="329184"/>
          </a:xfrm>
          <a:prstGeom prst="upArrow">
            <a:avLst/>
          </a:prstGeom>
          <a:solidFill>
            <a:srgbClr val="D9480F"/>
          </a:solidFill>
          <a:ln/>
        </p:spPr>
      </p:sp>
      <p:sp>
        <p:nvSpPr>
          <p:cNvPr id="33" name="Shape 31"/>
          <p:cNvSpPr/>
          <p:nvPr/>
        </p:nvSpPr>
        <p:spPr>
          <a:xfrm>
            <a:off x="8915400" y="1719072"/>
            <a:ext cx="182880" cy="329184"/>
          </a:xfrm>
          <a:prstGeom prst="downArrow">
            <a:avLst/>
          </a:prstGeom>
          <a:solidFill>
            <a:srgbClr val="D9480F"/>
          </a:solidFill>
          <a:ln/>
        </p:spPr>
      </p:sp>
      <p:sp>
        <p:nvSpPr>
          <p:cNvPr id="34" name="Shape 32"/>
          <p:cNvSpPr/>
          <p:nvPr/>
        </p:nvSpPr>
        <p:spPr>
          <a:xfrm>
            <a:off x="8915400" y="3959352"/>
            <a:ext cx="182880" cy="329184"/>
          </a:xfrm>
          <a:prstGeom prst="upArrow">
            <a:avLst/>
          </a:prstGeom>
          <a:solidFill>
            <a:srgbClr val="D9480F"/>
          </a:solidFill>
          <a:ln/>
        </p:spPr>
      </p:sp>
      <p:sp>
        <p:nvSpPr>
          <p:cNvPr id="35" name="Shape 33"/>
          <p:cNvSpPr/>
          <p:nvPr/>
        </p:nvSpPr>
        <p:spPr>
          <a:xfrm>
            <a:off x="9665208" y="1719072"/>
            <a:ext cx="182880" cy="329184"/>
          </a:xfrm>
          <a:prstGeom prst="downArrow">
            <a:avLst/>
          </a:prstGeom>
          <a:solidFill>
            <a:srgbClr val="D9480F"/>
          </a:solidFill>
          <a:ln/>
        </p:spPr>
      </p:sp>
      <p:sp>
        <p:nvSpPr>
          <p:cNvPr id="36" name="Shape 34"/>
          <p:cNvSpPr/>
          <p:nvPr/>
        </p:nvSpPr>
        <p:spPr>
          <a:xfrm>
            <a:off x="9665208" y="3959352"/>
            <a:ext cx="182880" cy="329184"/>
          </a:xfrm>
          <a:prstGeom prst="upArrow">
            <a:avLst/>
          </a:prstGeom>
          <a:solidFill>
            <a:srgbClr val="D9480F"/>
          </a:solidFill>
          <a:ln/>
        </p:spPr>
      </p:sp>
      <p:sp>
        <p:nvSpPr>
          <p:cNvPr id="37" name="Text 35"/>
          <p:cNvSpPr txBox="1"/>
          <p:nvPr/>
        </p:nvSpPr>
        <p:spPr>
          <a:xfrm>
            <a:off x="3200400" y="1344168"/>
            <a:ext cx="4754880" cy="292608"/>
          </a:xfrm>
          <a:prstGeom prst="rect">
            <a:avLst/>
          </a:prstGeom>
          <a:noFill/>
          <a:ln/>
        </p:spPr>
        <p:txBody>
          <a:bodyPr wrap="square" lIns="0" tIns="0" rIns="0" bIns="0" rtlCol="0" anchor="ctr"/>
          <a:lstStyle/>
          <a:p>
            <a:pPr algn="ctr" indent="0" marL="0">
              <a:buNone/>
            </a:pPr>
            <a:r>
              <a:rPr lang="en-US" sz="1400" b="1" dirty="0">
                <a:solidFill>
                  <a:srgbClr val="D9480F"/>
                </a:solidFill>
                <a:latin typeface="Calibri" pitchFamily="34" charset="0"/>
                <a:ea typeface="Calibri" pitchFamily="34" charset="-122"/>
                <a:cs typeface="Calibri" pitchFamily="34" charset="-120"/>
              </a:rPr>
              <a:t>q″ = 8000 W/m² on the outer wall</a:t>
            </a:r>
            <a:endParaRPr lang="en-US" sz="1400" dirty="0"/>
          </a:p>
        </p:txBody>
      </p:sp>
      <p:sp>
        <p:nvSpPr>
          <p:cNvPr id="38" name="Text 36"/>
          <p:cNvSpPr txBox="1"/>
          <p:nvPr/>
        </p:nvSpPr>
        <p:spPr>
          <a:xfrm>
            <a:off x="1188720" y="2596896"/>
            <a:ext cx="237744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Air in: 300 K, 23.5 m/s</a:t>
            </a:r>
            <a:endParaRPr lang="en-US" sz="1300" dirty="0"/>
          </a:p>
        </p:txBody>
      </p:sp>
      <p:sp>
        <p:nvSpPr>
          <p:cNvPr id="39" name="Text 37"/>
          <p:cNvSpPr txBox="1"/>
          <p:nvPr/>
        </p:nvSpPr>
        <p:spPr>
          <a:xfrm>
            <a:off x="7132320" y="4315968"/>
            <a:ext cx="2926080" cy="274320"/>
          </a:xfrm>
          <a:prstGeom prst="rect">
            <a:avLst/>
          </a:prstGeom>
          <a:noFill/>
          <a:ln/>
        </p:spPr>
        <p:txBody>
          <a:bodyPr wrap="square" lIns="0" tIns="0" rIns="0" bIns="0" rtlCol="0" anchor="ctr"/>
          <a:lstStyle/>
          <a:p>
            <a:pPr algn="r" indent="0" marL="0">
              <a:buNone/>
            </a:pPr>
            <a:r>
              <a:rPr lang="en-US" sz="1300" dirty="0">
                <a:solidFill>
                  <a:srgbClr val="243447"/>
                </a:solidFill>
                <a:latin typeface="Calibri" pitchFamily="34" charset="0"/>
                <a:ea typeface="Calibri" pitchFamily="34" charset="-122"/>
                <a:cs typeface="Calibri" pitchFamily="34" charset="-120"/>
              </a:rPr>
              <a:t>Inconel 718 wall, t = 10 mm</a:t>
            </a:r>
            <a:endParaRPr lang="en-US" sz="1300" dirty="0"/>
          </a:p>
        </p:txBody>
      </p:sp>
      <p:sp>
        <p:nvSpPr>
          <p:cNvPr id="40" name="Text 38"/>
          <p:cNvSpPr txBox="1"/>
          <p:nvPr/>
        </p:nvSpPr>
        <p:spPr>
          <a:xfrm>
            <a:off x="685800" y="4315968"/>
            <a:ext cx="3291840" cy="274320"/>
          </a:xfrm>
          <a:prstGeom prst="rect">
            <a:avLst/>
          </a:prstGeom>
          <a:noFill/>
          <a:ln/>
        </p:spPr>
        <p:txBody>
          <a:bodyPr wrap="square" lIns="0" tIns="0" rIns="0" bIns="0" rtlCol="0" anchor="ctr"/>
          <a:lstStyle/>
          <a:p>
            <a:pPr indent="0" marL="0">
              <a:buNone/>
            </a:pPr>
            <a:r>
              <a:rPr lang="en-US" sz="1200" i="1" dirty="0">
                <a:solidFill>
                  <a:srgbClr val="6B7C93"/>
                </a:solidFill>
                <a:latin typeface="Calibri" pitchFamily="34" charset="0"/>
                <a:ea typeface="Calibri" pitchFamily="34" charset="-122"/>
                <a:cs typeface="Calibri" pitchFamily="34" charset="-120"/>
              </a:rPr>
              <a:t>ends held axially (restrained case)</a:t>
            </a:r>
            <a:endParaRPr lang="en-US" sz="1200" dirty="0"/>
          </a:p>
        </p:txBody>
      </p:sp>
      <p:sp>
        <p:nvSpPr>
          <p:cNvPr id="41" name="Text 39"/>
          <p:cNvSpPr txBox="1"/>
          <p:nvPr/>
        </p:nvSpPr>
        <p:spPr>
          <a:xfrm>
            <a:off x="10652760" y="2468880"/>
            <a:ext cx="1097280" cy="548640"/>
          </a:xfrm>
          <a:prstGeom prst="rect">
            <a:avLst/>
          </a:prstGeom>
          <a:noFill/>
          <a:ln/>
        </p:spPr>
        <p:txBody>
          <a:bodyPr wrap="square" lIns="0" tIns="0" rIns="0" bIns="0" rtlCol="0" anchor="ctr"/>
          <a:lstStyle/>
          <a:p>
            <a:pPr indent="0" marL="0">
              <a:buNone/>
            </a:pPr>
            <a:r>
              <a:rPr lang="en-US" sz="1000" i="1" dirty="0">
                <a:solidFill>
                  <a:srgbClr val="6B7C93"/>
                </a:solidFill>
                <a:latin typeface="Calibri" pitchFamily="34" charset="0"/>
                <a:ea typeface="Calibri" pitchFamily="34" charset="-122"/>
                <a:cs typeface="Calibri" pitchFamily="34" charset="-120"/>
              </a:rPr>
              <a:t>schematic, not to scale</a:t>
            </a:r>
            <a:endParaRPr lang="en-US" sz="1000" dirty="0"/>
          </a:p>
        </p:txBody>
      </p:sp>
      <p:sp>
        <p:nvSpPr>
          <p:cNvPr id="42" name="Shape 40"/>
          <p:cNvSpPr/>
          <p:nvPr/>
        </p:nvSpPr>
        <p:spPr>
          <a:xfrm>
            <a:off x="457200" y="4754880"/>
            <a:ext cx="1434694" cy="1051560"/>
          </a:xfrm>
          <a:prstGeom prst="roundRect">
            <a:avLst>
              <a:gd name="adj" fmla="val 6957"/>
            </a:avLst>
          </a:prstGeom>
          <a:solidFill>
            <a:srgbClr val="E3EDF7"/>
          </a:solidFill>
          <a:ln/>
        </p:spPr>
      </p:sp>
      <p:sp>
        <p:nvSpPr>
          <p:cNvPr id="43" name="Shape 41"/>
          <p:cNvSpPr/>
          <p:nvPr/>
        </p:nvSpPr>
        <p:spPr>
          <a:xfrm>
            <a:off x="530352" y="4828032"/>
            <a:ext cx="329184" cy="329184"/>
          </a:xfrm>
          <a:prstGeom prst="ellipse">
            <a:avLst/>
          </a:prstGeom>
          <a:solidFill>
            <a:srgbClr val="2F5D8A"/>
          </a:solidFill>
          <a:ln/>
        </p:spPr>
      </p:sp>
      <p:sp>
        <p:nvSpPr>
          <p:cNvPr id="44" name="Text 42"/>
          <p:cNvSpPr txBox="1"/>
          <p:nvPr/>
        </p:nvSpPr>
        <p:spPr>
          <a:xfrm>
            <a:off x="530352" y="4828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5" name="Text 43"/>
          <p:cNvSpPr txBox="1"/>
          <p:nvPr/>
        </p:nvSpPr>
        <p:spPr>
          <a:xfrm>
            <a:off x="548640" y="5175504"/>
            <a:ext cx="1251814" cy="585216"/>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Internal turbulent flow</a:t>
            </a:r>
            <a:endParaRPr lang="en-US" sz="1300" dirty="0"/>
          </a:p>
        </p:txBody>
      </p:sp>
      <p:sp>
        <p:nvSpPr>
          <p:cNvPr id="46" name="Shape 44"/>
          <p:cNvSpPr/>
          <p:nvPr/>
        </p:nvSpPr>
        <p:spPr>
          <a:xfrm>
            <a:off x="2029054" y="4754880"/>
            <a:ext cx="1434694" cy="1051560"/>
          </a:xfrm>
          <a:prstGeom prst="roundRect">
            <a:avLst>
              <a:gd name="adj" fmla="val 6957"/>
            </a:avLst>
          </a:prstGeom>
          <a:solidFill>
            <a:srgbClr val="E3EDF7"/>
          </a:solidFill>
          <a:ln/>
        </p:spPr>
      </p:sp>
      <p:sp>
        <p:nvSpPr>
          <p:cNvPr id="47" name="Shape 45"/>
          <p:cNvSpPr/>
          <p:nvPr/>
        </p:nvSpPr>
        <p:spPr>
          <a:xfrm>
            <a:off x="2102206" y="4828032"/>
            <a:ext cx="329184" cy="329184"/>
          </a:xfrm>
          <a:prstGeom prst="ellipse">
            <a:avLst/>
          </a:prstGeom>
          <a:solidFill>
            <a:srgbClr val="2F5D8A"/>
          </a:solidFill>
          <a:ln/>
        </p:spPr>
      </p:sp>
      <p:sp>
        <p:nvSpPr>
          <p:cNvPr id="48" name="Text 46"/>
          <p:cNvSpPr txBox="1"/>
          <p:nvPr/>
        </p:nvSpPr>
        <p:spPr>
          <a:xfrm>
            <a:off x="2102206" y="4828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9" name="Text 47"/>
          <p:cNvSpPr txBox="1"/>
          <p:nvPr/>
        </p:nvSpPr>
        <p:spPr>
          <a:xfrm>
            <a:off x="2120494" y="5175504"/>
            <a:ext cx="1251814" cy="585216"/>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Convective heat transfer</a:t>
            </a:r>
            <a:endParaRPr lang="en-US" sz="1300" dirty="0"/>
          </a:p>
        </p:txBody>
      </p:sp>
      <p:sp>
        <p:nvSpPr>
          <p:cNvPr id="50" name="Shape 48"/>
          <p:cNvSpPr/>
          <p:nvPr/>
        </p:nvSpPr>
        <p:spPr>
          <a:xfrm>
            <a:off x="3600907" y="4754880"/>
            <a:ext cx="1434694" cy="1051560"/>
          </a:xfrm>
          <a:prstGeom prst="roundRect">
            <a:avLst>
              <a:gd name="adj" fmla="val 6957"/>
            </a:avLst>
          </a:prstGeom>
          <a:solidFill>
            <a:srgbClr val="E3EDF7"/>
          </a:solidFill>
          <a:ln/>
        </p:spPr>
      </p:sp>
      <p:sp>
        <p:nvSpPr>
          <p:cNvPr id="51" name="Shape 49"/>
          <p:cNvSpPr/>
          <p:nvPr/>
        </p:nvSpPr>
        <p:spPr>
          <a:xfrm>
            <a:off x="3674059" y="4828032"/>
            <a:ext cx="329184" cy="329184"/>
          </a:xfrm>
          <a:prstGeom prst="ellipse">
            <a:avLst/>
          </a:prstGeom>
          <a:solidFill>
            <a:srgbClr val="2F5D8A"/>
          </a:solidFill>
          <a:ln/>
        </p:spPr>
      </p:sp>
      <p:sp>
        <p:nvSpPr>
          <p:cNvPr id="52" name="Text 50"/>
          <p:cNvSpPr txBox="1"/>
          <p:nvPr/>
        </p:nvSpPr>
        <p:spPr>
          <a:xfrm>
            <a:off x="3674059" y="4828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3" name="Text 51"/>
          <p:cNvSpPr txBox="1"/>
          <p:nvPr/>
        </p:nvSpPr>
        <p:spPr>
          <a:xfrm>
            <a:off x="3692347" y="5175504"/>
            <a:ext cx="1251814" cy="585216"/>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Conduction through the wall</a:t>
            </a:r>
            <a:endParaRPr lang="en-US" sz="1300" dirty="0"/>
          </a:p>
        </p:txBody>
      </p:sp>
      <p:sp>
        <p:nvSpPr>
          <p:cNvPr id="54" name="Shape 52"/>
          <p:cNvSpPr/>
          <p:nvPr/>
        </p:nvSpPr>
        <p:spPr>
          <a:xfrm>
            <a:off x="5584241" y="4754880"/>
            <a:ext cx="1434694" cy="1051560"/>
          </a:xfrm>
          <a:prstGeom prst="roundRect">
            <a:avLst>
              <a:gd name="adj" fmla="val 6957"/>
            </a:avLst>
          </a:prstGeom>
          <a:solidFill>
            <a:srgbClr val="FCE9DF"/>
          </a:solidFill>
          <a:ln/>
        </p:spPr>
      </p:sp>
      <p:sp>
        <p:nvSpPr>
          <p:cNvPr id="55" name="Shape 53"/>
          <p:cNvSpPr/>
          <p:nvPr/>
        </p:nvSpPr>
        <p:spPr>
          <a:xfrm>
            <a:off x="5657393" y="4828032"/>
            <a:ext cx="329184" cy="329184"/>
          </a:xfrm>
          <a:prstGeom prst="ellipse">
            <a:avLst/>
          </a:prstGeom>
          <a:solidFill>
            <a:srgbClr val="D9480F"/>
          </a:solidFill>
          <a:ln/>
        </p:spPr>
      </p:sp>
      <p:sp>
        <p:nvSpPr>
          <p:cNvPr id="56" name="Text 54"/>
          <p:cNvSpPr txBox="1"/>
          <p:nvPr/>
        </p:nvSpPr>
        <p:spPr>
          <a:xfrm>
            <a:off x="5657393" y="4828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7" name="Text 55"/>
          <p:cNvSpPr txBox="1"/>
          <p:nvPr/>
        </p:nvSpPr>
        <p:spPr>
          <a:xfrm>
            <a:off x="5675681" y="5175504"/>
            <a:ext cx="1251814" cy="585216"/>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Thermal expansion</a:t>
            </a:r>
            <a:endParaRPr lang="en-US" sz="1300" dirty="0"/>
          </a:p>
        </p:txBody>
      </p:sp>
      <p:sp>
        <p:nvSpPr>
          <p:cNvPr id="58" name="Shape 56"/>
          <p:cNvSpPr/>
          <p:nvPr/>
        </p:nvSpPr>
        <p:spPr>
          <a:xfrm>
            <a:off x="7156094" y="4754880"/>
            <a:ext cx="1434694" cy="1051560"/>
          </a:xfrm>
          <a:prstGeom prst="roundRect">
            <a:avLst>
              <a:gd name="adj" fmla="val 6957"/>
            </a:avLst>
          </a:prstGeom>
          <a:solidFill>
            <a:srgbClr val="FCE9DF"/>
          </a:solidFill>
          <a:ln/>
        </p:spPr>
      </p:sp>
      <p:sp>
        <p:nvSpPr>
          <p:cNvPr id="59" name="Shape 57"/>
          <p:cNvSpPr/>
          <p:nvPr/>
        </p:nvSpPr>
        <p:spPr>
          <a:xfrm>
            <a:off x="7229246" y="4828032"/>
            <a:ext cx="329184" cy="329184"/>
          </a:xfrm>
          <a:prstGeom prst="ellipse">
            <a:avLst/>
          </a:prstGeom>
          <a:solidFill>
            <a:srgbClr val="D9480F"/>
          </a:solidFill>
          <a:ln/>
        </p:spPr>
      </p:sp>
      <p:sp>
        <p:nvSpPr>
          <p:cNvPr id="60" name="Text 58"/>
          <p:cNvSpPr txBox="1"/>
          <p:nvPr/>
        </p:nvSpPr>
        <p:spPr>
          <a:xfrm>
            <a:off x="7229246" y="4828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1" name="Text 59"/>
          <p:cNvSpPr txBox="1"/>
          <p:nvPr/>
        </p:nvSpPr>
        <p:spPr>
          <a:xfrm>
            <a:off x="7247534" y="5175504"/>
            <a:ext cx="1251814" cy="585216"/>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Thermal stress</a:t>
            </a:r>
            <a:endParaRPr lang="en-US" sz="1300" dirty="0"/>
          </a:p>
        </p:txBody>
      </p:sp>
      <p:sp>
        <p:nvSpPr>
          <p:cNvPr id="62" name="Shape 60"/>
          <p:cNvSpPr/>
          <p:nvPr/>
        </p:nvSpPr>
        <p:spPr>
          <a:xfrm>
            <a:off x="8727948" y="4754880"/>
            <a:ext cx="1434694" cy="1051560"/>
          </a:xfrm>
          <a:prstGeom prst="roundRect">
            <a:avLst>
              <a:gd name="adj" fmla="val 6957"/>
            </a:avLst>
          </a:prstGeom>
          <a:solidFill>
            <a:srgbClr val="FCE9DF"/>
          </a:solidFill>
          <a:ln/>
        </p:spPr>
      </p:sp>
      <p:sp>
        <p:nvSpPr>
          <p:cNvPr id="63" name="Shape 61"/>
          <p:cNvSpPr/>
          <p:nvPr/>
        </p:nvSpPr>
        <p:spPr>
          <a:xfrm>
            <a:off x="8801100" y="4828032"/>
            <a:ext cx="329184" cy="329184"/>
          </a:xfrm>
          <a:prstGeom prst="ellipse">
            <a:avLst/>
          </a:prstGeom>
          <a:solidFill>
            <a:srgbClr val="D9480F"/>
          </a:solidFill>
          <a:ln/>
        </p:spPr>
      </p:sp>
      <p:sp>
        <p:nvSpPr>
          <p:cNvPr id="64" name="Text 62"/>
          <p:cNvSpPr txBox="1"/>
          <p:nvPr/>
        </p:nvSpPr>
        <p:spPr>
          <a:xfrm>
            <a:off x="8801100" y="4828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5" name="Text 63"/>
          <p:cNvSpPr txBox="1"/>
          <p:nvPr/>
        </p:nvSpPr>
        <p:spPr>
          <a:xfrm>
            <a:off x="8819388" y="5175504"/>
            <a:ext cx="1251814" cy="585216"/>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Axial compression under restraint</a:t>
            </a:r>
            <a:endParaRPr lang="en-US" sz="1300" dirty="0"/>
          </a:p>
        </p:txBody>
      </p:sp>
      <p:sp>
        <p:nvSpPr>
          <p:cNvPr id="66" name="Shape 64"/>
          <p:cNvSpPr/>
          <p:nvPr/>
        </p:nvSpPr>
        <p:spPr>
          <a:xfrm>
            <a:off x="10299802" y="4754880"/>
            <a:ext cx="1434694" cy="1051560"/>
          </a:xfrm>
          <a:prstGeom prst="roundRect">
            <a:avLst>
              <a:gd name="adj" fmla="val 6957"/>
            </a:avLst>
          </a:prstGeom>
          <a:solidFill>
            <a:srgbClr val="FCE9DF"/>
          </a:solidFill>
          <a:ln/>
        </p:spPr>
      </p:sp>
      <p:sp>
        <p:nvSpPr>
          <p:cNvPr id="67" name="Shape 65"/>
          <p:cNvSpPr/>
          <p:nvPr/>
        </p:nvSpPr>
        <p:spPr>
          <a:xfrm>
            <a:off x="10372954" y="4828032"/>
            <a:ext cx="329184" cy="329184"/>
          </a:xfrm>
          <a:prstGeom prst="ellipse">
            <a:avLst/>
          </a:prstGeom>
          <a:solidFill>
            <a:srgbClr val="D9480F"/>
          </a:solidFill>
          <a:ln/>
        </p:spPr>
      </p:sp>
      <p:sp>
        <p:nvSpPr>
          <p:cNvPr id="68" name="Text 66"/>
          <p:cNvSpPr txBox="1"/>
          <p:nvPr/>
        </p:nvSpPr>
        <p:spPr>
          <a:xfrm>
            <a:off x="10372954" y="4828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69" name="Text 67"/>
          <p:cNvSpPr txBox="1"/>
          <p:nvPr/>
        </p:nvSpPr>
        <p:spPr>
          <a:xfrm>
            <a:off x="10391242" y="5175504"/>
            <a:ext cx="1251814" cy="585216"/>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Possible buckling</a:t>
            </a:r>
            <a:endParaRPr lang="en-US" sz="1300" dirty="0"/>
          </a:p>
        </p:txBody>
      </p:sp>
      <p:sp>
        <p:nvSpPr>
          <p:cNvPr id="70" name="Shape 68"/>
          <p:cNvSpPr/>
          <p:nvPr/>
        </p:nvSpPr>
        <p:spPr>
          <a:xfrm>
            <a:off x="5108753" y="5157216"/>
            <a:ext cx="402336" cy="256032"/>
          </a:xfrm>
          <a:prstGeom prst="rightArrow">
            <a:avLst/>
          </a:prstGeom>
          <a:solidFill>
            <a:srgbClr val="9AA5B1"/>
          </a:solidFill>
          <a:ln/>
        </p:spPr>
      </p:sp>
      <p:sp>
        <p:nvSpPr>
          <p:cNvPr id="71" name="Text 69"/>
          <p:cNvSpPr txBox="1"/>
          <p:nvPr/>
        </p:nvSpPr>
        <p:spPr>
          <a:xfrm>
            <a:off x="457200" y="5870448"/>
            <a:ext cx="4578401" cy="292608"/>
          </a:xfrm>
          <a:prstGeom prst="rect">
            <a:avLst/>
          </a:prstGeom>
          <a:noFill/>
          <a:ln/>
        </p:spPr>
        <p:txBody>
          <a:bodyPr wrap="square" lIns="0" tIns="0" rIns="0" bIns="0" rtlCol="0" anchor="ctr"/>
          <a:lstStyle/>
          <a:p>
            <a:pPr algn="ctr" indent="0" marL="0">
              <a:buNone/>
            </a:pPr>
            <a:r>
              <a:rPr lang="en-US" sz="1300" b="1" dirty="0">
                <a:solidFill>
                  <a:srgbClr val="2F5D8A"/>
                </a:solidFill>
                <a:latin typeface="Calibri" pitchFamily="34" charset="0"/>
                <a:ea typeface="Calibri" pitchFamily="34" charset="-122"/>
                <a:cs typeface="Calibri" pitchFamily="34" charset="-120"/>
              </a:rPr>
              <a:t>Fluent — CFD + conjugate heat transfer</a:t>
            </a:r>
            <a:endParaRPr lang="en-US" sz="1300" dirty="0"/>
          </a:p>
        </p:txBody>
      </p:sp>
      <p:sp>
        <p:nvSpPr>
          <p:cNvPr id="72" name="Text 70"/>
          <p:cNvSpPr txBox="1"/>
          <p:nvPr/>
        </p:nvSpPr>
        <p:spPr>
          <a:xfrm>
            <a:off x="5584241" y="5870448"/>
            <a:ext cx="6150254" cy="292608"/>
          </a:xfrm>
          <a:prstGeom prst="rect">
            <a:avLst/>
          </a:prstGeom>
          <a:noFill/>
          <a:ln/>
        </p:spPr>
        <p:txBody>
          <a:bodyPr wrap="square" lIns="0" tIns="0" rIns="0" bIns="0" rtlCol="0" anchor="ctr"/>
          <a:lstStyle/>
          <a:p>
            <a:pPr algn="ctr" indent="0" marL="0">
              <a:buNone/>
            </a:pPr>
            <a:r>
              <a:rPr lang="en-US" sz="1300" b="1" dirty="0">
                <a:solidFill>
                  <a:srgbClr val="D9480F"/>
                </a:solidFill>
                <a:latin typeface="Calibri" pitchFamily="34" charset="0"/>
                <a:ea typeface="Calibri" pitchFamily="34" charset="-122"/>
                <a:cs typeface="Calibri" pitchFamily="34" charset="-120"/>
              </a:rPr>
              <a:t>Mechanical — static stress + linear buckling</a:t>
            </a:r>
            <a:endParaRPr lang="en-US" sz="1300" dirty="0"/>
          </a:p>
        </p:txBody>
      </p:sp>
      <p:sp>
        <p:nvSpPr>
          <p:cNvPr id="73" name="Text 71"/>
          <p:cNvSpPr txBox="1"/>
          <p:nvPr/>
        </p:nvSpPr>
        <p:spPr>
          <a:xfrm>
            <a:off x="4212641" y="4425696"/>
            <a:ext cx="2194560" cy="274320"/>
          </a:xfrm>
          <a:prstGeom prst="rect">
            <a:avLst/>
          </a:prstGeom>
          <a:noFill/>
          <a:ln/>
        </p:spPr>
        <p:txBody>
          <a:bodyPr wrap="square" lIns="0" tIns="0" rIns="0" bIns="0" rtlCol="0" anchor="ctr"/>
          <a:lstStyle/>
          <a:p>
            <a:pPr algn="ctr" indent="0" marL="0">
              <a:buNone/>
            </a:pPr>
            <a:r>
              <a:rPr lang="en-US" sz="1100" i="1" dirty="0">
                <a:solidFill>
                  <a:srgbClr val="6B7C93"/>
                </a:solidFill>
                <a:latin typeface="Calibri" pitchFamily="34" charset="0"/>
                <a:ea typeface="Calibri" pitchFamily="34" charset="-122"/>
                <a:cs typeface="Calibri" pitchFamily="34" charset="-120"/>
              </a:rPr>
              <a:t>one-way temperature transfer</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Objectives</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Six questions, in the order the simulation chain answers them</a:t>
            </a:r>
            <a:endParaRPr lang="en-US" sz="1600" dirty="0"/>
          </a:p>
        </p:txBody>
      </p:sp>
      <p:sp>
        <p:nvSpPr>
          <p:cNvPr id="5" name="Shape 3"/>
          <p:cNvSpPr/>
          <p:nvPr/>
        </p:nvSpPr>
        <p:spPr>
          <a:xfrm>
            <a:off x="457200" y="1508760"/>
            <a:ext cx="5440680" cy="1325880"/>
          </a:xfrm>
          <a:prstGeom prst="roundRect">
            <a:avLst>
              <a:gd name="adj" fmla="val 5517"/>
            </a:avLst>
          </a:prstGeom>
          <a:solidFill>
            <a:srgbClr val="EEF3F8"/>
          </a:solidFill>
          <a:ln/>
        </p:spPr>
      </p:sp>
      <p:sp>
        <p:nvSpPr>
          <p:cNvPr id="6" name="Shape 4"/>
          <p:cNvSpPr/>
          <p:nvPr/>
        </p:nvSpPr>
        <p:spPr>
          <a:xfrm>
            <a:off x="685800" y="1783080"/>
            <a:ext cx="566928" cy="566928"/>
          </a:xfrm>
          <a:prstGeom prst="ellipse">
            <a:avLst/>
          </a:prstGeom>
          <a:solidFill>
            <a:srgbClr val="2F5D8A"/>
          </a:solidFill>
          <a:ln/>
        </p:spPr>
      </p:sp>
      <p:sp>
        <p:nvSpPr>
          <p:cNvPr id="7" name="Text 5"/>
          <p:cNvSpPr txBox="1"/>
          <p:nvPr/>
        </p:nvSpPr>
        <p:spPr>
          <a:xfrm>
            <a:off x="685800" y="17830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1463040" y="1673352"/>
            <a:ext cx="4251960" cy="4114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Characterise the flow</a:t>
            </a:r>
            <a:endParaRPr lang="en-US" sz="1700" dirty="0"/>
          </a:p>
        </p:txBody>
      </p:sp>
      <p:sp>
        <p:nvSpPr>
          <p:cNvPr id="9" name="Text 7"/>
          <p:cNvSpPr txBox="1"/>
          <p:nvPr/>
        </p:nvSpPr>
        <p:spPr>
          <a:xfrm>
            <a:off x="1463040" y="2103120"/>
            <a:ext cx="4251960" cy="64008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Pressure drop, velocity development and wall resolution of turbulent air in the heated duct</a:t>
            </a:r>
            <a:endParaRPr lang="en-US" sz="1400" dirty="0"/>
          </a:p>
        </p:txBody>
      </p:sp>
      <p:sp>
        <p:nvSpPr>
          <p:cNvPr id="10" name="Shape 8"/>
          <p:cNvSpPr/>
          <p:nvPr/>
        </p:nvSpPr>
        <p:spPr>
          <a:xfrm>
            <a:off x="6263640" y="1508760"/>
            <a:ext cx="5440680" cy="1325880"/>
          </a:xfrm>
          <a:prstGeom prst="roundRect">
            <a:avLst>
              <a:gd name="adj" fmla="val 5517"/>
            </a:avLst>
          </a:prstGeom>
          <a:solidFill>
            <a:srgbClr val="EEF3F8"/>
          </a:solidFill>
          <a:ln/>
        </p:spPr>
      </p:sp>
      <p:sp>
        <p:nvSpPr>
          <p:cNvPr id="11" name="Shape 9"/>
          <p:cNvSpPr/>
          <p:nvPr/>
        </p:nvSpPr>
        <p:spPr>
          <a:xfrm>
            <a:off x="6492240" y="1783080"/>
            <a:ext cx="566928" cy="566928"/>
          </a:xfrm>
          <a:prstGeom prst="ellipse">
            <a:avLst/>
          </a:prstGeom>
          <a:solidFill>
            <a:srgbClr val="2F5D8A"/>
          </a:solidFill>
          <a:ln/>
        </p:spPr>
      </p:sp>
      <p:sp>
        <p:nvSpPr>
          <p:cNvPr id="12" name="Text 10"/>
          <p:cNvSpPr txBox="1"/>
          <p:nvPr/>
        </p:nvSpPr>
        <p:spPr>
          <a:xfrm>
            <a:off x="6492240" y="17830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7269480" y="1673352"/>
            <a:ext cx="4251960" cy="4114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Determine the thermal response</a:t>
            </a:r>
            <a:endParaRPr lang="en-US" sz="1700" dirty="0"/>
          </a:p>
        </p:txBody>
      </p:sp>
      <p:sp>
        <p:nvSpPr>
          <p:cNvPr id="14" name="Text 12"/>
          <p:cNvSpPr txBox="1"/>
          <p:nvPr/>
        </p:nvSpPr>
        <p:spPr>
          <a:xfrm>
            <a:off x="7269480" y="2103120"/>
            <a:ext cx="4251960" cy="64008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Conjugate heat transfer: how hot the Inconel wall gets, and where</a:t>
            </a:r>
            <a:endParaRPr lang="en-US" sz="1400" dirty="0"/>
          </a:p>
        </p:txBody>
      </p:sp>
      <p:sp>
        <p:nvSpPr>
          <p:cNvPr id="15" name="Shape 13"/>
          <p:cNvSpPr/>
          <p:nvPr/>
        </p:nvSpPr>
        <p:spPr>
          <a:xfrm>
            <a:off x="457200" y="3063240"/>
            <a:ext cx="5440680" cy="1325880"/>
          </a:xfrm>
          <a:prstGeom prst="roundRect">
            <a:avLst>
              <a:gd name="adj" fmla="val 5517"/>
            </a:avLst>
          </a:prstGeom>
          <a:solidFill>
            <a:srgbClr val="EEF3F8"/>
          </a:solidFill>
          <a:ln/>
        </p:spPr>
      </p:sp>
      <p:sp>
        <p:nvSpPr>
          <p:cNvPr id="16" name="Shape 14"/>
          <p:cNvSpPr/>
          <p:nvPr/>
        </p:nvSpPr>
        <p:spPr>
          <a:xfrm>
            <a:off x="685800" y="3337560"/>
            <a:ext cx="566928" cy="566928"/>
          </a:xfrm>
          <a:prstGeom prst="ellipse">
            <a:avLst/>
          </a:prstGeom>
          <a:solidFill>
            <a:srgbClr val="2F5D8A"/>
          </a:solidFill>
          <a:ln/>
        </p:spPr>
      </p:sp>
      <p:sp>
        <p:nvSpPr>
          <p:cNvPr id="17" name="Text 15"/>
          <p:cNvSpPr txBox="1"/>
          <p:nvPr/>
        </p:nvSpPr>
        <p:spPr>
          <a:xfrm>
            <a:off x="685800" y="33375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1463040" y="3227832"/>
            <a:ext cx="4251960" cy="4114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Verify the CFD against analytical estimates</a:t>
            </a:r>
            <a:endParaRPr lang="en-US" sz="1700" dirty="0"/>
          </a:p>
        </p:txBody>
      </p:sp>
      <p:sp>
        <p:nvSpPr>
          <p:cNvPr id="19" name="Text 17"/>
          <p:cNvSpPr txBox="1"/>
          <p:nvPr/>
        </p:nvSpPr>
        <p:spPr>
          <a:xfrm>
            <a:off x="1463040" y="3657600"/>
            <a:ext cx="4251960" cy="64008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Independent correlation-based baseline, built before any mesh; mass and energy conservation</a:t>
            </a:r>
            <a:endParaRPr lang="en-US" sz="1400" dirty="0"/>
          </a:p>
        </p:txBody>
      </p:sp>
      <p:sp>
        <p:nvSpPr>
          <p:cNvPr id="20" name="Shape 18"/>
          <p:cNvSpPr/>
          <p:nvPr/>
        </p:nvSpPr>
        <p:spPr>
          <a:xfrm>
            <a:off x="6263640" y="3063240"/>
            <a:ext cx="5440680" cy="1325880"/>
          </a:xfrm>
          <a:prstGeom prst="roundRect">
            <a:avLst>
              <a:gd name="adj" fmla="val 5517"/>
            </a:avLst>
          </a:prstGeom>
          <a:solidFill>
            <a:srgbClr val="EEF3F8"/>
          </a:solidFill>
          <a:ln/>
        </p:spPr>
      </p:sp>
      <p:sp>
        <p:nvSpPr>
          <p:cNvPr id="21" name="Shape 19"/>
          <p:cNvSpPr/>
          <p:nvPr/>
        </p:nvSpPr>
        <p:spPr>
          <a:xfrm>
            <a:off x="6492240" y="3337560"/>
            <a:ext cx="566928" cy="566928"/>
          </a:xfrm>
          <a:prstGeom prst="ellipse">
            <a:avLst/>
          </a:prstGeom>
          <a:solidFill>
            <a:srgbClr val="2F5D8A"/>
          </a:solidFill>
          <a:ln/>
        </p:spPr>
      </p:sp>
      <p:sp>
        <p:nvSpPr>
          <p:cNvPr id="22" name="Text 20"/>
          <p:cNvSpPr txBox="1"/>
          <p:nvPr/>
        </p:nvSpPr>
        <p:spPr>
          <a:xfrm>
            <a:off x="6492240" y="33375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1"/>
          <p:cNvSpPr txBox="1"/>
          <p:nvPr/>
        </p:nvSpPr>
        <p:spPr>
          <a:xfrm>
            <a:off x="7269480" y="3227832"/>
            <a:ext cx="4251960" cy="4114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Establish mesh sensitivity</a:t>
            </a:r>
            <a:endParaRPr lang="en-US" sz="1700" dirty="0"/>
          </a:p>
        </p:txBody>
      </p:sp>
      <p:sp>
        <p:nvSpPr>
          <p:cNvPr id="24" name="Text 22"/>
          <p:cNvSpPr txBox="1"/>
          <p:nvPr/>
        </p:nvSpPr>
        <p:spPr>
          <a:xfrm>
            <a:off x="7269480" y="3657600"/>
            <a:ext cx="4251960" cy="64008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Three CFD meshes with Richardson extrapolation; seven structural meshes</a:t>
            </a:r>
            <a:endParaRPr lang="en-US" sz="1400" dirty="0"/>
          </a:p>
        </p:txBody>
      </p:sp>
      <p:sp>
        <p:nvSpPr>
          <p:cNvPr id="25" name="Shape 23"/>
          <p:cNvSpPr/>
          <p:nvPr/>
        </p:nvSpPr>
        <p:spPr>
          <a:xfrm>
            <a:off x="457200" y="4617720"/>
            <a:ext cx="5440680" cy="1325880"/>
          </a:xfrm>
          <a:prstGeom prst="roundRect">
            <a:avLst>
              <a:gd name="adj" fmla="val 5517"/>
            </a:avLst>
          </a:prstGeom>
          <a:solidFill>
            <a:srgbClr val="EEF3F8"/>
          </a:solidFill>
          <a:ln/>
        </p:spPr>
      </p:sp>
      <p:sp>
        <p:nvSpPr>
          <p:cNvPr id="26" name="Shape 24"/>
          <p:cNvSpPr/>
          <p:nvPr/>
        </p:nvSpPr>
        <p:spPr>
          <a:xfrm>
            <a:off x="685800" y="4892040"/>
            <a:ext cx="566928" cy="566928"/>
          </a:xfrm>
          <a:prstGeom prst="ellipse">
            <a:avLst/>
          </a:prstGeom>
          <a:solidFill>
            <a:srgbClr val="D9480F"/>
          </a:solidFill>
          <a:ln/>
        </p:spPr>
      </p:sp>
      <p:sp>
        <p:nvSpPr>
          <p:cNvPr id="27" name="Text 25"/>
          <p:cNvSpPr txBox="1"/>
          <p:nvPr/>
        </p:nvSpPr>
        <p:spPr>
          <a:xfrm>
            <a:off x="685800" y="4892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8" name="Text 26"/>
          <p:cNvSpPr txBox="1"/>
          <p:nvPr/>
        </p:nvSpPr>
        <p:spPr>
          <a:xfrm>
            <a:off x="1463040" y="4782312"/>
            <a:ext cx="4251960" cy="4114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Evaluate the thermo-structural response</a:t>
            </a:r>
            <a:endParaRPr lang="en-US" sz="1700" dirty="0"/>
          </a:p>
        </p:txBody>
      </p:sp>
      <p:sp>
        <p:nvSpPr>
          <p:cNvPr id="29" name="Text 27"/>
          <p:cNvSpPr txBox="1"/>
          <p:nvPr/>
        </p:nvSpPr>
        <p:spPr>
          <a:xfrm>
            <a:off x="1463040" y="5212080"/>
            <a:ext cx="4251960" cy="64008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Free thermal expansion (LC1) versus axially restrained expansion (LC2)</a:t>
            </a:r>
            <a:endParaRPr lang="en-US" sz="1400" dirty="0"/>
          </a:p>
        </p:txBody>
      </p:sp>
      <p:sp>
        <p:nvSpPr>
          <p:cNvPr id="30" name="Shape 28"/>
          <p:cNvSpPr/>
          <p:nvPr/>
        </p:nvSpPr>
        <p:spPr>
          <a:xfrm>
            <a:off x="6263640" y="4617720"/>
            <a:ext cx="5440680" cy="1325880"/>
          </a:xfrm>
          <a:prstGeom prst="roundRect">
            <a:avLst>
              <a:gd name="adj" fmla="val 5517"/>
            </a:avLst>
          </a:prstGeom>
          <a:solidFill>
            <a:srgbClr val="EEF3F8"/>
          </a:solidFill>
          <a:ln/>
        </p:spPr>
      </p:sp>
      <p:sp>
        <p:nvSpPr>
          <p:cNvPr id="31" name="Shape 29"/>
          <p:cNvSpPr/>
          <p:nvPr/>
        </p:nvSpPr>
        <p:spPr>
          <a:xfrm>
            <a:off x="6492240" y="4892040"/>
            <a:ext cx="566928" cy="566928"/>
          </a:xfrm>
          <a:prstGeom prst="ellipse">
            <a:avLst/>
          </a:prstGeom>
          <a:solidFill>
            <a:srgbClr val="D9480F"/>
          </a:solidFill>
          <a:ln/>
        </p:spPr>
      </p:sp>
      <p:sp>
        <p:nvSpPr>
          <p:cNvPr id="32" name="Text 30"/>
          <p:cNvSpPr txBox="1"/>
          <p:nvPr/>
        </p:nvSpPr>
        <p:spPr>
          <a:xfrm>
            <a:off x="6492240" y="4892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3" name="Text 31"/>
          <p:cNvSpPr txBox="1"/>
          <p:nvPr/>
        </p:nvSpPr>
        <p:spPr>
          <a:xfrm>
            <a:off x="7269480" y="4782312"/>
            <a:ext cx="4251960" cy="4114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Investigate stability and parameter effects</a:t>
            </a:r>
            <a:endParaRPr lang="en-US" sz="1700" dirty="0"/>
          </a:p>
        </p:txBody>
      </p:sp>
      <p:sp>
        <p:nvSpPr>
          <p:cNvPr id="34" name="Text 32"/>
          <p:cNvSpPr txBox="1"/>
          <p:nvPr/>
        </p:nvSpPr>
        <p:spPr>
          <a:xfrm>
            <a:off x="7269480" y="5212080"/>
            <a:ext cx="4251960" cy="640080"/>
          </a:xfrm>
          <a:prstGeom prst="rect">
            <a:avLst/>
          </a:prstGeom>
          <a:noFill/>
          <a:ln/>
        </p:spPr>
        <p:txBody>
          <a:bodyPr wrap="square" lIns="0" tIns="0" rIns="0" bIns="0" rtlCol="0" anchor="t"/>
          <a:lstStyle/>
          <a:p>
            <a:pPr indent="0" marL="0">
              <a:buNone/>
            </a:pPr>
            <a:r>
              <a:rPr lang="en-US" sz="1400" dirty="0">
                <a:solidFill>
                  <a:srgbClr val="243447"/>
                </a:solidFill>
                <a:latin typeface="Calibri" pitchFamily="34" charset="0"/>
                <a:ea typeface="Calibri" pitchFamily="34" charset="-122"/>
                <a:cs typeface="Calibri" pitchFamily="34" charset="-120"/>
              </a:rPr>
              <a:t>Linear buckling, end-support sensitivity, and a velocity / heat-flux / thickness study</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Geometry and Baseline</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Two bodies — air passage and Inconel 718 wall — sharing one conformal cylindrical interface</a:t>
            </a:r>
            <a:endParaRPr lang="en-US" sz="1600" dirty="0"/>
          </a:p>
        </p:txBody>
      </p:sp>
      <p:pic>
        <p:nvPicPr>
          <p:cNvPr id="5" name="Image 0" descr="/mnt/attach/outputs/S10C1/14_Presentation/Figures/drawing_longitudinal.png">    </p:cNvPr>
          <p:cNvPicPr>
            <a:picLocks noChangeAspect="1"/>
          </p:cNvPicPr>
          <p:nvPr/>
        </p:nvPicPr>
        <p:blipFill>
          <a:blip r:embed="rId1"/>
          <a:stretch>
            <a:fillRect/>
          </a:stretch>
        </p:blipFill>
        <p:spPr>
          <a:xfrm>
            <a:off x="457200" y="1508760"/>
            <a:ext cx="7406640" cy="2455535"/>
          </a:xfrm>
          <a:prstGeom prst="rect">
            <a:avLst/>
          </a:prstGeom>
        </p:spPr>
      </p:pic>
      <p:sp>
        <p:nvSpPr>
          <p:cNvPr id="6" name="Text 3"/>
          <p:cNvSpPr txBox="1"/>
          <p:nvPr/>
        </p:nvSpPr>
        <p:spPr>
          <a:xfrm>
            <a:off x="457200" y="4010015"/>
            <a:ext cx="7406640" cy="274320"/>
          </a:xfrm>
          <a:prstGeom prst="rect">
            <a:avLst/>
          </a:prstGeom>
          <a:noFill/>
          <a:ln/>
        </p:spPr>
        <p:txBody>
          <a:bodyPr wrap="square" lIns="0" tIns="0" rIns="0" bIns="0" rtlCol="0" anchor="t"/>
          <a:lstStyle/>
          <a:p>
            <a:pPr algn="l" indent="0" marL="0">
              <a:buNone/>
            </a:pPr>
            <a:r>
              <a:rPr lang="en-US" sz="1100" i="1" dirty="0">
                <a:solidFill>
                  <a:srgbClr val="6B7C93"/>
                </a:solidFill>
                <a:latin typeface="Calibri" pitchFamily="34" charset="0"/>
                <a:ea typeface="Calibri" pitchFamily="34" charset="-122"/>
                <a:cs typeface="Calibri" pitchFamily="34" charset="-120"/>
              </a:rPr>
              <a:t>Section 3 engineering drawing, longitudinal section (dimensions in mm; conventional break)</a:t>
            </a:r>
            <a:endParaRPr lang="en-US" sz="1100" dirty="0"/>
          </a:p>
        </p:txBody>
      </p:sp>
      <p:sp>
        <p:nvSpPr>
          <p:cNvPr id="7" name="Shape 4"/>
          <p:cNvSpPr/>
          <p:nvPr/>
        </p:nvSpPr>
        <p:spPr>
          <a:xfrm>
            <a:off x="457200" y="4681728"/>
            <a:ext cx="292608" cy="219456"/>
          </a:xfrm>
          <a:prstGeom prst="rect">
            <a:avLst/>
          </a:prstGeom>
          <a:solidFill>
            <a:srgbClr val="DCEBF8"/>
          </a:solidFill>
          <a:ln w="19050">
            <a:solidFill>
              <a:srgbClr val="7FA8D1"/>
            </a:solidFill>
            <a:prstDash val="solid"/>
          </a:ln>
        </p:spPr>
      </p:sp>
      <p:sp>
        <p:nvSpPr>
          <p:cNvPr id="8" name="Text 5"/>
          <p:cNvSpPr txBox="1"/>
          <p:nvPr/>
        </p:nvSpPr>
        <p:spPr>
          <a:xfrm>
            <a:off x="868680" y="4617720"/>
            <a:ext cx="3291840" cy="365760"/>
          </a:xfrm>
          <a:prstGeom prst="rect">
            <a:avLst/>
          </a:prstGeom>
          <a:noFill/>
          <a:ln/>
        </p:spPr>
        <p:txBody>
          <a:bodyPr wrap="square" lIns="0" tIns="0" rIns="0" bIns="0" rtlCol="0" anchor="ctr"/>
          <a:lstStyle/>
          <a:p>
            <a:pPr indent="0" marL="0">
              <a:buNone/>
            </a:pPr>
            <a:r>
              <a:rPr lang="en-US" sz="1300" dirty="0">
                <a:solidFill>
                  <a:srgbClr val="243447"/>
                </a:solidFill>
                <a:latin typeface="Calibri" pitchFamily="34" charset="0"/>
                <a:ea typeface="Calibri" pitchFamily="34" charset="-122"/>
                <a:cs typeface="Calibri" pitchFamily="34" charset="-120"/>
              </a:rPr>
              <a:t>Fluid domain — air (incompressible ideal gas)</a:t>
            </a:r>
            <a:endParaRPr lang="en-US" sz="1300" dirty="0"/>
          </a:p>
        </p:txBody>
      </p:sp>
      <p:sp>
        <p:nvSpPr>
          <p:cNvPr id="9" name="Shape 6"/>
          <p:cNvSpPr/>
          <p:nvPr/>
        </p:nvSpPr>
        <p:spPr>
          <a:xfrm>
            <a:off x="457200" y="5138928"/>
            <a:ext cx="292608" cy="219456"/>
          </a:xfrm>
          <a:prstGeom prst="rect">
            <a:avLst/>
          </a:prstGeom>
          <a:solidFill>
            <a:srgbClr val="A9B4C2"/>
          </a:solidFill>
          <a:ln w="19050">
            <a:solidFill>
              <a:srgbClr val="5C6B7A"/>
            </a:solidFill>
            <a:prstDash val="solid"/>
          </a:ln>
        </p:spPr>
      </p:sp>
      <p:sp>
        <p:nvSpPr>
          <p:cNvPr id="10" name="Text 7"/>
          <p:cNvSpPr txBox="1"/>
          <p:nvPr/>
        </p:nvSpPr>
        <p:spPr>
          <a:xfrm>
            <a:off x="868680" y="5074920"/>
            <a:ext cx="3291840" cy="365760"/>
          </a:xfrm>
          <a:prstGeom prst="rect">
            <a:avLst/>
          </a:prstGeom>
          <a:noFill/>
          <a:ln/>
        </p:spPr>
        <p:txBody>
          <a:bodyPr wrap="square" lIns="0" tIns="0" rIns="0" bIns="0" rtlCol="0" anchor="ctr"/>
          <a:lstStyle/>
          <a:p>
            <a:pPr indent="0" marL="0">
              <a:buNone/>
            </a:pPr>
            <a:r>
              <a:rPr lang="en-US" sz="1300" dirty="0">
                <a:solidFill>
                  <a:srgbClr val="243447"/>
                </a:solidFill>
                <a:latin typeface="Calibri" pitchFamily="34" charset="0"/>
                <a:ea typeface="Calibri" pitchFamily="34" charset="-122"/>
                <a:cs typeface="Calibri" pitchFamily="34" charset="-120"/>
              </a:rPr>
              <a:t>Solid domain — Inconel 718 annulus</a:t>
            </a:r>
            <a:endParaRPr lang="en-US" sz="1300" dirty="0"/>
          </a:p>
        </p:txBody>
      </p:sp>
      <p:sp>
        <p:nvSpPr>
          <p:cNvPr id="11" name="Shape 8"/>
          <p:cNvSpPr/>
          <p:nvPr/>
        </p:nvSpPr>
        <p:spPr>
          <a:xfrm>
            <a:off x="457200" y="5596128"/>
            <a:ext cx="292608" cy="219456"/>
          </a:xfrm>
          <a:prstGeom prst="rect">
            <a:avLst/>
          </a:prstGeom>
          <a:solidFill>
            <a:srgbClr val="D9480F"/>
          </a:solidFill>
          <a:ln w="19050">
            <a:solidFill>
              <a:srgbClr val="D9480F"/>
            </a:solidFill>
            <a:prstDash val="solid"/>
          </a:ln>
        </p:spPr>
      </p:sp>
      <p:sp>
        <p:nvSpPr>
          <p:cNvPr id="12" name="Text 9"/>
          <p:cNvSpPr txBox="1"/>
          <p:nvPr/>
        </p:nvSpPr>
        <p:spPr>
          <a:xfrm>
            <a:off x="868680" y="5532120"/>
            <a:ext cx="3291840" cy="365760"/>
          </a:xfrm>
          <a:prstGeom prst="rect">
            <a:avLst/>
          </a:prstGeom>
          <a:noFill/>
          <a:ln/>
        </p:spPr>
        <p:txBody>
          <a:bodyPr wrap="square" lIns="0" tIns="0" rIns="0" bIns="0" rtlCol="0" anchor="ctr"/>
          <a:lstStyle/>
          <a:p>
            <a:pPr indent="0" marL="0">
              <a:buNone/>
            </a:pPr>
            <a:r>
              <a:rPr lang="en-US" sz="1300" dirty="0">
                <a:solidFill>
                  <a:srgbClr val="243447"/>
                </a:solidFill>
                <a:latin typeface="Calibri" pitchFamily="34" charset="0"/>
                <a:ea typeface="Calibri" pitchFamily="34" charset="-122"/>
                <a:cs typeface="Calibri" pitchFamily="34" charset="-120"/>
              </a:rPr>
              <a:t>Heated outer wall — q″ = 8000 W/m²; end faces adiabatic</a:t>
            </a:r>
            <a:endParaRPr lang="en-US" sz="1300" dirty="0"/>
          </a:p>
        </p:txBody>
      </p:sp>
      <p:sp>
        <p:nvSpPr>
          <p:cNvPr id="13" name="Shape 10"/>
          <p:cNvSpPr/>
          <p:nvPr/>
        </p:nvSpPr>
        <p:spPr>
          <a:xfrm>
            <a:off x="4251960" y="4681728"/>
            <a:ext cx="292608" cy="219456"/>
          </a:xfrm>
          <a:prstGeom prst="rect">
            <a:avLst/>
          </a:prstGeom>
          <a:solidFill>
            <a:srgbClr val="FFFFFF"/>
          </a:solidFill>
          <a:ln w="19050">
            <a:solidFill>
              <a:srgbClr val="2F7FD1"/>
            </a:solidFill>
            <a:prstDash val="solid"/>
          </a:ln>
        </p:spPr>
      </p:sp>
      <p:sp>
        <p:nvSpPr>
          <p:cNvPr id="14" name="Text 11"/>
          <p:cNvSpPr txBox="1"/>
          <p:nvPr/>
        </p:nvSpPr>
        <p:spPr>
          <a:xfrm>
            <a:off x="4663440" y="4617720"/>
            <a:ext cx="3291840" cy="365760"/>
          </a:xfrm>
          <a:prstGeom prst="rect">
            <a:avLst/>
          </a:prstGeom>
          <a:noFill/>
          <a:ln/>
        </p:spPr>
        <p:txBody>
          <a:bodyPr wrap="square" lIns="0" tIns="0" rIns="0" bIns="0" rtlCol="0" anchor="ctr"/>
          <a:lstStyle/>
          <a:p>
            <a:pPr indent="0" marL="0">
              <a:buNone/>
            </a:pPr>
            <a:r>
              <a:rPr lang="en-US" sz="1300" dirty="0">
                <a:solidFill>
                  <a:srgbClr val="243447"/>
                </a:solidFill>
                <a:latin typeface="Calibri" pitchFamily="34" charset="0"/>
                <a:ea typeface="Calibri" pitchFamily="34" charset="-122"/>
                <a:cs typeface="Calibri" pitchFamily="34" charset="-120"/>
              </a:rPr>
              <a:t>Fluid–solid interface — Ø20, shared (conformal) topology</a:t>
            </a:r>
            <a:endParaRPr lang="en-US" sz="1300" dirty="0"/>
          </a:p>
        </p:txBody>
      </p:sp>
      <p:sp>
        <p:nvSpPr>
          <p:cNvPr id="15" name="Shape 12"/>
          <p:cNvSpPr/>
          <p:nvPr/>
        </p:nvSpPr>
        <p:spPr>
          <a:xfrm>
            <a:off x="4251960" y="5138928"/>
            <a:ext cx="292608" cy="219456"/>
          </a:xfrm>
          <a:prstGeom prst="rect">
            <a:avLst/>
          </a:prstGeom>
          <a:solidFill>
            <a:srgbClr val="2F5D8A"/>
          </a:solidFill>
          <a:ln w="19050">
            <a:solidFill>
              <a:srgbClr val="2F5D8A"/>
            </a:solidFill>
            <a:prstDash val="solid"/>
          </a:ln>
        </p:spPr>
      </p:sp>
      <p:sp>
        <p:nvSpPr>
          <p:cNvPr id="16" name="Text 13"/>
          <p:cNvSpPr txBox="1"/>
          <p:nvPr/>
        </p:nvSpPr>
        <p:spPr>
          <a:xfrm>
            <a:off x="4663440" y="5074920"/>
            <a:ext cx="3291840" cy="365760"/>
          </a:xfrm>
          <a:prstGeom prst="rect">
            <a:avLst/>
          </a:prstGeom>
          <a:noFill/>
          <a:ln/>
        </p:spPr>
        <p:txBody>
          <a:bodyPr wrap="square" lIns="0" tIns="0" rIns="0" bIns="0" rtlCol="0" anchor="ctr"/>
          <a:lstStyle/>
          <a:p>
            <a:pPr indent="0" marL="0">
              <a:buNone/>
            </a:pPr>
            <a:r>
              <a:rPr lang="en-US" sz="1300" dirty="0">
                <a:solidFill>
                  <a:srgbClr val="243447"/>
                </a:solidFill>
                <a:latin typeface="Calibri" pitchFamily="34" charset="0"/>
                <a:ea typeface="Calibri" pitchFamily="34" charset="-122"/>
                <a:cs typeface="Calibri" pitchFamily="34" charset="-120"/>
              </a:rPr>
              <a:t>Flow direction — inlet z = 0 → outlet z = 600 mm</a:t>
            </a:r>
            <a:endParaRPr lang="en-US" sz="1300" dirty="0"/>
          </a:p>
        </p:txBody>
      </p:sp>
      <p:pic>
        <p:nvPicPr>
          <p:cNvPr id="17" name="Image 1" descr="/mnt/attach/outputs/S10C1/14_Presentation/Figures/cad_cross_section.png">    </p:cNvPr>
          <p:cNvPicPr>
            <a:picLocks noChangeAspect="1"/>
          </p:cNvPicPr>
          <p:nvPr/>
        </p:nvPicPr>
        <p:blipFill>
          <a:blip r:embed="rId2"/>
          <a:stretch>
            <a:fillRect/>
          </a:stretch>
        </p:blipFill>
        <p:spPr>
          <a:xfrm>
            <a:off x="8458200" y="1417320"/>
            <a:ext cx="2926080" cy="2905760"/>
          </a:xfrm>
          <a:prstGeom prst="rect">
            <a:avLst/>
          </a:prstGeom>
        </p:spPr>
      </p:pic>
      <p:sp>
        <p:nvSpPr>
          <p:cNvPr id="18" name="Text 14"/>
          <p:cNvSpPr txBox="1"/>
          <p:nvPr/>
        </p:nvSpPr>
        <p:spPr>
          <a:xfrm>
            <a:off x="8183880" y="4370832"/>
            <a:ext cx="3566160" cy="274320"/>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End face drawn from the exported SpaceClaim geometry</a:t>
            </a:r>
            <a:endParaRPr lang="en-US" sz="1100" dirty="0"/>
          </a:p>
        </p:txBody>
      </p:sp>
      <p:sp>
        <p:nvSpPr>
          <p:cNvPr id="19" name="Shape 15"/>
          <p:cNvSpPr/>
          <p:nvPr/>
        </p:nvSpPr>
        <p:spPr>
          <a:xfrm>
            <a:off x="8183880" y="4709160"/>
            <a:ext cx="3547872" cy="1572768"/>
          </a:xfrm>
          <a:prstGeom prst="roundRect">
            <a:avLst>
              <a:gd name="adj" fmla="val 4651"/>
            </a:avLst>
          </a:prstGeom>
          <a:solidFill>
            <a:srgbClr val="EEF3F8"/>
          </a:solidFill>
          <a:ln/>
        </p:spPr>
      </p:sp>
      <p:sp>
        <p:nvSpPr>
          <p:cNvPr id="20" name="Text 16"/>
          <p:cNvSpPr txBox="1"/>
          <p:nvPr/>
        </p:nvSpPr>
        <p:spPr>
          <a:xfrm>
            <a:off x="8366760" y="4800600"/>
            <a:ext cx="2011680" cy="329184"/>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Inner diameter  Dᵢ</a:t>
            </a:r>
            <a:endParaRPr lang="en-US" sz="1400" dirty="0"/>
          </a:p>
        </p:txBody>
      </p:sp>
      <p:sp>
        <p:nvSpPr>
          <p:cNvPr id="21" name="Text 17"/>
          <p:cNvSpPr txBox="1"/>
          <p:nvPr/>
        </p:nvSpPr>
        <p:spPr>
          <a:xfrm>
            <a:off x="10332720" y="4800600"/>
            <a:ext cx="1234440" cy="329184"/>
          </a:xfrm>
          <a:prstGeom prst="rect">
            <a:avLst/>
          </a:prstGeom>
          <a:noFill/>
          <a:ln/>
        </p:spPr>
        <p:txBody>
          <a:bodyPr wrap="square" lIns="0" tIns="0" rIns="0" bIns="0" rtlCol="0" anchor="ctr"/>
          <a:lstStyle/>
          <a:p>
            <a:pPr algn="r" indent="0" marL="0">
              <a:buNone/>
            </a:pPr>
            <a:r>
              <a:rPr lang="en-US" sz="1500" b="1" dirty="0">
                <a:solidFill>
                  <a:srgbClr val="D9480F"/>
                </a:solidFill>
                <a:latin typeface="Calibri" pitchFamily="34" charset="0"/>
                <a:ea typeface="Calibri" pitchFamily="34" charset="-122"/>
                <a:cs typeface="Calibri" pitchFamily="34" charset="-120"/>
              </a:rPr>
              <a:t>20 mm</a:t>
            </a:r>
            <a:endParaRPr lang="en-US" sz="1500" dirty="0"/>
          </a:p>
        </p:txBody>
      </p:sp>
      <p:sp>
        <p:nvSpPr>
          <p:cNvPr id="22" name="Text 18"/>
          <p:cNvSpPr txBox="1"/>
          <p:nvPr/>
        </p:nvSpPr>
        <p:spPr>
          <a:xfrm>
            <a:off x="8366760" y="5157216"/>
            <a:ext cx="2011680" cy="329184"/>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Outer diameter  Dₒ</a:t>
            </a:r>
            <a:endParaRPr lang="en-US" sz="1400" dirty="0"/>
          </a:p>
        </p:txBody>
      </p:sp>
      <p:sp>
        <p:nvSpPr>
          <p:cNvPr id="23" name="Text 19"/>
          <p:cNvSpPr txBox="1"/>
          <p:nvPr/>
        </p:nvSpPr>
        <p:spPr>
          <a:xfrm>
            <a:off x="10332720" y="5157216"/>
            <a:ext cx="1234440" cy="329184"/>
          </a:xfrm>
          <a:prstGeom prst="rect">
            <a:avLst/>
          </a:prstGeom>
          <a:noFill/>
          <a:ln/>
        </p:spPr>
        <p:txBody>
          <a:bodyPr wrap="square" lIns="0" tIns="0" rIns="0" bIns="0" rtlCol="0" anchor="ctr"/>
          <a:lstStyle/>
          <a:p>
            <a:pPr algn="r" indent="0" marL="0">
              <a:buNone/>
            </a:pPr>
            <a:r>
              <a:rPr lang="en-US" sz="1500" b="1" dirty="0">
                <a:solidFill>
                  <a:srgbClr val="D9480F"/>
                </a:solidFill>
                <a:latin typeface="Calibri" pitchFamily="34" charset="0"/>
                <a:ea typeface="Calibri" pitchFamily="34" charset="-122"/>
                <a:cs typeface="Calibri" pitchFamily="34" charset="-120"/>
              </a:rPr>
              <a:t>40 mm</a:t>
            </a:r>
            <a:endParaRPr lang="en-US" sz="1500" dirty="0"/>
          </a:p>
        </p:txBody>
      </p:sp>
      <p:sp>
        <p:nvSpPr>
          <p:cNvPr id="24" name="Text 20"/>
          <p:cNvSpPr txBox="1"/>
          <p:nvPr/>
        </p:nvSpPr>
        <p:spPr>
          <a:xfrm>
            <a:off x="8366760" y="5513832"/>
            <a:ext cx="2011680" cy="329184"/>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Wall thickness  t</a:t>
            </a:r>
            <a:endParaRPr lang="en-US" sz="1400" dirty="0"/>
          </a:p>
        </p:txBody>
      </p:sp>
      <p:sp>
        <p:nvSpPr>
          <p:cNvPr id="25" name="Text 21"/>
          <p:cNvSpPr txBox="1"/>
          <p:nvPr/>
        </p:nvSpPr>
        <p:spPr>
          <a:xfrm>
            <a:off x="10332720" y="5513832"/>
            <a:ext cx="1234440" cy="329184"/>
          </a:xfrm>
          <a:prstGeom prst="rect">
            <a:avLst/>
          </a:prstGeom>
          <a:noFill/>
          <a:ln/>
        </p:spPr>
        <p:txBody>
          <a:bodyPr wrap="square" lIns="0" tIns="0" rIns="0" bIns="0" rtlCol="0" anchor="ctr"/>
          <a:lstStyle/>
          <a:p>
            <a:pPr algn="r" indent="0" marL="0">
              <a:buNone/>
            </a:pPr>
            <a:r>
              <a:rPr lang="en-US" sz="1500" b="1" dirty="0">
                <a:solidFill>
                  <a:srgbClr val="D9480F"/>
                </a:solidFill>
                <a:latin typeface="Calibri" pitchFamily="34" charset="0"/>
                <a:ea typeface="Calibri" pitchFamily="34" charset="-122"/>
                <a:cs typeface="Calibri" pitchFamily="34" charset="-120"/>
              </a:rPr>
              <a:t>10 mm</a:t>
            </a:r>
            <a:endParaRPr lang="en-US" sz="1500" dirty="0"/>
          </a:p>
        </p:txBody>
      </p:sp>
      <p:sp>
        <p:nvSpPr>
          <p:cNvPr id="26" name="Text 22"/>
          <p:cNvSpPr txBox="1"/>
          <p:nvPr/>
        </p:nvSpPr>
        <p:spPr>
          <a:xfrm>
            <a:off x="8366760" y="5870448"/>
            <a:ext cx="2011680" cy="329184"/>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Length  L</a:t>
            </a:r>
            <a:endParaRPr lang="en-US" sz="1400" dirty="0"/>
          </a:p>
        </p:txBody>
      </p:sp>
      <p:sp>
        <p:nvSpPr>
          <p:cNvPr id="27" name="Text 23"/>
          <p:cNvSpPr txBox="1"/>
          <p:nvPr/>
        </p:nvSpPr>
        <p:spPr>
          <a:xfrm>
            <a:off x="10332720" y="5870448"/>
            <a:ext cx="1234440" cy="329184"/>
          </a:xfrm>
          <a:prstGeom prst="rect">
            <a:avLst/>
          </a:prstGeom>
          <a:noFill/>
          <a:ln/>
        </p:spPr>
        <p:txBody>
          <a:bodyPr wrap="square" lIns="0" tIns="0" rIns="0" bIns="0" rtlCol="0" anchor="ctr"/>
          <a:lstStyle/>
          <a:p>
            <a:pPr algn="r" indent="0" marL="0">
              <a:buNone/>
            </a:pPr>
            <a:r>
              <a:rPr lang="en-US" sz="1500" b="1" dirty="0">
                <a:solidFill>
                  <a:srgbClr val="D9480F"/>
                </a:solidFill>
                <a:latin typeface="Calibri" pitchFamily="34" charset="0"/>
                <a:ea typeface="Calibri" pitchFamily="34" charset="-122"/>
                <a:cs typeface="Calibri" pitchFamily="34" charset="-120"/>
              </a:rPr>
              <a:t>600 mm</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CFD Methodology</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A steady conjugate heat transfer model: energy is solved in the air and in the Inconel wall together</a:t>
            </a:r>
            <a:endParaRPr lang="en-US" sz="1600" dirty="0"/>
          </a:p>
        </p:txBody>
      </p:sp>
      <p:sp>
        <p:nvSpPr>
          <p:cNvPr id="5" name="Shape 3"/>
          <p:cNvSpPr/>
          <p:nvPr/>
        </p:nvSpPr>
        <p:spPr>
          <a:xfrm>
            <a:off x="457200" y="1554480"/>
            <a:ext cx="2011680" cy="1143000"/>
          </a:xfrm>
          <a:prstGeom prst="roundRect">
            <a:avLst>
              <a:gd name="adj" fmla="val 6400"/>
            </a:avLst>
          </a:prstGeom>
          <a:solidFill>
            <a:srgbClr val="EEF3F8"/>
          </a:solidFill>
          <a:ln/>
        </p:spPr>
      </p:sp>
      <p:sp>
        <p:nvSpPr>
          <p:cNvPr id="6" name="Text 4"/>
          <p:cNvSpPr txBox="1"/>
          <p:nvPr/>
        </p:nvSpPr>
        <p:spPr>
          <a:xfrm>
            <a:off x="548640" y="1609344"/>
            <a:ext cx="1828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Geometry</a:t>
            </a:r>
            <a:endParaRPr lang="en-US" sz="1500" dirty="0"/>
          </a:p>
        </p:txBody>
      </p:sp>
      <p:sp>
        <p:nvSpPr>
          <p:cNvPr id="7" name="Text 5"/>
          <p:cNvSpPr txBox="1"/>
          <p:nvPr/>
        </p:nvSpPr>
        <p:spPr>
          <a:xfrm>
            <a:off x="548640" y="2103120"/>
            <a:ext cx="1828800" cy="548640"/>
          </a:xfrm>
          <a:prstGeom prst="rect">
            <a:avLst/>
          </a:prstGeom>
          <a:noFill/>
          <a:ln/>
        </p:spPr>
        <p:txBody>
          <a:bodyPr wrap="square" lIns="0" tIns="0" rIns="0" bIns="0" rtlCol="0" anchor="t"/>
          <a:lstStyle/>
          <a:p>
            <a:pPr algn="ctr" indent="0" marL="0">
              <a:buNone/>
            </a:pPr>
            <a:r>
              <a:rPr lang="en-US" sz="1200" dirty="0">
                <a:solidFill>
                  <a:srgbClr val="243447"/>
                </a:solidFill>
                <a:latin typeface="Calibri" pitchFamily="34" charset="0"/>
                <a:ea typeface="Calibri" pitchFamily="34" charset="-122"/>
                <a:cs typeface="Calibri" pitchFamily="34" charset="-120"/>
              </a:rPr>
              <a:t>SpaceClaim: 2 bodies, shared interface</a:t>
            </a:r>
            <a:endParaRPr lang="en-US" sz="1200" dirty="0"/>
          </a:p>
        </p:txBody>
      </p:sp>
      <p:sp>
        <p:nvSpPr>
          <p:cNvPr id="8" name="Shape 6"/>
          <p:cNvSpPr/>
          <p:nvPr/>
        </p:nvSpPr>
        <p:spPr>
          <a:xfrm>
            <a:off x="2496312" y="1993392"/>
            <a:ext cx="237744" cy="256032"/>
          </a:xfrm>
          <a:prstGeom prst="rightArrow">
            <a:avLst/>
          </a:prstGeom>
          <a:solidFill>
            <a:srgbClr val="9AA5B1"/>
          </a:solidFill>
          <a:ln/>
        </p:spPr>
      </p:sp>
      <p:sp>
        <p:nvSpPr>
          <p:cNvPr id="9" name="Shape 7"/>
          <p:cNvSpPr/>
          <p:nvPr/>
        </p:nvSpPr>
        <p:spPr>
          <a:xfrm>
            <a:off x="2761488" y="1554480"/>
            <a:ext cx="2011680" cy="1143000"/>
          </a:xfrm>
          <a:prstGeom prst="roundRect">
            <a:avLst>
              <a:gd name="adj" fmla="val 6400"/>
            </a:avLst>
          </a:prstGeom>
          <a:solidFill>
            <a:srgbClr val="EEF3F8"/>
          </a:solidFill>
          <a:ln/>
        </p:spPr>
      </p:sp>
      <p:sp>
        <p:nvSpPr>
          <p:cNvPr id="10" name="Text 8"/>
          <p:cNvSpPr txBox="1"/>
          <p:nvPr/>
        </p:nvSpPr>
        <p:spPr>
          <a:xfrm>
            <a:off x="2852928" y="1609344"/>
            <a:ext cx="1828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Mesh</a:t>
            </a:r>
            <a:endParaRPr lang="en-US" sz="1500" dirty="0"/>
          </a:p>
        </p:txBody>
      </p:sp>
      <p:sp>
        <p:nvSpPr>
          <p:cNvPr id="11" name="Text 9"/>
          <p:cNvSpPr txBox="1"/>
          <p:nvPr/>
        </p:nvSpPr>
        <p:spPr>
          <a:xfrm>
            <a:off x="2852928" y="2103120"/>
            <a:ext cx="1828800" cy="548640"/>
          </a:xfrm>
          <a:prstGeom prst="rect">
            <a:avLst/>
          </a:prstGeom>
          <a:noFill/>
          <a:ln/>
        </p:spPr>
        <p:txBody>
          <a:bodyPr wrap="square" lIns="0" tIns="0" rIns="0" bIns="0" rtlCol="0" anchor="t"/>
          <a:lstStyle/>
          <a:p>
            <a:pPr algn="ctr" indent="0" marL="0">
              <a:buNone/>
            </a:pPr>
            <a:r>
              <a:rPr lang="en-US" sz="1200" dirty="0">
                <a:solidFill>
                  <a:srgbClr val="243447"/>
                </a:solidFill>
                <a:latin typeface="Calibri" pitchFamily="34" charset="0"/>
                <a:ea typeface="Calibri" pitchFamily="34" charset="-122"/>
                <a:cs typeface="Calibri" pitchFamily="34" charset="-120"/>
              </a:rPr>
              <a:t>hexahedral O-grid, wall-resolved</a:t>
            </a:r>
            <a:endParaRPr lang="en-US" sz="1200" dirty="0"/>
          </a:p>
        </p:txBody>
      </p:sp>
      <p:sp>
        <p:nvSpPr>
          <p:cNvPr id="12" name="Shape 10"/>
          <p:cNvSpPr/>
          <p:nvPr/>
        </p:nvSpPr>
        <p:spPr>
          <a:xfrm>
            <a:off x="4800600" y="1993392"/>
            <a:ext cx="237744" cy="256032"/>
          </a:xfrm>
          <a:prstGeom prst="rightArrow">
            <a:avLst/>
          </a:prstGeom>
          <a:solidFill>
            <a:srgbClr val="9AA5B1"/>
          </a:solidFill>
          <a:ln/>
        </p:spPr>
      </p:sp>
      <p:sp>
        <p:nvSpPr>
          <p:cNvPr id="13" name="Shape 11"/>
          <p:cNvSpPr/>
          <p:nvPr/>
        </p:nvSpPr>
        <p:spPr>
          <a:xfrm>
            <a:off x="5065776" y="1554480"/>
            <a:ext cx="2011680" cy="1143000"/>
          </a:xfrm>
          <a:prstGeom prst="roundRect">
            <a:avLst>
              <a:gd name="adj" fmla="val 6400"/>
            </a:avLst>
          </a:prstGeom>
          <a:solidFill>
            <a:srgbClr val="EEF3F8"/>
          </a:solidFill>
          <a:ln/>
        </p:spPr>
      </p:sp>
      <p:sp>
        <p:nvSpPr>
          <p:cNvPr id="14" name="Text 12"/>
          <p:cNvSpPr txBox="1"/>
          <p:nvPr/>
        </p:nvSpPr>
        <p:spPr>
          <a:xfrm>
            <a:off x="5157216" y="1609344"/>
            <a:ext cx="1828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Fluent set-up</a:t>
            </a:r>
            <a:endParaRPr lang="en-US" sz="1500" dirty="0"/>
          </a:p>
        </p:txBody>
      </p:sp>
      <p:sp>
        <p:nvSpPr>
          <p:cNvPr id="15" name="Text 13"/>
          <p:cNvSpPr txBox="1"/>
          <p:nvPr/>
        </p:nvSpPr>
        <p:spPr>
          <a:xfrm>
            <a:off x="5157216" y="2103120"/>
            <a:ext cx="1828800" cy="548640"/>
          </a:xfrm>
          <a:prstGeom prst="rect">
            <a:avLst/>
          </a:prstGeom>
          <a:noFill/>
          <a:ln/>
        </p:spPr>
        <p:txBody>
          <a:bodyPr wrap="square" lIns="0" tIns="0" rIns="0" bIns="0" rtlCol="0" anchor="t"/>
          <a:lstStyle/>
          <a:p>
            <a:pPr algn="ctr" indent="0" marL="0">
              <a:buNone/>
            </a:pPr>
            <a:r>
              <a:rPr lang="en-US" sz="1200" dirty="0">
                <a:solidFill>
                  <a:srgbClr val="243447"/>
                </a:solidFill>
                <a:latin typeface="Calibri" pitchFamily="34" charset="0"/>
                <a:ea typeface="Calibri" pitchFamily="34" charset="-122"/>
                <a:cs typeface="Calibri" pitchFamily="34" charset="-120"/>
              </a:rPr>
              <a:t>materials, BCs, staged solution</a:t>
            </a:r>
            <a:endParaRPr lang="en-US" sz="1200" dirty="0"/>
          </a:p>
        </p:txBody>
      </p:sp>
      <p:sp>
        <p:nvSpPr>
          <p:cNvPr id="16" name="Shape 14"/>
          <p:cNvSpPr/>
          <p:nvPr/>
        </p:nvSpPr>
        <p:spPr>
          <a:xfrm>
            <a:off x="7104888" y="1993392"/>
            <a:ext cx="237744" cy="256032"/>
          </a:xfrm>
          <a:prstGeom prst="rightArrow">
            <a:avLst/>
          </a:prstGeom>
          <a:solidFill>
            <a:srgbClr val="9AA5B1"/>
          </a:solidFill>
          <a:ln/>
        </p:spPr>
      </p:sp>
      <p:sp>
        <p:nvSpPr>
          <p:cNvPr id="17" name="Shape 15"/>
          <p:cNvSpPr/>
          <p:nvPr/>
        </p:nvSpPr>
        <p:spPr>
          <a:xfrm>
            <a:off x="7370064" y="1554480"/>
            <a:ext cx="2011680" cy="1143000"/>
          </a:xfrm>
          <a:prstGeom prst="roundRect">
            <a:avLst>
              <a:gd name="adj" fmla="val 6400"/>
            </a:avLst>
          </a:prstGeom>
          <a:solidFill>
            <a:srgbClr val="2F5D8A"/>
          </a:solidFill>
          <a:ln/>
        </p:spPr>
      </p:sp>
      <p:sp>
        <p:nvSpPr>
          <p:cNvPr id="18" name="Text 16"/>
          <p:cNvSpPr txBox="1"/>
          <p:nvPr/>
        </p:nvSpPr>
        <p:spPr>
          <a:xfrm>
            <a:off x="7461504" y="1609344"/>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CHT solution</a:t>
            </a:r>
            <a:endParaRPr lang="en-US" sz="1500" dirty="0"/>
          </a:p>
        </p:txBody>
      </p:sp>
      <p:sp>
        <p:nvSpPr>
          <p:cNvPr id="19" name="Text 17"/>
          <p:cNvSpPr txBox="1"/>
          <p:nvPr/>
        </p:nvSpPr>
        <p:spPr>
          <a:xfrm>
            <a:off x="7461504" y="2103120"/>
            <a:ext cx="1828800" cy="548640"/>
          </a:xfrm>
          <a:prstGeom prst="rect">
            <a:avLst/>
          </a:prstGeom>
          <a:noFill/>
          <a:ln/>
        </p:spPr>
        <p:txBody>
          <a:bodyPr wrap="square" lIns="0" tIns="0" rIns="0" bIns="0" rtlCol="0" anchor="t"/>
          <a:lstStyle/>
          <a:p>
            <a:pPr algn="ctr" indent="0" marL="0">
              <a:buNone/>
            </a:pPr>
            <a:r>
              <a:rPr lang="en-US" sz="1200" dirty="0">
                <a:solidFill>
                  <a:srgbClr val="E6EEF6"/>
                </a:solidFill>
                <a:latin typeface="Calibri" pitchFamily="34" charset="0"/>
                <a:ea typeface="Calibri" pitchFamily="34" charset="-122"/>
                <a:cs typeface="Calibri" pitchFamily="34" charset="-120"/>
              </a:rPr>
              <a:t>conjugate heat transfer: flow + energy in air and wall</a:t>
            </a:r>
            <a:endParaRPr lang="en-US" sz="1200" dirty="0"/>
          </a:p>
        </p:txBody>
      </p:sp>
      <p:sp>
        <p:nvSpPr>
          <p:cNvPr id="20" name="Shape 18"/>
          <p:cNvSpPr/>
          <p:nvPr/>
        </p:nvSpPr>
        <p:spPr>
          <a:xfrm>
            <a:off x="9409176" y="1993392"/>
            <a:ext cx="237744" cy="256032"/>
          </a:xfrm>
          <a:prstGeom prst="rightArrow">
            <a:avLst/>
          </a:prstGeom>
          <a:solidFill>
            <a:srgbClr val="9AA5B1"/>
          </a:solidFill>
          <a:ln/>
        </p:spPr>
      </p:sp>
      <p:sp>
        <p:nvSpPr>
          <p:cNvPr id="21" name="Shape 19"/>
          <p:cNvSpPr/>
          <p:nvPr/>
        </p:nvSpPr>
        <p:spPr>
          <a:xfrm>
            <a:off x="9674352" y="1554480"/>
            <a:ext cx="2011680" cy="1143000"/>
          </a:xfrm>
          <a:prstGeom prst="roundRect">
            <a:avLst>
              <a:gd name="adj" fmla="val 6400"/>
            </a:avLst>
          </a:prstGeom>
          <a:solidFill>
            <a:srgbClr val="EEF3F8"/>
          </a:solidFill>
          <a:ln/>
        </p:spPr>
      </p:sp>
      <p:sp>
        <p:nvSpPr>
          <p:cNvPr id="22" name="Text 20"/>
          <p:cNvSpPr txBox="1"/>
          <p:nvPr/>
        </p:nvSpPr>
        <p:spPr>
          <a:xfrm>
            <a:off x="9765792" y="1609344"/>
            <a:ext cx="1828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Results + checks</a:t>
            </a:r>
            <a:endParaRPr lang="en-US" sz="1500" dirty="0"/>
          </a:p>
        </p:txBody>
      </p:sp>
      <p:sp>
        <p:nvSpPr>
          <p:cNvPr id="23" name="Text 21"/>
          <p:cNvSpPr txBox="1"/>
          <p:nvPr/>
        </p:nvSpPr>
        <p:spPr>
          <a:xfrm>
            <a:off x="9765792" y="2103120"/>
            <a:ext cx="1828800" cy="548640"/>
          </a:xfrm>
          <a:prstGeom prst="rect">
            <a:avLst/>
          </a:prstGeom>
          <a:noFill/>
          <a:ln/>
        </p:spPr>
        <p:txBody>
          <a:bodyPr wrap="square" lIns="0" tIns="0" rIns="0" bIns="0" rtlCol="0" anchor="t"/>
          <a:lstStyle/>
          <a:p>
            <a:pPr algn="ctr" indent="0" marL="0">
              <a:buNone/>
            </a:pPr>
            <a:r>
              <a:rPr lang="en-US" sz="1200" dirty="0">
                <a:solidFill>
                  <a:srgbClr val="243447"/>
                </a:solidFill>
                <a:latin typeface="Calibri" pitchFamily="34" charset="0"/>
                <a:ea typeface="Calibri" pitchFamily="34" charset="-122"/>
                <a:cs typeface="Calibri" pitchFamily="34" charset="-120"/>
              </a:rPr>
              <a:t>conservation, analytical, mesh study</a:t>
            </a:r>
            <a:endParaRPr lang="en-US" sz="1200" dirty="0"/>
          </a:p>
        </p:txBody>
      </p:sp>
      <p:sp>
        <p:nvSpPr>
          <p:cNvPr id="24" name="Shape 22"/>
          <p:cNvSpPr/>
          <p:nvPr/>
        </p:nvSpPr>
        <p:spPr>
          <a:xfrm>
            <a:off x="457200" y="3063240"/>
            <a:ext cx="3566160" cy="3017520"/>
          </a:xfrm>
          <a:prstGeom prst="roundRect">
            <a:avLst>
              <a:gd name="adj" fmla="val 2424"/>
            </a:avLst>
          </a:prstGeom>
          <a:solidFill>
            <a:srgbClr val="FFFFFF"/>
          </a:solidFill>
          <a:ln w="9525">
            <a:solidFill>
              <a:srgbClr val="C9D3DE"/>
            </a:solidFill>
            <a:prstDash val="solid"/>
          </a:ln>
        </p:spPr>
      </p:sp>
      <p:sp>
        <p:nvSpPr>
          <p:cNvPr id="25" name="Text 23"/>
          <p:cNvSpPr txBox="1"/>
          <p:nvPr/>
        </p:nvSpPr>
        <p:spPr>
          <a:xfrm>
            <a:off x="685800" y="3172968"/>
            <a:ext cx="3108960" cy="411480"/>
          </a:xfrm>
          <a:prstGeom prst="rect">
            <a:avLst/>
          </a:prstGeom>
          <a:noFill/>
          <a:ln/>
        </p:spPr>
        <p:txBody>
          <a:bodyPr wrap="square" lIns="0" tIns="0" rIns="0" bIns="0" rtlCol="0" anchor="ctr"/>
          <a:lstStyle/>
          <a:p>
            <a:pPr indent="0" marL="0">
              <a:buNone/>
            </a:pPr>
            <a:r>
              <a:rPr lang="en-US" sz="1800" b="1" dirty="0">
                <a:solidFill>
                  <a:srgbClr val="2F5D8A"/>
                </a:solidFill>
                <a:latin typeface="Calibri" pitchFamily="34" charset="0"/>
                <a:ea typeface="Calibri" pitchFamily="34" charset="-122"/>
                <a:cs typeface="Calibri" pitchFamily="34" charset="-120"/>
              </a:rPr>
              <a:t>Solver</a:t>
            </a:r>
            <a:endParaRPr lang="en-US" sz="1800" dirty="0"/>
          </a:p>
        </p:txBody>
      </p:sp>
      <p:sp>
        <p:nvSpPr>
          <p:cNvPr id="26" name="Text 24"/>
          <p:cNvSpPr txBox="1"/>
          <p:nvPr/>
        </p:nvSpPr>
        <p:spPr>
          <a:xfrm>
            <a:off x="685800" y="3639312"/>
            <a:ext cx="315468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Pressure-based, steady, coupled</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Energy equation on</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Staged: flow → energy → second-order schemes</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Converged at 600, confirmed at 700 iterations</a:t>
            </a:r>
            <a:endParaRPr lang="en-US" sz="1600" dirty="0"/>
          </a:p>
        </p:txBody>
      </p:sp>
      <p:sp>
        <p:nvSpPr>
          <p:cNvPr id="27" name="Shape 25"/>
          <p:cNvSpPr/>
          <p:nvPr/>
        </p:nvSpPr>
        <p:spPr>
          <a:xfrm>
            <a:off x="4279392" y="3063240"/>
            <a:ext cx="3566160" cy="3017520"/>
          </a:xfrm>
          <a:prstGeom prst="roundRect">
            <a:avLst>
              <a:gd name="adj" fmla="val 2424"/>
            </a:avLst>
          </a:prstGeom>
          <a:solidFill>
            <a:srgbClr val="FFFFFF"/>
          </a:solidFill>
          <a:ln w="9525">
            <a:solidFill>
              <a:srgbClr val="C9D3DE"/>
            </a:solidFill>
            <a:prstDash val="solid"/>
          </a:ln>
        </p:spPr>
      </p:sp>
      <p:sp>
        <p:nvSpPr>
          <p:cNvPr id="28" name="Text 26"/>
          <p:cNvSpPr txBox="1"/>
          <p:nvPr/>
        </p:nvSpPr>
        <p:spPr>
          <a:xfrm>
            <a:off x="4507992" y="3172968"/>
            <a:ext cx="3108960" cy="411480"/>
          </a:xfrm>
          <a:prstGeom prst="rect">
            <a:avLst/>
          </a:prstGeom>
          <a:noFill/>
          <a:ln/>
        </p:spPr>
        <p:txBody>
          <a:bodyPr wrap="square" lIns="0" tIns="0" rIns="0" bIns="0" rtlCol="0" anchor="ctr"/>
          <a:lstStyle/>
          <a:p>
            <a:pPr indent="0" marL="0">
              <a:buNone/>
            </a:pPr>
            <a:r>
              <a:rPr lang="en-US" sz="1800" b="1" dirty="0">
                <a:solidFill>
                  <a:srgbClr val="2F5D8A"/>
                </a:solidFill>
                <a:latin typeface="Calibri" pitchFamily="34" charset="0"/>
                <a:ea typeface="Calibri" pitchFamily="34" charset="-122"/>
                <a:cs typeface="Calibri" pitchFamily="34" charset="-120"/>
              </a:rPr>
              <a:t>Physics</a:t>
            </a:r>
            <a:endParaRPr lang="en-US" sz="1800" dirty="0"/>
          </a:p>
        </p:txBody>
      </p:sp>
      <p:sp>
        <p:nvSpPr>
          <p:cNvPr id="29" name="Text 27"/>
          <p:cNvSpPr txBox="1"/>
          <p:nvPr/>
        </p:nvSpPr>
        <p:spPr>
          <a:xfrm>
            <a:off x="4507992" y="3639312"/>
            <a:ext cx="315468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Turbulence: k–ω SST</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Wall-resolved: y⁺ ≤ 0.585, no wall functions</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Air: ideal gas, temperature-dependent properties</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Inconel 718: k(T), cₚ(T)</a:t>
            </a:r>
            <a:endParaRPr lang="en-US" sz="1600" dirty="0"/>
          </a:p>
        </p:txBody>
      </p:sp>
      <p:sp>
        <p:nvSpPr>
          <p:cNvPr id="30" name="Shape 28"/>
          <p:cNvSpPr/>
          <p:nvPr/>
        </p:nvSpPr>
        <p:spPr>
          <a:xfrm>
            <a:off x="8101584" y="3063240"/>
            <a:ext cx="3566160" cy="3017520"/>
          </a:xfrm>
          <a:prstGeom prst="roundRect">
            <a:avLst>
              <a:gd name="adj" fmla="val 2424"/>
            </a:avLst>
          </a:prstGeom>
          <a:solidFill>
            <a:srgbClr val="FFFFFF"/>
          </a:solidFill>
          <a:ln w="9525">
            <a:solidFill>
              <a:srgbClr val="C9D3DE"/>
            </a:solidFill>
            <a:prstDash val="solid"/>
          </a:ln>
        </p:spPr>
      </p:sp>
      <p:sp>
        <p:nvSpPr>
          <p:cNvPr id="31" name="Text 29"/>
          <p:cNvSpPr txBox="1"/>
          <p:nvPr/>
        </p:nvSpPr>
        <p:spPr>
          <a:xfrm>
            <a:off x="8330184" y="3172968"/>
            <a:ext cx="3108960" cy="411480"/>
          </a:xfrm>
          <a:prstGeom prst="rect">
            <a:avLst/>
          </a:prstGeom>
          <a:noFill/>
          <a:ln/>
        </p:spPr>
        <p:txBody>
          <a:bodyPr wrap="square" lIns="0" tIns="0" rIns="0" bIns="0" rtlCol="0" anchor="ctr"/>
          <a:lstStyle/>
          <a:p>
            <a:pPr indent="0" marL="0">
              <a:buNone/>
            </a:pPr>
            <a:r>
              <a:rPr lang="en-US" sz="1800" b="1" dirty="0">
                <a:solidFill>
                  <a:srgbClr val="D9480F"/>
                </a:solidFill>
                <a:latin typeface="Calibri" pitchFamily="34" charset="0"/>
                <a:ea typeface="Calibri" pitchFamily="34" charset="-122"/>
                <a:cs typeface="Calibri" pitchFamily="34" charset="-120"/>
              </a:rPr>
              <a:t>Boundary conditions</a:t>
            </a:r>
            <a:endParaRPr lang="en-US" sz="1800" dirty="0"/>
          </a:p>
        </p:txBody>
      </p:sp>
      <p:sp>
        <p:nvSpPr>
          <p:cNvPr id="32" name="Text 30"/>
          <p:cNvSpPr txBox="1"/>
          <p:nvPr/>
        </p:nvSpPr>
        <p:spPr>
          <a:xfrm>
            <a:off x="8330184" y="3639312"/>
            <a:ext cx="315468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Inlet: 23.5 m/s, 300 K</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Outlet: 0 Pa gauge</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Outer wall: q″ = 8000 W/m²; ends adiabatic</a:t>
            </a:r>
            <a:endParaRPr lang="en-US" sz="1600" dirty="0"/>
          </a:p>
          <a:p>
            <a:pPr marL="342900" indent="-342900">
              <a:spcAft>
                <a:spcPts val="800"/>
              </a:spcAft>
              <a:buSzPct val="100000"/>
              <a:buChar char="•"/>
            </a:pPr>
            <a:r>
              <a:rPr lang="en-US" sz="1600" dirty="0">
                <a:solidFill>
                  <a:srgbClr val="243447"/>
                </a:solidFill>
                <a:latin typeface="Calibri" pitchFamily="34" charset="0"/>
                <a:ea typeface="Calibri" pitchFamily="34" charset="-122"/>
                <a:cs typeface="Calibri" pitchFamily="34" charset="-120"/>
              </a:rPr>
              <a:t>Interface: coupled — temperature solved, not imposed</a:t>
            </a:r>
            <a:endParaRPr lang="en-US" sz="16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Mesh and Convergence</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Three systematically refined meshes; the medium mesh carries the results downstream</a:t>
            </a:r>
            <a:endParaRPr lang="en-US" sz="1600" dirty="0"/>
          </a:p>
        </p:txBody>
      </p:sp>
      <p:pic>
        <p:nvPicPr>
          <p:cNvPr id="5" name="Image 0" descr="/mnt/attach/outputs/S10C1/14_Presentation/Figures/mesh_family.png">    </p:cNvPr>
          <p:cNvPicPr>
            <a:picLocks noChangeAspect="1"/>
          </p:cNvPicPr>
          <p:nvPr/>
        </p:nvPicPr>
        <p:blipFill>
          <a:blip r:embed="rId1"/>
          <a:stretch>
            <a:fillRect/>
          </a:stretch>
        </p:blipFill>
        <p:spPr>
          <a:xfrm>
            <a:off x="457200" y="1874520"/>
            <a:ext cx="7406640" cy="2387504"/>
          </a:xfrm>
          <a:prstGeom prst="rect">
            <a:avLst/>
          </a:prstGeom>
        </p:spPr>
      </p:pic>
      <p:sp>
        <p:nvSpPr>
          <p:cNvPr id="6" name="Text 3"/>
          <p:cNvSpPr txBox="1"/>
          <p:nvPr/>
        </p:nvSpPr>
        <p:spPr>
          <a:xfrm>
            <a:off x="702223" y="1325880"/>
            <a:ext cx="2377440" cy="530352"/>
          </a:xfrm>
          <a:prstGeom prst="rect">
            <a:avLst/>
          </a:prstGeom>
          <a:noFill/>
          <a:ln/>
        </p:spPr>
        <p:txBody>
          <a:bodyPr wrap="square" lIns="0" tIns="0" rIns="0" bIns="0" rtlCol="0" anchor="b"/>
          <a:lstStyle/>
          <a:p>
            <a:pPr algn="ctr" indent="0" marL="0">
              <a:buNone/>
            </a:pPr>
            <a:r>
              <a:rPr lang="en-US" sz="1400" b="1" dirty="0">
                <a:solidFill>
                  <a:srgbClr val="5C6B7A"/>
                </a:solidFill>
                <a:latin typeface="Calibri" pitchFamily="34" charset="0"/>
                <a:ea typeface="Calibri" pitchFamily="34" charset="-122"/>
                <a:cs typeface="Calibri" pitchFamily="34" charset="-120"/>
              </a:rPr>
              <a:t>Coarse</a:t>
            </a:r>
            <a:endParaRPr lang="en-US" sz="1400" dirty="0"/>
          </a:p>
          <a:p>
            <a:pPr algn="ctr" indent="0" marL="0">
              <a:buNone/>
            </a:pPr>
            <a:r>
              <a:rPr lang="en-US" sz="1400" dirty="0">
                <a:solidFill>
                  <a:srgbClr val="243447"/>
                </a:solidFill>
                <a:latin typeface="Calibri" pitchFamily="34" charset="0"/>
                <a:ea typeface="Calibri" pitchFamily="34" charset="-122"/>
                <a:cs typeface="Calibri" pitchFamily="34" charset="-120"/>
              </a:rPr>
              <a:t>51,840 cells</a:t>
            </a:r>
            <a:endParaRPr lang="en-US" sz="1400" dirty="0"/>
          </a:p>
        </p:txBody>
      </p:sp>
      <p:sp>
        <p:nvSpPr>
          <p:cNvPr id="7" name="Text 4"/>
          <p:cNvSpPr txBox="1"/>
          <p:nvPr/>
        </p:nvSpPr>
        <p:spPr>
          <a:xfrm>
            <a:off x="3124898" y="1325880"/>
            <a:ext cx="2377440" cy="530352"/>
          </a:xfrm>
          <a:prstGeom prst="rect">
            <a:avLst/>
          </a:prstGeom>
          <a:noFill/>
          <a:ln/>
        </p:spPr>
        <p:txBody>
          <a:bodyPr wrap="square" lIns="0" tIns="0" rIns="0" bIns="0" rtlCol="0" anchor="b"/>
          <a:lstStyle/>
          <a:p>
            <a:pPr algn="ctr" indent="0" marL="0">
              <a:buNone/>
            </a:pPr>
            <a:r>
              <a:rPr lang="en-US" sz="1400" b="1" dirty="0">
                <a:solidFill>
                  <a:srgbClr val="D9480F"/>
                </a:solidFill>
                <a:latin typeface="Calibri" pitchFamily="34" charset="0"/>
                <a:ea typeface="Calibri" pitchFamily="34" charset="-122"/>
                <a:cs typeface="Calibri" pitchFamily="34" charset="-120"/>
              </a:rPr>
              <a:t>Medium — baseline</a:t>
            </a:r>
            <a:endParaRPr lang="en-US" sz="1400" dirty="0"/>
          </a:p>
          <a:p>
            <a:pPr algn="ctr" indent="0" marL="0">
              <a:buNone/>
            </a:pPr>
            <a:r>
              <a:rPr lang="en-US" sz="1400" dirty="0">
                <a:solidFill>
                  <a:srgbClr val="243447"/>
                </a:solidFill>
                <a:latin typeface="Calibri" pitchFamily="34" charset="0"/>
                <a:ea typeface="Calibri" pitchFamily="34" charset="-122"/>
                <a:cs typeface="Calibri" pitchFamily="34" charset="-120"/>
              </a:rPr>
              <a:t>159,840 cells</a:t>
            </a:r>
            <a:endParaRPr lang="en-US" sz="1400" dirty="0"/>
          </a:p>
        </p:txBody>
      </p:sp>
      <p:sp>
        <p:nvSpPr>
          <p:cNvPr id="8" name="Text 5"/>
          <p:cNvSpPr txBox="1"/>
          <p:nvPr/>
        </p:nvSpPr>
        <p:spPr>
          <a:xfrm>
            <a:off x="5559986" y="1325880"/>
            <a:ext cx="2377440" cy="530352"/>
          </a:xfrm>
          <a:prstGeom prst="rect">
            <a:avLst/>
          </a:prstGeom>
          <a:noFill/>
          <a:ln/>
        </p:spPr>
        <p:txBody>
          <a:bodyPr wrap="square" lIns="0" tIns="0" rIns="0" bIns="0" rtlCol="0" anchor="b"/>
          <a:lstStyle/>
          <a:p>
            <a:pPr algn="ctr" indent="0" marL="0">
              <a:buNone/>
            </a:pPr>
            <a:r>
              <a:rPr lang="en-US" sz="1400" b="1" dirty="0">
                <a:solidFill>
                  <a:srgbClr val="5C6B7A"/>
                </a:solidFill>
                <a:latin typeface="Calibri" pitchFamily="34" charset="0"/>
                <a:ea typeface="Calibri" pitchFamily="34" charset="-122"/>
                <a:cs typeface="Calibri" pitchFamily="34" charset="-120"/>
              </a:rPr>
              <a:t>Fine — reference</a:t>
            </a:r>
            <a:endParaRPr lang="en-US" sz="1400" dirty="0"/>
          </a:p>
          <a:p>
            <a:pPr algn="ctr" indent="0" marL="0">
              <a:buNone/>
            </a:pPr>
            <a:r>
              <a:rPr lang="en-US" sz="1400" dirty="0">
                <a:solidFill>
                  <a:srgbClr val="243447"/>
                </a:solidFill>
                <a:latin typeface="Calibri" pitchFamily="34" charset="0"/>
                <a:ea typeface="Calibri" pitchFamily="34" charset="-122"/>
                <a:cs typeface="Calibri" pitchFamily="34" charset="-120"/>
              </a:rPr>
              <a:t>500,580 cells</a:t>
            </a:r>
            <a:endParaRPr lang="en-US" sz="1400" dirty="0"/>
          </a:p>
        </p:txBody>
      </p:sp>
      <p:sp>
        <p:nvSpPr>
          <p:cNvPr id="9" name="Text 6"/>
          <p:cNvSpPr txBox="1"/>
          <p:nvPr/>
        </p:nvSpPr>
        <p:spPr>
          <a:xfrm>
            <a:off x="457200" y="4280312"/>
            <a:ext cx="7406640" cy="274320"/>
          </a:xfrm>
          <a:prstGeom prst="rect">
            <a:avLst/>
          </a:prstGeom>
          <a:noFill/>
          <a:ln/>
        </p:spPr>
        <p:txBody>
          <a:bodyPr wrap="square" lIns="0" tIns="0" rIns="0" bIns="0" rtlCol="0" anchor="t"/>
          <a:lstStyle/>
          <a:p>
            <a:pPr algn="l" indent="0" marL="0">
              <a:buNone/>
            </a:pPr>
            <a:r>
              <a:rPr lang="en-US" sz="1100" i="1" dirty="0">
                <a:solidFill>
                  <a:srgbClr val="6B7C93"/>
                </a:solidFill>
                <a:latin typeface="Calibri" pitchFamily="34" charset="0"/>
                <a:ea typeface="Calibri" pitchFamily="34" charset="-122"/>
                <a:cs typeface="Calibri" pitchFamily="34" charset="-120"/>
              </a:rPr>
              <a:t>CFD mesh cross-sections (fluid core, graded near-wall layers, solid wall); axes in mm</a:t>
            </a:r>
            <a:endParaRPr lang="en-US" sz="1100" dirty="0"/>
          </a:p>
        </p:txBody>
      </p:sp>
      <p:sp>
        <p:nvSpPr>
          <p:cNvPr id="10" name="Shape 7"/>
          <p:cNvSpPr/>
          <p:nvPr/>
        </p:nvSpPr>
        <p:spPr>
          <a:xfrm>
            <a:off x="457200" y="4526280"/>
            <a:ext cx="7406640" cy="1737360"/>
          </a:xfrm>
          <a:prstGeom prst="roundRect">
            <a:avLst>
              <a:gd name="adj" fmla="val 4211"/>
            </a:avLst>
          </a:prstGeom>
          <a:solidFill>
            <a:srgbClr val="EEF3F8"/>
          </a:solidFill>
          <a:ln/>
        </p:spPr>
      </p:sp>
      <p:sp>
        <p:nvSpPr>
          <p:cNvPr id="11" name="Text 8"/>
          <p:cNvSpPr txBox="1"/>
          <p:nvPr/>
        </p:nvSpPr>
        <p:spPr>
          <a:xfrm>
            <a:off x="685800" y="4590288"/>
            <a:ext cx="365760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Why the medium mesh</a:t>
            </a:r>
            <a:endParaRPr lang="en-US" sz="1600" dirty="0"/>
          </a:p>
        </p:txBody>
      </p:sp>
      <p:sp>
        <p:nvSpPr>
          <p:cNvPr id="12" name="Text 9"/>
          <p:cNvSpPr txBox="1"/>
          <p:nvPr/>
        </p:nvSpPr>
        <p:spPr>
          <a:xfrm>
            <a:off x="685800" y="4956048"/>
            <a:ext cx="6995160" cy="1261872"/>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rgbClr val="243447"/>
                </a:solidFill>
                <a:latin typeface="Calibri" pitchFamily="34" charset="0"/>
                <a:ea typeface="Calibri" pitchFamily="34" charset="-122"/>
                <a:cs typeface="Calibri" pitchFamily="34" charset="-120"/>
              </a:rPr>
              <a:t>Medium → fine: Δp +0.23 %, maximum solid temperature −1.75 K</a:t>
            </a:r>
            <a:endParaRPr lang="en-US" sz="1400" dirty="0"/>
          </a:p>
          <a:p>
            <a:pPr marL="342900" indent="-342900">
              <a:spcAft>
                <a:spcPts val="200"/>
              </a:spcAft>
              <a:buSzPct val="100000"/>
              <a:buChar char="•"/>
            </a:pPr>
            <a:r>
              <a:rPr lang="en-US" sz="1400" dirty="0">
                <a:solidFill>
                  <a:srgbClr val="243447"/>
                </a:solidFill>
                <a:latin typeface="Calibri" pitchFamily="34" charset="0"/>
                <a:ea typeface="Calibri" pitchFamily="34" charset="-122"/>
                <a:cs typeface="Calibri" pitchFamily="34" charset="-120"/>
              </a:rPr>
              <a:t>Medium is 4.4 K above the Richardson-extrapolated 558.13 K: small and conservative</a:t>
            </a:r>
            <a:endParaRPr lang="en-US" sz="1400" dirty="0"/>
          </a:p>
          <a:p>
            <a:pPr marL="342900" indent="-342900">
              <a:spcAft>
                <a:spcPts val="200"/>
              </a:spcAft>
              <a:buSzPct val="100000"/>
              <a:buChar char="•"/>
            </a:pPr>
            <a:r>
              <a:rPr lang="en-US" sz="1400" dirty="0">
                <a:solidFill>
                  <a:srgbClr val="243447"/>
                </a:solidFill>
                <a:latin typeface="Calibri" pitchFamily="34" charset="0"/>
                <a:ea typeface="Calibri" pitchFamily="34" charset="-122"/>
                <a:cs typeface="Calibri" pitchFamily="34" charset="-120"/>
              </a:rPr>
              <a:t>Approximately convergent (apparent order 1.2–1.6); strict mesh independence not claimed</a:t>
            </a:r>
            <a:endParaRPr lang="en-US" sz="1400" dirty="0"/>
          </a:p>
          <a:p>
            <a:pPr marL="342900" indent="-342900">
              <a:spcAft>
                <a:spcPts val="200"/>
              </a:spcAft>
              <a:buSzPct val="100000"/>
              <a:buChar char="•"/>
            </a:pPr>
            <a:r>
              <a:rPr lang="en-US" sz="1400" dirty="0">
                <a:solidFill>
                  <a:srgbClr val="243447"/>
                </a:solidFill>
                <a:latin typeface="Calibri" pitchFamily="34" charset="0"/>
                <a:ea typeface="Calibri" pitchFamily="34" charset="-122"/>
                <a:cs typeface="Calibri" pitchFamily="34" charset="-120"/>
              </a:rPr>
              <a:t>Fine solid would need ≈157 k structural nodes, beyond the 128,000-node licence limit</a:t>
            </a:r>
            <a:endParaRPr lang="en-US" sz="1400" dirty="0"/>
          </a:p>
        </p:txBody>
      </p:sp>
      <p:pic>
        <p:nvPicPr>
          <p:cNvPr id="13" name="Image 1" descr="/mnt/attach/outputs/S10C1/14_Presentation/Figures/convergence_residuals.png">    </p:cNvPr>
          <p:cNvPicPr>
            <a:picLocks noChangeAspect="1"/>
          </p:cNvPicPr>
          <p:nvPr/>
        </p:nvPicPr>
        <p:blipFill>
          <a:blip r:embed="rId2"/>
          <a:stretch>
            <a:fillRect/>
          </a:stretch>
        </p:blipFill>
        <p:spPr>
          <a:xfrm>
            <a:off x="8183880" y="1371600"/>
            <a:ext cx="3547872" cy="3532775"/>
          </a:xfrm>
          <a:prstGeom prst="rect">
            <a:avLst/>
          </a:prstGeom>
        </p:spPr>
      </p:pic>
      <p:sp>
        <p:nvSpPr>
          <p:cNvPr id="14" name="Shape 10"/>
          <p:cNvSpPr/>
          <p:nvPr/>
        </p:nvSpPr>
        <p:spPr>
          <a:xfrm>
            <a:off x="8183880" y="5014103"/>
            <a:ext cx="3547872" cy="1249537"/>
          </a:xfrm>
          <a:prstGeom prst="roundRect">
            <a:avLst>
              <a:gd name="adj" fmla="val 5854"/>
            </a:avLst>
          </a:prstGeom>
          <a:solidFill>
            <a:srgbClr val="EEF3F8"/>
          </a:solidFill>
          <a:ln/>
        </p:spPr>
      </p:sp>
      <p:sp>
        <p:nvSpPr>
          <p:cNvPr id="15" name="Text 11"/>
          <p:cNvSpPr txBox="1"/>
          <p:nvPr/>
        </p:nvSpPr>
        <p:spPr>
          <a:xfrm>
            <a:off x="8366760" y="5068967"/>
            <a:ext cx="3182112" cy="1139809"/>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Baseline run converged</a:t>
            </a:r>
            <a:endParaRPr lang="en-US" sz="1300" dirty="0"/>
          </a:p>
          <a:p>
            <a:pPr indent="0" marL="0">
              <a:buNone/>
            </a:pPr>
            <a:r>
              <a:rPr lang="en-US" sz="1300" dirty="0">
                <a:solidFill>
                  <a:srgbClr val="243447"/>
                </a:solidFill>
                <a:latin typeface="Calibri" pitchFamily="34" charset="0"/>
                <a:ea typeface="Calibri" pitchFamily="34" charset="-122"/>
                <a:cs typeface="Calibri" pitchFamily="34" charset="-120"/>
              </a:rPr>
              <a:t>iteration 600, confirmed at 700</a:t>
            </a:r>
            <a:endParaRPr lang="en-US" sz="1300" dirty="0"/>
          </a:p>
          <a:p>
            <a:pPr indent="0" marL="0">
              <a:buNone/>
            </a:pPr>
            <a:r>
              <a:rPr lang="en-US" sz="1300" dirty="0">
                <a:solidFill>
                  <a:srgbClr val="243447"/>
                </a:solidFill>
                <a:latin typeface="Calibri" pitchFamily="34" charset="0"/>
                <a:ea typeface="Calibri" pitchFamily="34" charset="-122"/>
                <a:cs typeface="Calibri" pitchFamily="34" charset="-120"/>
              </a:rPr>
              <a:t>mass imbalance 7.0 × 10⁻¹³ %</a:t>
            </a:r>
            <a:endParaRPr lang="en-US" sz="1300" dirty="0"/>
          </a:p>
          <a:p>
            <a:pPr indent="0" marL="0">
              <a:buNone/>
            </a:pPr>
            <a:r>
              <a:rPr lang="en-US" sz="1300" dirty="0">
                <a:solidFill>
                  <a:srgbClr val="243447"/>
                </a:solidFill>
                <a:latin typeface="Calibri" pitchFamily="34" charset="0"/>
                <a:ea typeface="Calibri" pitchFamily="34" charset="-122"/>
                <a:cs typeface="Calibri" pitchFamily="34" charset="-120"/>
              </a:rPr>
              <a:t>energy imbalance 3.1 × 10⁻¹¹ %</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Baseline CFD Results</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The air film carries most of the thermal resistance: the wall runs far hotter than the air</a:t>
            </a:r>
            <a:endParaRPr lang="en-US" sz="1600" dirty="0"/>
          </a:p>
        </p:txBody>
      </p:sp>
      <p:sp>
        <p:nvSpPr>
          <p:cNvPr id="5" name="Shape 3"/>
          <p:cNvSpPr/>
          <p:nvPr/>
        </p:nvSpPr>
        <p:spPr>
          <a:xfrm>
            <a:off x="457200" y="1417320"/>
            <a:ext cx="2697480" cy="1097280"/>
          </a:xfrm>
          <a:prstGeom prst="roundRect">
            <a:avLst>
              <a:gd name="adj" fmla="val 6667"/>
            </a:avLst>
          </a:prstGeom>
          <a:solidFill>
            <a:srgbClr val="EEF3F8"/>
          </a:solidFill>
          <a:ln/>
        </p:spPr>
      </p:sp>
      <p:sp>
        <p:nvSpPr>
          <p:cNvPr id="6" name="Text 4"/>
          <p:cNvSpPr txBox="1"/>
          <p:nvPr/>
        </p:nvSpPr>
        <p:spPr>
          <a:xfrm>
            <a:off x="594360" y="1490472"/>
            <a:ext cx="2423160" cy="548640"/>
          </a:xfrm>
          <a:prstGeom prst="rect">
            <a:avLst/>
          </a:prstGeom>
          <a:noFill/>
          <a:ln/>
        </p:spPr>
        <p:txBody>
          <a:bodyPr wrap="square" lIns="0" tIns="0" rIns="0" bIns="0" rtlCol="0" anchor="b"/>
          <a:lstStyle/>
          <a:p>
            <a:pPr indent="0" marL="0">
              <a:buNone/>
            </a:pPr>
            <a:r>
              <a:rPr lang="en-US" sz="2600" b="1" dirty="0">
                <a:solidFill>
                  <a:srgbClr val="2F5D8A"/>
                </a:solidFill>
                <a:latin typeface="Calibri" pitchFamily="34" charset="0"/>
                <a:ea typeface="Calibri" pitchFamily="34" charset="-122"/>
                <a:cs typeface="Calibri" pitchFamily="34" charset="-120"/>
              </a:rPr>
              <a:t>438.13</a:t>
            </a:r>
            <a:pPr indent="0" marL="0">
              <a:buNone/>
            </a:pPr>
            <a:r>
              <a:rPr lang="en-US" sz="1500" b="1" dirty="0">
                <a:solidFill>
                  <a:srgbClr val="2F5D8A"/>
                </a:solidFill>
                <a:latin typeface="Calibri" pitchFamily="34" charset="0"/>
                <a:ea typeface="Calibri" pitchFamily="34" charset="-122"/>
                <a:cs typeface="Calibri" pitchFamily="34" charset="-120"/>
              </a:rPr>
              <a:t>  Pa</a:t>
            </a:r>
            <a:endParaRPr lang="en-US" sz="2600" dirty="0"/>
          </a:p>
        </p:txBody>
      </p:sp>
      <p:sp>
        <p:nvSpPr>
          <p:cNvPr id="7" name="Text 5"/>
          <p:cNvSpPr txBox="1"/>
          <p:nvPr/>
        </p:nvSpPr>
        <p:spPr>
          <a:xfrm>
            <a:off x="594360" y="2020824"/>
            <a:ext cx="2423160" cy="263347"/>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Pressure drop</a:t>
            </a:r>
            <a:endParaRPr lang="en-US" sz="1300" dirty="0"/>
          </a:p>
        </p:txBody>
      </p:sp>
      <p:sp>
        <p:nvSpPr>
          <p:cNvPr id="8" name="Text 6"/>
          <p:cNvSpPr txBox="1"/>
          <p:nvPr/>
        </p:nvSpPr>
        <p:spPr>
          <a:xfrm>
            <a:off x="594360" y="2262226"/>
            <a:ext cx="2423160" cy="219456"/>
          </a:xfrm>
          <a:prstGeom prst="rect">
            <a:avLst/>
          </a:prstGeom>
          <a:noFill/>
          <a:ln/>
        </p:spPr>
        <p:txBody>
          <a:bodyPr wrap="square" lIns="0" tIns="0" rIns="0" bIns="0" rtlCol="0" anchor="t"/>
          <a:lstStyle/>
          <a:p>
            <a:pPr indent="0" marL="0">
              <a:buNone/>
            </a:pPr>
            <a:r>
              <a:rPr lang="en-US" sz="1100" dirty="0">
                <a:solidFill>
                  <a:srgbClr val="6B7C93"/>
                </a:solidFill>
                <a:latin typeface="Calibri" pitchFamily="34" charset="0"/>
                <a:ea typeface="Calibri" pitchFamily="34" charset="-122"/>
                <a:cs typeface="Calibri" pitchFamily="34" charset="-120"/>
              </a:rPr>
              <a:t>inlet – outlet, area-weighted</a:t>
            </a:r>
            <a:endParaRPr lang="en-US" sz="1100" dirty="0"/>
          </a:p>
        </p:txBody>
      </p:sp>
      <p:sp>
        <p:nvSpPr>
          <p:cNvPr id="9" name="Shape 7"/>
          <p:cNvSpPr/>
          <p:nvPr/>
        </p:nvSpPr>
        <p:spPr>
          <a:xfrm>
            <a:off x="3319272" y="1417320"/>
            <a:ext cx="2697480" cy="1097280"/>
          </a:xfrm>
          <a:prstGeom prst="roundRect">
            <a:avLst>
              <a:gd name="adj" fmla="val 6667"/>
            </a:avLst>
          </a:prstGeom>
          <a:solidFill>
            <a:srgbClr val="EEF3F8"/>
          </a:solidFill>
          <a:ln/>
        </p:spPr>
      </p:sp>
      <p:sp>
        <p:nvSpPr>
          <p:cNvPr id="10" name="Text 8"/>
          <p:cNvSpPr txBox="1"/>
          <p:nvPr/>
        </p:nvSpPr>
        <p:spPr>
          <a:xfrm>
            <a:off x="3456432" y="1490472"/>
            <a:ext cx="2423160" cy="548640"/>
          </a:xfrm>
          <a:prstGeom prst="rect">
            <a:avLst/>
          </a:prstGeom>
          <a:noFill/>
          <a:ln/>
        </p:spPr>
        <p:txBody>
          <a:bodyPr wrap="square" lIns="0" tIns="0" rIns="0" bIns="0" rtlCol="0" anchor="b"/>
          <a:lstStyle/>
          <a:p>
            <a:pPr indent="0" marL="0">
              <a:buNone/>
            </a:pPr>
            <a:r>
              <a:rPr lang="en-US" sz="2600" b="1" dirty="0">
                <a:solidFill>
                  <a:srgbClr val="2F5D8A"/>
                </a:solidFill>
                <a:latin typeface="Calibri" pitchFamily="34" charset="0"/>
                <a:ea typeface="Calibri" pitchFamily="34" charset="-122"/>
                <a:cs typeface="Calibri" pitchFamily="34" charset="-120"/>
              </a:rPr>
              <a:t>368.93</a:t>
            </a:r>
            <a:pPr indent="0" marL="0">
              <a:buNone/>
            </a:pPr>
            <a:r>
              <a:rPr lang="en-US" sz="1500" b="1" dirty="0">
                <a:solidFill>
                  <a:srgbClr val="2F5D8A"/>
                </a:solidFill>
                <a:latin typeface="Calibri" pitchFamily="34" charset="0"/>
                <a:ea typeface="Calibri" pitchFamily="34" charset="-122"/>
                <a:cs typeface="Calibri" pitchFamily="34" charset="-120"/>
              </a:rPr>
              <a:t>  K</a:t>
            </a:r>
            <a:endParaRPr lang="en-US" sz="2600" dirty="0"/>
          </a:p>
        </p:txBody>
      </p:sp>
      <p:sp>
        <p:nvSpPr>
          <p:cNvPr id="11" name="Text 9"/>
          <p:cNvSpPr txBox="1"/>
          <p:nvPr/>
        </p:nvSpPr>
        <p:spPr>
          <a:xfrm>
            <a:off x="3456432" y="2020824"/>
            <a:ext cx="2423160" cy="263347"/>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Outlet bulk temperature</a:t>
            </a:r>
            <a:endParaRPr lang="en-US" sz="1300" dirty="0"/>
          </a:p>
        </p:txBody>
      </p:sp>
      <p:sp>
        <p:nvSpPr>
          <p:cNvPr id="12" name="Text 10"/>
          <p:cNvSpPr txBox="1"/>
          <p:nvPr/>
        </p:nvSpPr>
        <p:spPr>
          <a:xfrm>
            <a:off x="3456432" y="2262226"/>
            <a:ext cx="2423160" cy="219456"/>
          </a:xfrm>
          <a:prstGeom prst="rect">
            <a:avLst/>
          </a:prstGeom>
          <a:noFill/>
          <a:ln/>
        </p:spPr>
        <p:txBody>
          <a:bodyPr wrap="square" lIns="0" tIns="0" rIns="0" bIns="0" rtlCol="0" anchor="t"/>
          <a:lstStyle/>
          <a:p>
            <a:pPr indent="0" marL="0">
              <a:buNone/>
            </a:pPr>
            <a:r>
              <a:rPr lang="en-US" sz="1100" dirty="0">
                <a:solidFill>
                  <a:srgbClr val="6B7C93"/>
                </a:solidFill>
                <a:latin typeface="Calibri" pitchFamily="34" charset="0"/>
                <a:ea typeface="Calibri" pitchFamily="34" charset="-122"/>
                <a:cs typeface="Calibri" pitchFamily="34" charset="-120"/>
              </a:rPr>
              <a:t>mass-weighted</a:t>
            </a:r>
            <a:endParaRPr lang="en-US" sz="1100" dirty="0"/>
          </a:p>
        </p:txBody>
      </p:sp>
      <p:sp>
        <p:nvSpPr>
          <p:cNvPr id="13" name="Shape 11"/>
          <p:cNvSpPr/>
          <p:nvPr/>
        </p:nvSpPr>
        <p:spPr>
          <a:xfrm>
            <a:off x="6181344" y="1417320"/>
            <a:ext cx="2697480" cy="1097280"/>
          </a:xfrm>
          <a:prstGeom prst="roundRect">
            <a:avLst>
              <a:gd name="adj" fmla="val 6667"/>
            </a:avLst>
          </a:prstGeom>
          <a:solidFill>
            <a:srgbClr val="EEF3F8"/>
          </a:solidFill>
          <a:ln/>
        </p:spPr>
      </p:sp>
      <p:sp>
        <p:nvSpPr>
          <p:cNvPr id="14" name="Text 12"/>
          <p:cNvSpPr txBox="1"/>
          <p:nvPr/>
        </p:nvSpPr>
        <p:spPr>
          <a:xfrm>
            <a:off x="6318504" y="1490472"/>
            <a:ext cx="2423160" cy="548640"/>
          </a:xfrm>
          <a:prstGeom prst="rect">
            <a:avLst/>
          </a:prstGeom>
          <a:noFill/>
          <a:ln/>
        </p:spPr>
        <p:txBody>
          <a:bodyPr wrap="square" lIns="0" tIns="0" rIns="0" bIns="0" rtlCol="0" anchor="b"/>
          <a:lstStyle/>
          <a:p>
            <a:pPr indent="0" marL="0">
              <a:buNone/>
            </a:pPr>
            <a:r>
              <a:rPr lang="en-US" sz="2600" b="1" dirty="0">
                <a:solidFill>
                  <a:srgbClr val="2F5D8A"/>
                </a:solidFill>
                <a:latin typeface="Calibri" pitchFamily="34" charset="0"/>
                <a:ea typeface="Calibri" pitchFamily="34" charset="-122"/>
                <a:cs typeface="Calibri" pitchFamily="34" charset="-120"/>
              </a:rPr>
              <a:t>602.755</a:t>
            </a:r>
            <a:pPr indent="0" marL="0">
              <a:buNone/>
            </a:pPr>
            <a:r>
              <a:rPr lang="en-US" sz="1500" b="1" dirty="0">
                <a:solidFill>
                  <a:srgbClr val="2F5D8A"/>
                </a:solidFill>
                <a:latin typeface="Calibri" pitchFamily="34" charset="0"/>
                <a:ea typeface="Calibri" pitchFamily="34" charset="-122"/>
                <a:cs typeface="Calibri" pitchFamily="34" charset="-120"/>
              </a:rPr>
              <a:t>  W</a:t>
            </a:r>
            <a:endParaRPr lang="en-US" sz="2600" dirty="0"/>
          </a:p>
        </p:txBody>
      </p:sp>
      <p:sp>
        <p:nvSpPr>
          <p:cNvPr id="15" name="Text 13"/>
          <p:cNvSpPr txBox="1"/>
          <p:nvPr/>
        </p:nvSpPr>
        <p:spPr>
          <a:xfrm>
            <a:off x="6318504" y="2020824"/>
            <a:ext cx="2423160" cy="263347"/>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Heat-transfer rate</a:t>
            </a:r>
            <a:endParaRPr lang="en-US" sz="1300" dirty="0"/>
          </a:p>
        </p:txBody>
      </p:sp>
      <p:sp>
        <p:nvSpPr>
          <p:cNvPr id="16" name="Text 14"/>
          <p:cNvSpPr txBox="1"/>
          <p:nvPr/>
        </p:nvSpPr>
        <p:spPr>
          <a:xfrm>
            <a:off x="6318504" y="2262226"/>
            <a:ext cx="2423160" cy="219456"/>
          </a:xfrm>
          <a:prstGeom prst="rect">
            <a:avLst/>
          </a:prstGeom>
          <a:noFill/>
          <a:ln/>
        </p:spPr>
        <p:txBody>
          <a:bodyPr wrap="square" lIns="0" tIns="0" rIns="0" bIns="0" rtlCol="0" anchor="t"/>
          <a:lstStyle/>
          <a:p>
            <a:pPr indent="0" marL="0">
              <a:buNone/>
            </a:pPr>
            <a:r>
              <a:rPr lang="en-US" sz="1100" dirty="0">
                <a:solidFill>
                  <a:srgbClr val="6B7C93"/>
                </a:solidFill>
                <a:latin typeface="Calibri" pitchFamily="34" charset="0"/>
                <a:ea typeface="Calibri" pitchFamily="34" charset="-122"/>
                <a:cs typeface="Calibri" pitchFamily="34" charset="-120"/>
              </a:rPr>
              <a:t>through the heated wall</a:t>
            </a:r>
            <a:endParaRPr lang="en-US" sz="1100" dirty="0"/>
          </a:p>
        </p:txBody>
      </p:sp>
      <p:sp>
        <p:nvSpPr>
          <p:cNvPr id="17" name="Shape 15"/>
          <p:cNvSpPr/>
          <p:nvPr/>
        </p:nvSpPr>
        <p:spPr>
          <a:xfrm>
            <a:off x="9043416" y="1417320"/>
            <a:ext cx="2697480" cy="1097280"/>
          </a:xfrm>
          <a:prstGeom prst="roundRect">
            <a:avLst>
              <a:gd name="adj" fmla="val 6667"/>
            </a:avLst>
          </a:prstGeom>
          <a:solidFill>
            <a:srgbClr val="EEF3F8"/>
          </a:solidFill>
          <a:ln/>
        </p:spPr>
      </p:sp>
      <p:sp>
        <p:nvSpPr>
          <p:cNvPr id="18" name="Text 16"/>
          <p:cNvSpPr txBox="1"/>
          <p:nvPr/>
        </p:nvSpPr>
        <p:spPr>
          <a:xfrm>
            <a:off x="9180576" y="1490472"/>
            <a:ext cx="2423160" cy="548640"/>
          </a:xfrm>
          <a:prstGeom prst="rect">
            <a:avLst/>
          </a:prstGeom>
          <a:noFill/>
          <a:ln/>
        </p:spPr>
        <p:txBody>
          <a:bodyPr wrap="square" lIns="0" tIns="0" rIns="0" bIns="0" rtlCol="0" anchor="b"/>
          <a:lstStyle/>
          <a:p>
            <a:pPr indent="0" marL="0">
              <a:buNone/>
            </a:pPr>
            <a:r>
              <a:rPr lang="en-US" sz="2600" b="1" dirty="0">
                <a:solidFill>
                  <a:srgbClr val="D9480F"/>
                </a:solidFill>
                <a:latin typeface="Calibri" pitchFamily="34" charset="0"/>
                <a:ea typeface="Calibri" pitchFamily="34" charset="-122"/>
                <a:cs typeface="Calibri" pitchFamily="34" charset="-120"/>
              </a:rPr>
              <a:t>562.58</a:t>
            </a:r>
            <a:pPr indent="0" marL="0">
              <a:buNone/>
            </a:pPr>
            <a:r>
              <a:rPr lang="en-US" sz="1500" b="1" dirty="0">
                <a:solidFill>
                  <a:srgbClr val="D9480F"/>
                </a:solidFill>
                <a:latin typeface="Calibri" pitchFamily="34" charset="0"/>
                <a:ea typeface="Calibri" pitchFamily="34" charset="-122"/>
                <a:cs typeface="Calibri" pitchFamily="34" charset="-120"/>
              </a:rPr>
              <a:t>  K</a:t>
            </a:r>
            <a:endParaRPr lang="en-US" sz="2600" dirty="0"/>
          </a:p>
        </p:txBody>
      </p:sp>
      <p:sp>
        <p:nvSpPr>
          <p:cNvPr id="19" name="Text 17"/>
          <p:cNvSpPr txBox="1"/>
          <p:nvPr/>
        </p:nvSpPr>
        <p:spPr>
          <a:xfrm>
            <a:off x="9180576" y="2020824"/>
            <a:ext cx="2423160" cy="263347"/>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Maximum solid temperature</a:t>
            </a:r>
            <a:endParaRPr lang="en-US" sz="1300" dirty="0"/>
          </a:p>
        </p:txBody>
      </p:sp>
      <p:sp>
        <p:nvSpPr>
          <p:cNvPr id="20" name="Text 18"/>
          <p:cNvSpPr txBox="1"/>
          <p:nvPr/>
        </p:nvSpPr>
        <p:spPr>
          <a:xfrm>
            <a:off x="9180576" y="2262226"/>
            <a:ext cx="2423160" cy="219456"/>
          </a:xfrm>
          <a:prstGeom prst="rect">
            <a:avLst/>
          </a:prstGeom>
          <a:noFill/>
          <a:ln/>
        </p:spPr>
        <p:txBody>
          <a:bodyPr wrap="square" lIns="0" tIns="0" rIns="0" bIns="0" rtlCol="0" anchor="t"/>
          <a:lstStyle/>
          <a:p>
            <a:pPr indent="0" marL="0">
              <a:buNone/>
            </a:pPr>
            <a:r>
              <a:rPr lang="en-US" sz="1100" dirty="0">
                <a:solidFill>
                  <a:srgbClr val="6B7C93"/>
                </a:solidFill>
                <a:latin typeface="Calibri" pitchFamily="34" charset="0"/>
                <a:ea typeface="Calibri" pitchFamily="34" charset="-122"/>
                <a:cs typeface="Calibri" pitchFamily="34" charset="-120"/>
              </a:rPr>
              <a:t>outer wall, outlet end</a:t>
            </a:r>
            <a:endParaRPr lang="en-US" sz="1100" dirty="0"/>
          </a:p>
        </p:txBody>
      </p:sp>
      <p:graphicFrame>
        <p:nvGraphicFramePr>
          <p:cNvPr id="21" name="Chart 0" descr=""/>
          <p:cNvGraphicFramePr/>
          <p:nvPr/>
        </p:nvGraphicFramePr>
        <p:xfrm>
          <a:off x="457200" y="2697480"/>
          <a:ext cx="36576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Chart 1" descr=""/>
          <p:cNvGraphicFramePr/>
          <p:nvPr/>
        </p:nvGraphicFramePr>
        <p:xfrm>
          <a:off x="4251960" y="2697480"/>
          <a:ext cx="3657600" cy="3566160"/>
        </p:xfrm>
        <a:graphic xmlns:a="http://schemas.openxmlformats.org/drawingml/2006/main">
          <a:graphicData uri="http://schemas.openxmlformats.org/drawingml/2006/chart">
            <c:chart xmlns:c="http://schemas.openxmlformats.org/drawingml/2006/chart" r:id="rId2"/>
          </a:graphicData>
        </a:graphic>
      </p:graphicFrame>
      <p:graphicFrame>
        <p:nvGraphicFramePr>
          <p:cNvPr id="23" name="Chart 2" descr=""/>
          <p:cNvGraphicFramePr/>
          <p:nvPr/>
        </p:nvGraphicFramePr>
        <p:xfrm>
          <a:off x="8046720" y="2697480"/>
          <a:ext cx="3657600" cy="356616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CFD Verification: Analytical vs CFD</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Two independent models of the same duct — the differences are explained, not tuned away</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7295" cy="914400"/>
        </p:xfrm>
        <a:graphic>
          <a:graphicData uri="http://schemas.openxmlformats.org/drawingml/2006/table">
            <a:tbl>
              <a:tblPr/>
              <a:tblGrid>
                <a:gridCol w="2697480"/>
                <a:gridCol w="1920240"/>
                <a:gridCol w="1828800"/>
                <a:gridCol w="1188720"/>
                <a:gridCol w="3639312"/>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Quantity</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Analytical (Section 2)</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CFD (medium mesh)</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Difference</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Main reason</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4213D"/>
                    </a:solidFill>
                  </a:tcPr>
                </a:tc>
              </a:tr>
              <a:tr h="512064">
                <a:tc>
                  <a:txBody>
                    <a:bodyPr/>
                    <a:lstStyle/>
                    <a:p>
                      <a:pPr algn="l" indent="0" marL="0">
                        <a:buNone/>
                      </a:pPr>
                      <a:r>
                        <a:rPr lang="en-US" sz="1400" b="1" dirty="0">
                          <a:solidFill>
                            <a:srgbClr val="243447"/>
                          </a:solidFill>
                          <a:latin typeface="Calibri" pitchFamily="34" charset="0"/>
                          <a:ea typeface="Calibri" pitchFamily="34" charset="-122"/>
                          <a:cs typeface="Calibri" pitchFamily="34" charset="-120"/>
                        </a:rPr>
                        <a:t>Inlet Reynolds number</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29,957</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29,958</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b="1" dirty="0">
                          <a:solidFill>
                            <a:srgbClr val="D9480F"/>
                          </a:solidFill>
                          <a:latin typeface="Calibri" pitchFamily="34" charset="0"/>
                          <a:ea typeface="Calibri" pitchFamily="34" charset="-122"/>
                          <a:cs typeface="Calibri" pitchFamily="34" charset="-120"/>
                        </a:rPr>
                        <a:t>&lt; 0.01 %</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l" indent="0" marL="0">
                        <a:buNone/>
                      </a:pPr>
                      <a:r>
                        <a:rPr lang="en-US" sz="1400" dirty="0">
                          <a:solidFill>
                            <a:srgbClr val="243447"/>
                          </a:solidFill>
                          <a:latin typeface="Calibri" pitchFamily="34" charset="0"/>
                          <a:ea typeface="Calibri" pitchFamily="34" charset="-122"/>
                          <a:cs typeface="Calibri" pitchFamily="34" charset="-120"/>
                        </a:rPr>
                        <a:t>same mass flux and inlet state</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r>
              <a:tr h="512064">
                <a:tc>
                  <a:txBody>
                    <a:bodyPr/>
                    <a:lstStyle/>
                    <a:p>
                      <a:pPr algn="l" indent="0" marL="0">
                        <a:buNone/>
                      </a:pPr>
                      <a:r>
                        <a:rPr lang="en-US" sz="1400" b="1" dirty="0">
                          <a:solidFill>
                            <a:srgbClr val="243447"/>
                          </a:solidFill>
                          <a:latin typeface="Calibri" pitchFamily="34" charset="0"/>
                          <a:ea typeface="Calibri" pitchFamily="34" charset="-122"/>
                          <a:cs typeface="Calibri" pitchFamily="34" charset="-120"/>
                        </a:rPr>
                        <a:t>Pressure drop [Pa]</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441.53</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438.13</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480F"/>
                          </a:solidFill>
                          <a:latin typeface="Calibri" pitchFamily="34" charset="0"/>
                          <a:ea typeface="Calibri" pitchFamily="34" charset="-122"/>
                          <a:cs typeface="Calibri" pitchFamily="34" charset="-120"/>
                        </a:rPr>
                        <a:t>−0.77 %</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43447"/>
                          </a:solidFill>
                          <a:latin typeface="Calibri" pitchFamily="34" charset="0"/>
                          <a:ea typeface="Calibri" pitchFamily="34" charset="-122"/>
                          <a:cs typeface="Calibri" pitchFamily="34" charset="-120"/>
                        </a:rPr>
                        <a:t>friction lower (gas heating); flow-development term higher</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512064">
                <a:tc>
                  <a:txBody>
                    <a:bodyPr/>
                    <a:lstStyle/>
                    <a:p>
                      <a:pPr algn="l" indent="0" marL="0">
                        <a:buNone/>
                      </a:pPr>
                      <a:r>
                        <a:rPr lang="en-US" sz="1400" b="1" dirty="0">
                          <a:solidFill>
                            <a:srgbClr val="243447"/>
                          </a:solidFill>
                          <a:latin typeface="Calibri" pitchFamily="34" charset="0"/>
                          <a:ea typeface="Calibri" pitchFamily="34" charset="-122"/>
                          <a:cs typeface="Calibri" pitchFamily="34" charset="-120"/>
                        </a:rPr>
                        <a:t>Outlet bulk temperature [K]</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368.85</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368.93</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b="1" dirty="0">
                          <a:solidFill>
                            <a:srgbClr val="D9480F"/>
                          </a:solidFill>
                          <a:latin typeface="Calibri" pitchFamily="34" charset="0"/>
                          <a:ea typeface="Calibri" pitchFamily="34" charset="-122"/>
                          <a:cs typeface="Calibri" pitchFamily="34" charset="-120"/>
                        </a:rPr>
                        <a:t>+0.08 K</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l" indent="0" marL="0">
                        <a:buNone/>
                      </a:pPr>
                      <a:r>
                        <a:rPr lang="en-US" sz="1400" dirty="0">
                          <a:solidFill>
                            <a:srgbClr val="243447"/>
                          </a:solidFill>
                          <a:latin typeface="Calibri" pitchFamily="34" charset="0"/>
                          <a:ea typeface="Calibri" pitchFamily="34" charset="-122"/>
                          <a:cs typeface="Calibri" pitchFamily="34" charset="-120"/>
                        </a:rPr>
                        <a:t>faceting of the 48-sided CFD section</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r>
              <a:tr h="512064">
                <a:tc>
                  <a:txBody>
                    <a:bodyPr/>
                    <a:lstStyle/>
                    <a:p>
                      <a:pPr algn="l" indent="0" marL="0">
                        <a:buNone/>
                      </a:pPr>
                      <a:r>
                        <a:rPr lang="en-US" sz="1400" b="1" dirty="0">
                          <a:solidFill>
                            <a:srgbClr val="243447"/>
                          </a:solidFill>
                          <a:latin typeface="Calibri" pitchFamily="34" charset="0"/>
                          <a:ea typeface="Calibri" pitchFamily="34" charset="-122"/>
                          <a:cs typeface="Calibri" pitchFamily="34" charset="-120"/>
                        </a:rPr>
                        <a:t>Heat-transfer rate [W]</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603.186</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602.755</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480F"/>
                          </a:solidFill>
                          <a:latin typeface="Calibri" pitchFamily="34" charset="0"/>
                          <a:ea typeface="Calibri" pitchFamily="34" charset="-122"/>
                          <a:cs typeface="Calibri" pitchFamily="34" charset="-120"/>
                        </a:rPr>
                        <a:t>−0.071 %</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43447"/>
                          </a:solidFill>
                          <a:latin typeface="Calibri" pitchFamily="34" charset="0"/>
                          <a:ea typeface="Calibri" pitchFamily="34" charset="-122"/>
                          <a:cs typeface="Calibri" pitchFamily="34" charset="-120"/>
                        </a:rPr>
                        <a:t>exactly the 48-gon lateral-area ratio</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512064">
                <a:tc>
                  <a:txBody>
                    <a:bodyPr/>
                    <a:lstStyle/>
                    <a:p>
                      <a:pPr algn="l" indent="0" marL="0">
                        <a:buNone/>
                      </a:pPr>
                      <a:r>
                        <a:rPr lang="en-US" sz="1400" b="1" dirty="0">
                          <a:solidFill>
                            <a:srgbClr val="243447"/>
                          </a:solidFill>
                          <a:latin typeface="Calibri" pitchFamily="34" charset="0"/>
                          <a:ea typeface="Calibri" pitchFamily="34" charset="-122"/>
                          <a:cs typeface="Calibri" pitchFamily="34" charset="-120"/>
                        </a:rPr>
                        <a:t>Maximum solid temperature [K]</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581.71</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243447"/>
                          </a:solidFill>
                          <a:latin typeface="Calibri" pitchFamily="34" charset="0"/>
                          <a:ea typeface="Calibri" pitchFamily="34" charset="-122"/>
                          <a:cs typeface="Calibri" pitchFamily="34" charset="-120"/>
                        </a:rPr>
                        <a:t>562.58</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400" b="1" dirty="0">
                          <a:solidFill>
                            <a:srgbClr val="D9480F"/>
                          </a:solidFill>
                          <a:latin typeface="Calibri" pitchFamily="34" charset="0"/>
                          <a:ea typeface="Calibri" pitchFamily="34" charset="-122"/>
                          <a:cs typeface="Calibri" pitchFamily="34" charset="-120"/>
                        </a:rPr>
                        <a:t>−19.1 K</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c>
                  <a:txBody>
                    <a:bodyPr/>
                    <a:lstStyle/>
                    <a:p>
                      <a:pPr algn="l" indent="0" marL="0">
                        <a:buNone/>
                      </a:pPr>
                      <a:r>
                        <a:rPr lang="en-US" sz="1400" dirty="0">
                          <a:solidFill>
                            <a:srgbClr val="243447"/>
                          </a:solidFill>
                          <a:latin typeface="Calibri" pitchFamily="34" charset="0"/>
                          <a:ea typeface="Calibri" pitchFamily="34" charset="-122"/>
                          <a:cs typeface="Calibri" pitchFamily="34" charset="-120"/>
                        </a:rPr>
                        <a:t>higher film coefficient in developing flow (−15.0 K); axial wall conduction (−4.2 K)</a:t>
                      </a:r>
                      <a:endParaRPr lang="en-US" sz="1400" dirty="0">
                        <a:latin typeface="Calibri" charset="0"/>
                        <a:ea typeface="Calibri" charset="0"/>
                        <a:cs typeface="Calibri" charset="0"/>
                      </a:endParaRPr>
                    </a:p>
                  </a:txBody>
                  <a:tcPr marL="91440" marR="91440"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7F9FB"/>
                    </a:solidFill>
                  </a:tcPr>
                </a:tc>
              </a:tr>
            </a:tbl>
          </a:graphicData>
        </a:graphic>
      </p:graphicFrame>
      <p:sp>
        <p:nvSpPr>
          <p:cNvPr id="6" name="Shape 3"/>
          <p:cNvSpPr/>
          <p:nvPr/>
        </p:nvSpPr>
        <p:spPr>
          <a:xfrm>
            <a:off x="457200" y="4754880"/>
            <a:ext cx="2130552" cy="1024128"/>
          </a:xfrm>
          <a:prstGeom prst="roundRect">
            <a:avLst>
              <a:gd name="adj" fmla="val 7143"/>
            </a:avLst>
          </a:prstGeom>
          <a:solidFill>
            <a:srgbClr val="EEF3F8"/>
          </a:solidFill>
          <a:ln/>
        </p:spPr>
      </p:sp>
      <p:sp>
        <p:nvSpPr>
          <p:cNvPr id="7" name="Text 4"/>
          <p:cNvSpPr txBox="1"/>
          <p:nvPr/>
        </p:nvSpPr>
        <p:spPr>
          <a:xfrm>
            <a:off x="566928" y="4809744"/>
            <a:ext cx="1911096" cy="329184"/>
          </a:xfrm>
          <a:prstGeom prst="rect">
            <a:avLst/>
          </a:prstGeom>
          <a:noFill/>
          <a:ln/>
        </p:spPr>
        <p:txBody>
          <a:bodyPr wrap="square" lIns="0" tIns="0" rIns="0" bIns="0" rtlCol="0" anchor="ctr"/>
          <a:lstStyle/>
          <a:p>
            <a:pPr indent="0" marL="0">
              <a:buNone/>
            </a:pPr>
            <a:r>
              <a:rPr lang="en-US" sz="1400" b="1" dirty="0">
                <a:solidFill>
                  <a:srgbClr val="2F5D8A"/>
                </a:solidFill>
                <a:latin typeface="Calibri" pitchFamily="34" charset="0"/>
                <a:ea typeface="Calibri" pitchFamily="34" charset="-122"/>
                <a:cs typeface="Calibri" pitchFamily="34" charset="-120"/>
              </a:rPr>
              <a:t>Correlations</a:t>
            </a:r>
            <a:endParaRPr lang="en-US" sz="1400" dirty="0"/>
          </a:p>
        </p:txBody>
      </p:sp>
      <p:sp>
        <p:nvSpPr>
          <p:cNvPr id="8" name="Text 5"/>
          <p:cNvSpPr txBox="1"/>
          <p:nvPr/>
        </p:nvSpPr>
        <p:spPr>
          <a:xfrm>
            <a:off x="566928" y="5138928"/>
            <a:ext cx="1911096" cy="603504"/>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Gnielinski / Petukhov with a property-ratio correction</a:t>
            </a:r>
            <a:endParaRPr lang="en-US" sz="1200" dirty="0"/>
          </a:p>
        </p:txBody>
      </p:sp>
      <p:sp>
        <p:nvSpPr>
          <p:cNvPr id="9" name="Shape 6"/>
          <p:cNvSpPr/>
          <p:nvPr/>
        </p:nvSpPr>
        <p:spPr>
          <a:xfrm>
            <a:off x="2734056" y="4754880"/>
            <a:ext cx="2130552" cy="1024128"/>
          </a:xfrm>
          <a:prstGeom prst="roundRect">
            <a:avLst>
              <a:gd name="adj" fmla="val 7143"/>
            </a:avLst>
          </a:prstGeom>
          <a:solidFill>
            <a:srgbClr val="EEF3F8"/>
          </a:solidFill>
          <a:ln/>
        </p:spPr>
      </p:sp>
      <p:sp>
        <p:nvSpPr>
          <p:cNvPr id="10" name="Text 7"/>
          <p:cNvSpPr txBox="1"/>
          <p:nvPr/>
        </p:nvSpPr>
        <p:spPr>
          <a:xfrm>
            <a:off x="2843784" y="4809744"/>
            <a:ext cx="1911096" cy="329184"/>
          </a:xfrm>
          <a:prstGeom prst="rect">
            <a:avLst/>
          </a:prstGeom>
          <a:noFill/>
          <a:ln/>
        </p:spPr>
        <p:txBody>
          <a:bodyPr wrap="square" lIns="0" tIns="0" rIns="0" bIns="0" rtlCol="0" anchor="ctr"/>
          <a:lstStyle/>
          <a:p>
            <a:pPr indent="0" marL="0">
              <a:buNone/>
            </a:pPr>
            <a:r>
              <a:rPr lang="en-US" sz="1400" b="1" dirty="0">
                <a:solidFill>
                  <a:srgbClr val="2F5D8A"/>
                </a:solidFill>
                <a:latin typeface="Calibri" pitchFamily="34" charset="0"/>
                <a:ea typeface="Calibri" pitchFamily="34" charset="-122"/>
                <a:cs typeface="Calibri" pitchFamily="34" charset="-120"/>
              </a:rPr>
              <a:t>Property variation</a:t>
            </a:r>
            <a:endParaRPr lang="en-US" sz="1400" dirty="0"/>
          </a:p>
        </p:txBody>
      </p:sp>
      <p:sp>
        <p:nvSpPr>
          <p:cNvPr id="11" name="Text 8"/>
          <p:cNvSpPr txBox="1"/>
          <p:nvPr/>
        </p:nvSpPr>
        <p:spPr>
          <a:xfrm>
            <a:off x="2843784" y="5138928"/>
            <a:ext cx="1911096" cy="603504"/>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gas heating changes density and viscosity along the duct</a:t>
            </a:r>
            <a:endParaRPr lang="en-US" sz="1200" dirty="0"/>
          </a:p>
        </p:txBody>
      </p:sp>
      <p:sp>
        <p:nvSpPr>
          <p:cNvPr id="12" name="Shape 9"/>
          <p:cNvSpPr/>
          <p:nvPr/>
        </p:nvSpPr>
        <p:spPr>
          <a:xfrm>
            <a:off x="5010912" y="4754880"/>
            <a:ext cx="2130552" cy="1024128"/>
          </a:xfrm>
          <a:prstGeom prst="roundRect">
            <a:avLst>
              <a:gd name="adj" fmla="val 7143"/>
            </a:avLst>
          </a:prstGeom>
          <a:solidFill>
            <a:srgbClr val="EEF3F8"/>
          </a:solidFill>
          <a:ln/>
        </p:spPr>
      </p:sp>
      <p:sp>
        <p:nvSpPr>
          <p:cNvPr id="13" name="Text 10"/>
          <p:cNvSpPr txBox="1"/>
          <p:nvPr/>
        </p:nvSpPr>
        <p:spPr>
          <a:xfrm>
            <a:off x="5120640" y="4809744"/>
            <a:ext cx="1911096" cy="329184"/>
          </a:xfrm>
          <a:prstGeom prst="rect">
            <a:avLst/>
          </a:prstGeom>
          <a:noFill/>
          <a:ln/>
        </p:spPr>
        <p:txBody>
          <a:bodyPr wrap="square" lIns="0" tIns="0" rIns="0" bIns="0" rtlCol="0" anchor="ctr"/>
          <a:lstStyle/>
          <a:p>
            <a:pPr indent="0" marL="0">
              <a:buNone/>
            </a:pPr>
            <a:r>
              <a:rPr lang="en-US" sz="1400" b="1" dirty="0">
                <a:solidFill>
                  <a:srgbClr val="2F5D8A"/>
                </a:solidFill>
                <a:latin typeface="Calibri" pitchFamily="34" charset="0"/>
                <a:ea typeface="Calibri" pitchFamily="34" charset="-122"/>
                <a:cs typeface="Calibri" pitchFamily="34" charset="-120"/>
              </a:rPr>
              <a:t>Developing flow</a:t>
            </a:r>
            <a:endParaRPr lang="en-US" sz="1400" dirty="0"/>
          </a:p>
        </p:txBody>
      </p:sp>
      <p:sp>
        <p:nvSpPr>
          <p:cNvPr id="14" name="Text 11"/>
          <p:cNvSpPr txBox="1"/>
          <p:nvPr/>
        </p:nvSpPr>
        <p:spPr>
          <a:xfrm>
            <a:off x="5120640" y="5138928"/>
            <a:ext cx="1911096" cy="603504"/>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thin entrance boundary layer, high local h</a:t>
            </a:r>
            <a:endParaRPr lang="en-US" sz="1200" dirty="0"/>
          </a:p>
        </p:txBody>
      </p:sp>
      <p:sp>
        <p:nvSpPr>
          <p:cNvPr id="15" name="Shape 12"/>
          <p:cNvSpPr/>
          <p:nvPr/>
        </p:nvSpPr>
        <p:spPr>
          <a:xfrm>
            <a:off x="7287768" y="4754880"/>
            <a:ext cx="2130552" cy="1024128"/>
          </a:xfrm>
          <a:prstGeom prst="roundRect">
            <a:avLst>
              <a:gd name="adj" fmla="val 7143"/>
            </a:avLst>
          </a:prstGeom>
          <a:solidFill>
            <a:srgbClr val="EEF3F8"/>
          </a:solidFill>
          <a:ln/>
        </p:spPr>
      </p:sp>
      <p:sp>
        <p:nvSpPr>
          <p:cNvPr id="16" name="Text 13"/>
          <p:cNvSpPr txBox="1"/>
          <p:nvPr/>
        </p:nvSpPr>
        <p:spPr>
          <a:xfrm>
            <a:off x="7397496" y="4809744"/>
            <a:ext cx="1911096" cy="329184"/>
          </a:xfrm>
          <a:prstGeom prst="rect">
            <a:avLst/>
          </a:prstGeom>
          <a:noFill/>
          <a:ln/>
        </p:spPr>
        <p:txBody>
          <a:bodyPr wrap="square" lIns="0" tIns="0" rIns="0" bIns="0" rtlCol="0" anchor="ctr"/>
          <a:lstStyle/>
          <a:p>
            <a:pPr indent="0" marL="0">
              <a:buNone/>
            </a:pPr>
            <a:r>
              <a:rPr lang="en-US" sz="1400" b="1" dirty="0">
                <a:solidFill>
                  <a:srgbClr val="2F5D8A"/>
                </a:solidFill>
                <a:latin typeface="Calibri" pitchFamily="34" charset="0"/>
                <a:ea typeface="Calibri" pitchFamily="34" charset="-122"/>
                <a:cs typeface="Calibri" pitchFamily="34" charset="-120"/>
              </a:rPr>
              <a:t>Conjugate conduction</a:t>
            </a:r>
            <a:endParaRPr lang="en-US" sz="1400" dirty="0"/>
          </a:p>
        </p:txBody>
      </p:sp>
      <p:sp>
        <p:nvSpPr>
          <p:cNvPr id="17" name="Text 14"/>
          <p:cNvSpPr txBox="1"/>
          <p:nvPr/>
        </p:nvSpPr>
        <p:spPr>
          <a:xfrm>
            <a:off x="7397496" y="5138928"/>
            <a:ext cx="1911096" cy="603504"/>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axial heat flow in the wall, absent in 1-D</a:t>
            </a:r>
            <a:endParaRPr lang="en-US" sz="1200" dirty="0"/>
          </a:p>
        </p:txBody>
      </p:sp>
      <p:sp>
        <p:nvSpPr>
          <p:cNvPr id="18" name="Shape 15"/>
          <p:cNvSpPr/>
          <p:nvPr/>
        </p:nvSpPr>
        <p:spPr>
          <a:xfrm>
            <a:off x="9564624" y="4754880"/>
            <a:ext cx="2130552" cy="1024128"/>
          </a:xfrm>
          <a:prstGeom prst="roundRect">
            <a:avLst>
              <a:gd name="adj" fmla="val 7143"/>
            </a:avLst>
          </a:prstGeom>
          <a:solidFill>
            <a:srgbClr val="EEF3F8"/>
          </a:solidFill>
          <a:ln/>
        </p:spPr>
      </p:sp>
      <p:sp>
        <p:nvSpPr>
          <p:cNvPr id="19" name="Text 16"/>
          <p:cNvSpPr txBox="1"/>
          <p:nvPr/>
        </p:nvSpPr>
        <p:spPr>
          <a:xfrm>
            <a:off x="9674352" y="4809744"/>
            <a:ext cx="1911096" cy="329184"/>
          </a:xfrm>
          <a:prstGeom prst="rect">
            <a:avLst/>
          </a:prstGeom>
          <a:noFill/>
          <a:ln/>
        </p:spPr>
        <p:txBody>
          <a:bodyPr wrap="square" lIns="0" tIns="0" rIns="0" bIns="0" rtlCol="0" anchor="ctr"/>
          <a:lstStyle/>
          <a:p>
            <a:pPr indent="0" marL="0">
              <a:buNone/>
            </a:pPr>
            <a:r>
              <a:rPr lang="en-US" sz="1400" b="1" dirty="0">
                <a:solidFill>
                  <a:srgbClr val="2F5D8A"/>
                </a:solidFill>
                <a:latin typeface="Calibri" pitchFamily="34" charset="0"/>
                <a:ea typeface="Calibri" pitchFamily="34" charset="-122"/>
                <a:cs typeface="Calibri" pitchFamily="34" charset="-120"/>
              </a:rPr>
              <a:t>Faceting</a:t>
            </a:r>
            <a:endParaRPr lang="en-US" sz="1400" dirty="0"/>
          </a:p>
        </p:txBody>
      </p:sp>
      <p:sp>
        <p:nvSpPr>
          <p:cNvPr id="20" name="Text 17"/>
          <p:cNvSpPr txBox="1"/>
          <p:nvPr/>
        </p:nvSpPr>
        <p:spPr>
          <a:xfrm>
            <a:off x="9674352" y="5138928"/>
            <a:ext cx="1911096" cy="603504"/>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48-sided CFD section vs true circle</a:t>
            </a:r>
            <a:endParaRPr lang="en-US" sz="1200" dirty="0"/>
          </a:p>
        </p:txBody>
      </p:sp>
      <p:sp>
        <p:nvSpPr>
          <p:cNvPr id="21" name="Text 18"/>
          <p:cNvSpPr txBox="1"/>
          <p:nvPr/>
        </p:nvSpPr>
        <p:spPr>
          <a:xfrm>
            <a:off x="457200" y="5897880"/>
            <a:ext cx="11277295" cy="320040"/>
          </a:xfrm>
          <a:prstGeom prst="rect">
            <a:avLst/>
          </a:prstGeom>
          <a:noFill/>
          <a:ln/>
        </p:spPr>
        <p:txBody>
          <a:bodyPr wrap="square" lIns="0" tIns="0" rIns="0" bIns="0" rtlCol="0" anchor="ctr"/>
          <a:lstStyle/>
          <a:p>
            <a:pPr indent="0" marL="0">
              <a:buNone/>
            </a:pPr>
            <a:r>
              <a:rPr lang="en-US" sz="1400" b="1" dirty="0">
                <a:solidFill>
                  <a:srgbClr val="D9480F"/>
                </a:solidFill>
                <a:latin typeface="Calibri" pitchFamily="34" charset="0"/>
                <a:ea typeface="Calibri" pitchFamily="34" charset="-122"/>
                <a:cs typeface="Calibri" pitchFamily="34" charset="-120"/>
              </a:rPr>
              <a:t>This is verification against an independent model and conservation checks — not experimental validation: no measurements exist.</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Thermal Field to Mechanical</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One-way coupling: the converged solid temperature field becomes the structural load</a:t>
            </a:r>
            <a:endParaRPr lang="en-US" sz="1600" dirty="0"/>
          </a:p>
        </p:txBody>
      </p:sp>
      <p:sp>
        <p:nvSpPr>
          <p:cNvPr id="5" name="Shape 3"/>
          <p:cNvSpPr/>
          <p:nvPr/>
        </p:nvSpPr>
        <p:spPr>
          <a:xfrm>
            <a:off x="457200" y="1463040"/>
            <a:ext cx="3520440" cy="841248"/>
          </a:xfrm>
          <a:prstGeom prst="roundRect">
            <a:avLst>
              <a:gd name="adj" fmla="val 8696"/>
            </a:avLst>
          </a:prstGeom>
          <a:solidFill>
            <a:srgbClr val="2F5D8A"/>
          </a:solidFill>
          <a:ln/>
        </p:spPr>
      </p:sp>
      <p:sp>
        <p:nvSpPr>
          <p:cNvPr id="6" name="Text 4"/>
          <p:cNvSpPr txBox="1"/>
          <p:nvPr/>
        </p:nvSpPr>
        <p:spPr>
          <a:xfrm>
            <a:off x="640080" y="1536192"/>
            <a:ext cx="315468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Fluent temperature field</a:t>
            </a:r>
            <a:endParaRPr lang="en-US" sz="1600" dirty="0"/>
          </a:p>
        </p:txBody>
      </p:sp>
      <p:sp>
        <p:nvSpPr>
          <p:cNvPr id="7" name="Text 5"/>
          <p:cNvSpPr txBox="1"/>
          <p:nvPr/>
        </p:nvSpPr>
        <p:spPr>
          <a:xfrm>
            <a:off x="640080" y="1874520"/>
            <a:ext cx="3154680" cy="365760"/>
          </a:xfrm>
          <a:prstGeom prst="rect">
            <a:avLst/>
          </a:prstGeom>
          <a:noFill/>
          <a:ln/>
        </p:spPr>
        <p:txBody>
          <a:bodyPr wrap="square" lIns="0" tIns="0" rIns="0" bIns="0" rtlCol="0" anchor="t"/>
          <a:lstStyle/>
          <a:p>
            <a:pPr indent="0" marL="0">
              <a:buNone/>
            </a:pPr>
            <a:r>
              <a:rPr lang="en-US" sz="1300" dirty="0">
                <a:solidFill>
                  <a:srgbClr val="E6EEF6"/>
                </a:solidFill>
                <a:latin typeface="Calibri" pitchFamily="34" charset="0"/>
                <a:ea typeface="Calibri" pitchFamily="34" charset="-122"/>
                <a:cs typeface="Calibri" pitchFamily="34" charset="-120"/>
              </a:rPr>
              <a:t>converged CHT solution, medium mesh</a:t>
            </a:r>
            <a:endParaRPr lang="en-US" sz="1300" dirty="0"/>
          </a:p>
        </p:txBody>
      </p:sp>
      <p:sp>
        <p:nvSpPr>
          <p:cNvPr id="8" name="Shape 6"/>
          <p:cNvSpPr/>
          <p:nvPr/>
        </p:nvSpPr>
        <p:spPr>
          <a:xfrm>
            <a:off x="2061972" y="2340864"/>
            <a:ext cx="310896" cy="274320"/>
          </a:xfrm>
          <a:prstGeom prst="downArrow">
            <a:avLst/>
          </a:prstGeom>
          <a:solidFill>
            <a:srgbClr val="9AA5B1"/>
          </a:solidFill>
          <a:ln/>
        </p:spPr>
      </p:sp>
      <p:sp>
        <p:nvSpPr>
          <p:cNvPr id="9" name="Shape 7"/>
          <p:cNvSpPr/>
          <p:nvPr/>
        </p:nvSpPr>
        <p:spPr>
          <a:xfrm>
            <a:off x="457200" y="2651760"/>
            <a:ext cx="3520440" cy="841248"/>
          </a:xfrm>
          <a:prstGeom prst="roundRect">
            <a:avLst>
              <a:gd name="adj" fmla="val 8696"/>
            </a:avLst>
          </a:prstGeom>
          <a:solidFill>
            <a:srgbClr val="EEF3F8"/>
          </a:solidFill>
          <a:ln/>
        </p:spPr>
      </p:sp>
      <p:sp>
        <p:nvSpPr>
          <p:cNvPr id="10" name="Text 8"/>
          <p:cNvSpPr txBox="1"/>
          <p:nvPr/>
        </p:nvSpPr>
        <p:spPr>
          <a:xfrm>
            <a:off x="640080" y="2724912"/>
            <a:ext cx="3154680" cy="347472"/>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Temperature mapping</a:t>
            </a:r>
            <a:endParaRPr lang="en-US" sz="1600" dirty="0"/>
          </a:p>
        </p:txBody>
      </p:sp>
      <p:sp>
        <p:nvSpPr>
          <p:cNvPr id="11" name="Text 9"/>
          <p:cNvSpPr txBox="1"/>
          <p:nvPr/>
        </p:nvSpPr>
        <p:spPr>
          <a:xfrm>
            <a:off x="640080" y="3063240"/>
            <a:ext cx="3154680" cy="365760"/>
          </a:xfrm>
          <a:prstGeom prst="rect">
            <a:avLst/>
          </a:prstGeom>
          <a:noFill/>
          <a:ln/>
        </p:spPr>
        <p:txBody>
          <a:bodyPr wrap="square" lIns="0" tIns="0" rIns="0" bIns="0" rtlCol="0" anchor="t"/>
          <a:lstStyle/>
          <a:p>
            <a:pPr indent="0" marL="0">
              <a:buNone/>
            </a:pPr>
            <a:r>
              <a:rPr lang="en-US" sz="1300" dirty="0">
                <a:solidFill>
                  <a:srgbClr val="243447"/>
                </a:solidFill>
                <a:latin typeface="Calibri" pitchFamily="34" charset="0"/>
                <a:ea typeface="Calibri" pitchFamily="34" charset="-122"/>
                <a:cs typeface="Calibri" pitchFamily="34" charset="-120"/>
              </a:rPr>
              <a:t>mesh-based External Data, shape functions</a:t>
            </a:r>
            <a:endParaRPr lang="en-US" sz="1300" dirty="0"/>
          </a:p>
        </p:txBody>
      </p:sp>
      <p:sp>
        <p:nvSpPr>
          <p:cNvPr id="12" name="Shape 10"/>
          <p:cNvSpPr/>
          <p:nvPr/>
        </p:nvSpPr>
        <p:spPr>
          <a:xfrm>
            <a:off x="2061972" y="3529584"/>
            <a:ext cx="310896" cy="274320"/>
          </a:xfrm>
          <a:prstGeom prst="downArrow">
            <a:avLst/>
          </a:prstGeom>
          <a:solidFill>
            <a:srgbClr val="9AA5B1"/>
          </a:solidFill>
          <a:ln/>
        </p:spPr>
      </p:sp>
      <p:sp>
        <p:nvSpPr>
          <p:cNvPr id="13" name="Shape 11"/>
          <p:cNvSpPr/>
          <p:nvPr/>
        </p:nvSpPr>
        <p:spPr>
          <a:xfrm>
            <a:off x="457200" y="3840480"/>
            <a:ext cx="3520440" cy="2423160"/>
          </a:xfrm>
          <a:prstGeom prst="roundRect">
            <a:avLst>
              <a:gd name="adj" fmla="val 3019"/>
            </a:avLst>
          </a:prstGeom>
          <a:solidFill>
            <a:srgbClr val="FCE9DF"/>
          </a:solidFill>
          <a:ln/>
        </p:spPr>
      </p:sp>
      <p:sp>
        <p:nvSpPr>
          <p:cNvPr id="14" name="Text 12"/>
          <p:cNvSpPr txBox="1"/>
          <p:nvPr/>
        </p:nvSpPr>
        <p:spPr>
          <a:xfrm>
            <a:off x="640080" y="3904488"/>
            <a:ext cx="3154680" cy="347472"/>
          </a:xfrm>
          <a:prstGeom prst="rect">
            <a:avLst/>
          </a:prstGeom>
          <a:noFill/>
          <a:ln/>
        </p:spPr>
        <p:txBody>
          <a:bodyPr wrap="square" lIns="0" tIns="0" rIns="0" bIns="0" rtlCol="0" anchor="ctr"/>
          <a:lstStyle/>
          <a:p>
            <a:pPr indent="0" marL="0">
              <a:buNone/>
            </a:pPr>
            <a:r>
              <a:rPr lang="en-US" sz="1500" b="1" dirty="0">
                <a:solidFill>
                  <a:srgbClr val="D9480F"/>
                </a:solidFill>
                <a:latin typeface="Calibri" pitchFamily="34" charset="0"/>
                <a:ea typeface="Calibri" pitchFamily="34" charset="-122"/>
                <a:cs typeface="Calibri" pitchFamily="34" charset="-120"/>
              </a:rPr>
              <a:t>Mechanical model  ·  T_ref = 300 K</a:t>
            </a:r>
            <a:endParaRPr lang="en-US" sz="1500" dirty="0"/>
          </a:p>
        </p:txBody>
      </p:sp>
      <p:pic>
        <p:nvPicPr>
          <p:cNvPr id="15" name="Image 0" descr="/mnt/attach/outputs/S10C1/14_Presentation/Figures/mech_imported_temperature.png">    </p:cNvPr>
          <p:cNvPicPr>
            <a:picLocks noChangeAspect="1"/>
          </p:cNvPicPr>
          <p:nvPr/>
        </p:nvPicPr>
        <p:blipFill>
          <a:blip r:embed="rId1"/>
          <a:stretch>
            <a:fillRect/>
          </a:stretch>
        </p:blipFill>
        <p:spPr>
          <a:xfrm>
            <a:off x="640080" y="4297680"/>
            <a:ext cx="3154680" cy="1767918"/>
          </a:xfrm>
          <a:prstGeom prst="rect">
            <a:avLst/>
          </a:prstGeom>
        </p:spPr>
      </p:pic>
      <p:sp>
        <p:nvSpPr>
          <p:cNvPr id="16" name="Text 13"/>
          <p:cNvSpPr txBox="1"/>
          <p:nvPr/>
        </p:nvSpPr>
        <p:spPr>
          <a:xfrm>
            <a:off x="4251960" y="1417320"/>
            <a:ext cx="7482535" cy="292608"/>
          </a:xfrm>
          <a:prstGeom prst="rect">
            <a:avLst/>
          </a:prstGeom>
          <a:noFill/>
          <a:ln/>
        </p:spPr>
        <p:txBody>
          <a:bodyPr wrap="square" lIns="0" tIns="0" rIns="0" bIns="0" rtlCol="0" anchor="ctr"/>
          <a:lstStyle/>
          <a:p>
            <a:pPr indent="0" marL="0">
              <a:buNone/>
            </a:pPr>
            <a:r>
              <a:rPr lang="en-US" sz="1200" i="1" dirty="0">
                <a:solidFill>
                  <a:srgbClr val="6B7C93"/>
                </a:solidFill>
                <a:latin typeface="Calibri" pitchFamily="34" charset="0"/>
                <a:ea typeface="Calibri" pitchFamily="34" charset="-122"/>
                <a:cs typeface="Calibri" pitchFamily="34" charset="-120"/>
              </a:rPr>
              <a:t>Wall temperature, r = 10–20 mm (radial scale exaggerated): Fluent cells (top) vs mapped Mechanical nodes (bottom)</a:t>
            </a:r>
            <a:endParaRPr lang="en-US" sz="1200" dirty="0"/>
          </a:p>
        </p:txBody>
      </p:sp>
      <p:pic>
        <p:nvPicPr>
          <p:cNvPr id="17" name="Image 1" descr="/mnt/attach/outputs/S10C1/14_Presentation/Figures/mapping_fluent_vs_mechanical.png">    </p:cNvPr>
          <p:cNvPicPr>
            <a:picLocks noChangeAspect="1"/>
          </p:cNvPicPr>
          <p:nvPr/>
        </p:nvPicPr>
        <p:blipFill>
          <a:blip r:embed="rId2"/>
          <a:stretch>
            <a:fillRect/>
          </a:stretch>
        </p:blipFill>
        <p:spPr>
          <a:xfrm>
            <a:off x="4792828" y="1737360"/>
            <a:ext cx="6400800" cy="2909455"/>
          </a:xfrm>
          <a:prstGeom prst="rect">
            <a:avLst/>
          </a:prstGeom>
        </p:spPr>
      </p:pic>
      <p:sp>
        <p:nvSpPr>
          <p:cNvPr id="18" name="Shape 14"/>
          <p:cNvSpPr/>
          <p:nvPr/>
        </p:nvSpPr>
        <p:spPr>
          <a:xfrm>
            <a:off x="4251960" y="4783975"/>
            <a:ext cx="2357018" cy="896112"/>
          </a:xfrm>
          <a:prstGeom prst="roundRect">
            <a:avLst>
              <a:gd name="adj" fmla="val 8163"/>
            </a:avLst>
          </a:prstGeom>
          <a:solidFill>
            <a:srgbClr val="EEF3F8"/>
          </a:solidFill>
          <a:ln/>
        </p:spPr>
      </p:sp>
      <p:sp>
        <p:nvSpPr>
          <p:cNvPr id="19" name="Text 15"/>
          <p:cNvSpPr txBox="1"/>
          <p:nvPr/>
        </p:nvSpPr>
        <p:spPr>
          <a:xfrm>
            <a:off x="4361688" y="4838839"/>
            <a:ext cx="2137562" cy="420624"/>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108,252 / 108,252</a:t>
            </a:r>
            <a:endParaRPr lang="en-US" sz="1900" dirty="0"/>
          </a:p>
        </p:txBody>
      </p:sp>
      <p:sp>
        <p:nvSpPr>
          <p:cNvPr id="20" name="Text 16"/>
          <p:cNvSpPr txBox="1"/>
          <p:nvPr/>
        </p:nvSpPr>
        <p:spPr>
          <a:xfrm>
            <a:off x="4361688" y="5259463"/>
            <a:ext cx="2137562" cy="38404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structural nodes mapped</a:t>
            </a:r>
            <a:endParaRPr lang="en-US" sz="1200" dirty="0"/>
          </a:p>
        </p:txBody>
      </p:sp>
      <p:sp>
        <p:nvSpPr>
          <p:cNvPr id="21" name="Shape 17"/>
          <p:cNvSpPr/>
          <p:nvPr/>
        </p:nvSpPr>
        <p:spPr>
          <a:xfrm>
            <a:off x="6746138" y="4783975"/>
            <a:ext cx="2357018" cy="896112"/>
          </a:xfrm>
          <a:prstGeom prst="roundRect">
            <a:avLst>
              <a:gd name="adj" fmla="val 8163"/>
            </a:avLst>
          </a:prstGeom>
          <a:solidFill>
            <a:srgbClr val="EEF3F8"/>
          </a:solidFill>
          <a:ln/>
        </p:spPr>
      </p:sp>
      <p:sp>
        <p:nvSpPr>
          <p:cNvPr id="22" name="Text 18"/>
          <p:cNvSpPr txBox="1"/>
          <p:nvPr/>
        </p:nvSpPr>
        <p:spPr>
          <a:xfrm>
            <a:off x="6855866" y="4838839"/>
            <a:ext cx="2137562" cy="420624"/>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423.84 – 562.56 K</a:t>
            </a:r>
            <a:endParaRPr lang="en-US" sz="1900" dirty="0"/>
          </a:p>
        </p:txBody>
      </p:sp>
      <p:sp>
        <p:nvSpPr>
          <p:cNvPr id="23" name="Text 19"/>
          <p:cNvSpPr txBox="1"/>
          <p:nvPr/>
        </p:nvSpPr>
        <p:spPr>
          <a:xfrm>
            <a:off x="6855866" y="5259463"/>
            <a:ext cx="2137562" cy="38404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mapped range (source 423.84 – 562.54 K)</a:t>
            </a:r>
            <a:endParaRPr lang="en-US" sz="1200" dirty="0"/>
          </a:p>
        </p:txBody>
      </p:sp>
      <p:sp>
        <p:nvSpPr>
          <p:cNvPr id="24" name="Shape 20"/>
          <p:cNvSpPr/>
          <p:nvPr/>
        </p:nvSpPr>
        <p:spPr>
          <a:xfrm>
            <a:off x="9240317" y="4783975"/>
            <a:ext cx="2357018" cy="896112"/>
          </a:xfrm>
          <a:prstGeom prst="roundRect">
            <a:avLst>
              <a:gd name="adj" fmla="val 8163"/>
            </a:avLst>
          </a:prstGeom>
          <a:solidFill>
            <a:srgbClr val="EEF3F8"/>
          </a:solidFill>
          <a:ln/>
        </p:spPr>
      </p:sp>
      <p:sp>
        <p:nvSpPr>
          <p:cNvPr id="25" name="Text 21"/>
          <p:cNvSpPr txBox="1"/>
          <p:nvPr/>
        </p:nvSpPr>
        <p:spPr>
          <a:xfrm>
            <a:off x="9350045" y="4838839"/>
            <a:ext cx="2137562" cy="420624"/>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 0.081 K</a:t>
            </a:r>
            <a:endParaRPr lang="en-US" sz="1900" dirty="0"/>
          </a:p>
        </p:txBody>
      </p:sp>
      <p:sp>
        <p:nvSpPr>
          <p:cNvPr id="26" name="Text 22"/>
          <p:cNvSpPr txBox="1"/>
          <p:nvPr/>
        </p:nvSpPr>
        <p:spPr>
          <a:xfrm>
            <a:off x="9350045" y="5259463"/>
            <a:ext cx="2137562" cy="38404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interpolation error inside the source mesh</a:t>
            </a:r>
            <a:endParaRPr lang="en-US" sz="1200" dirty="0"/>
          </a:p>
        </p:txBody>
      </p:sp>
      <p:sp>
        <p:nvSpPr>
          <p:cNvPr id="27" name="Text 23"/>
          <p:cNvSpPr txBox="1"/>
          <p:nvPr/>
        </p:nvSpPr>
        <p:spPr>
          <a:xfrm>
            <a:off x="4251960" y="5771527"/>
            <a:ext cx="7482535" cy="5486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Not a two-way FSI model: the wall deformation changes the flow area by only 0.70 %, so no feedback to the flow is needed.</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Thermo-Structural Response</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Free expansion produces little stress; preventing the same growth produces large compression</a:t>
            </a:r>
            <a:endParaRPr lang="en-US" sz="1600" dirty="0"/>
          </a:p>
        </p:txBody>
      </p:sp>
      <p:sp>
        <p:nvSpPr>
          <p:cNvPr id="5" name="Text 3"/>
          <p:cNvSpPr txBox="1"/>
          <p:nvPr/>
        </p:nvSpPr>
        <p:spPr>
          <a:xfrm>
            <a:off x="457200" y="1417320"/>
            <a:ext cx="5440680" cy="384048"/>
          </a:xfrm>
          <a:prstGeom prst="rect">
            <a:avLst/>
          </a:prstGeom>
          <a:noFill/>
          <a:ln/>
        </p:spPr>
        <p:txBody>
          <a:bodyPr wrap="square" lIns="0" tIns="0" rIns="0" bIns="0" rtlCol="0" anchor="ctr"/>
          <a:lstStyle/>
          <a:p>
            <a:pPr indent="0" marL="0">
              <a:buNone/>
            </a:pPr>
            <a:r>
              <a:rPr lang="en-US" sz="1900" b="1" dirty="0">
                <a:solidFill>
                  <a:srgbClr val="2F5D8A"/>
                </a:solidFill>
                <a:latin typeface="Calibri" pitchFamily="34" charset="0"/>
                <a:ea typeface="Calibri" pitchFamily="34" charset="-122"/>
                <a:cs typeface="Calibri" pitchFamily="34" charset="-120"/>
              </a:rPr>
              <a:t>LC1 — free thermal expansion</a:t>
            </a:r>
            <a:endParaRPr lang="en-US" sz="1900" dirty="0"/>
          </a:p>
        </p:txBody>
      </p:sp>
      <p:sp>
        <p:nvSpPr>
          <p:cNvPr id="6" name="Text 4"/>
          <p:cNvSpPr txBox="1"/>
          <p:nvPr/>
        </p:nvSpPr>
        <p:spPr>
          <a:xfrm>
            <a:off x="457200" y="1783080"/>
            <a:ext cx="5440680" cy="292608"/>
          </a:xfrm>
          <a:prstGeom prst="rect">
            <a:avLst/>
          </a:prstGeom>
          <a:noFill/>
          <a:ln/>
        </p:spPr>
        <p:txBody>
          <a:bodyPr wrap="square" lIns="0" tIns="0" rIns="0" bIns="0" rtlCol="0" anchor="ctr"/>
          <a:lstStyle/>
          <a:p>
            <a:pPr indent="0" marL="0">
              <a:buNone/>
            </a:pPr>
            <a:r>
              <a:rPr lang="en-US" sz="1300" dirty="0">
                <a:solidFill>
                  <a:srgbClr val="6B7C93"/>
                </a:solidFill>
                <a:latin typeface="Calibri" pitchFamily="34" charset="0"/>
                <a:ea typeface="Calibri" pitchFamily="34" charset="-122"/>
                <a:cs typeface="Calibri" pitchFamily="34" charset="-120"/>
              </a:rPr>
              <a:t>statically determinate support: the duct grows freely</a:t>
            </a:r>
            <a:endParaRPr lang="en-US" sz="1300" dirty="0"/>
          </a:p>
        </p:txBody>
      </p:sp>
      <p:pic>
        <p:nvPicPr>
          <p:cNvPr id="7" name="Image 0" descr="/mnt/attach/outputs/S10C1/14_Presentation/Figures/mech_LC1_deformation.png">    </p:cNvPr>
          <p:cNvPicPr>
            <a:picLocks noChangeAspect="1"/>
          </p:cNvPicPr>
          <p:nvPr/>
        </p:nvPicPr>
        <p:blipFill>
          <a:blip r:embed="rId1"/>
          <a:stretch>
            <a:fillRect/>
          </a:stretch>
        </p:blipFill>
        <p:spPr>
          <a:xfrm>
            <a:off x="457200" y="2148840"/>
            <a:ext cx="2651760" cy="1486076"/>
          </a:xfrm>
          <a:prstGeom prst="rect">
            <a:avLst/>
          </a:prstGeom>
        </p:spPr>
      </p:pic>
      <p:pic>
        <p:nvPicPr>
          <p:cNvPr id="8" name="Image 1" descr="/mnt/attach/outputs/S10C1/14_Presentation/Figures/mech_LC1_vonmises.png">    </p:cNvPr>
          <p:cNvPicPr>
            <a:picLocks noChangeAspect="1"/>
          </p:cNvPicPr>
          <p:nvPr/>
        </p:nvPicPr>
        <p:blipFill>
          <a:blip r:embed="rId2"/>
          <a:stretch>
            <a:fillRect/>
          </a:stretch>
        </p:blipFill>
        <p:spPr>
          <a:xfrm>
            <a:off x="3246120" y="2148840"/>
            <a:ext cx="2651760" cy="1486076"/>
          </a:xfrm>
          <a:prstGeom prst="rect">
            <a:avLst/>
          </a:prstGeom>
        </p:spPr>
      </p:pic>
      <p:sp>
        <p:nvSpPr>
          <p:cNvPr id="9" name="Text 5"/>
          <p:cNvSpPr txBox="1"/>
          <p:nvPr/>
        </p:nvSpPr>
        <p:spPr>
          <a:xfrm>
            <a:off x="457200" y="3653204"/>
            <a:ext cx="2651760" cy="256032"/>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total deformation</a:t>
            </a:r>
            <a:endParaRPr lang="en-US" sz="1100" dirty="0"/>
          </a:p>
        </p:txBody>
      </p:sp>
      <p:sp>
        <p:nvSpPr>
          <p:cNvPr id="10" name="Text 6"/>
          <p:cNvSpPr txBox="1"/>
          <p:nvPr/>
        </p:nvSpPr>
        <p:spPr>
          <a:xfrm>
            <a:off x="3246120" y="3653204"/>
            <a:ext cx="2651760" cy="256032"/>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von Mises stress</a:t>
            </a:r>
            <a:endParaRPr lang="en-US" sz="1100" dirty="0"/>
          </a:p>
        </p:txBody>
      </p:sp>
      <p:sp>
        <p:nvSpPr>
          <p:cNvPr id="11" name="Shape 7"/>
          <p:cNvSpPr/>
          <p:nvPr/>
        </p:nvSpPr>
        <p:spPr>
          <a:xfrm>
            <a:off x="457200" y="4023360"/>
            <a:ext cx="2651760" cy="1051560"/>
          </a:xfrm>
          <a:prstGeom prst="roundRect">
            <a:avLst>
              <a:gd name="adj" fmla="val 6957"/>
            </a:avLst>
          </a:prstGeom>
          <a:solidFill>
            <a:srgbClr val="EEF3F8"/>
          </a:solidFill>
          <a:ln/>
        </p:spPr>
      </p:sp>
      <p:sp>
        <p:nvSpPr>
          <p:cNvPr id="12" name="Text 8"/>
          <p:cNvSpPr txBox="1"/>
          <p:nvPr/>
        </p:nvSpPr>
        <p:spPr>
          <a:xfrm>
            <a:off x="566928" y="4078224"/>
            <a:ext cx="2432304" cy="502920"/>
          </a:xfrm>
          <a:prstGeom prst="rect">
            <a:avLst/>
          </a:prstGeom>
          <a:noFill/>
          <a:ln/>
        </p:spPr>
        <p:txBody>
          <a:bodyPr wrap="square" lIns="0" tIns="0" rIns="0" bIns="0" rtlCol="0" anchor="ctr"/>
          <a:lstStyle/>
          <a:p>
            <a:pPr indent="0" marL="0">
              <a:buNone/>
            </a:pPr>
            <a:r>
              <a:rPr lang="en-US" sz="2200" b="1" dirty="0">
                <a:solidFill>
                  <a:srgbClr val="2F5D8A"/>
                </a:solidFill>
                <a:latin typeface="Calibri" pitchFamily="34" charset="0"/>
                <a:ea typeface="Calibri" pitchFamily="34" charset="-122"/>
                <a:cs typeface="Calibri" pitchFamily="34" charset="-120"/>
              </a:rPr>
              <a:t>1.844</a:t>
            </a:r>
            <a:pPr indent="0" marL="0">
              <a:buNone/>
            </a:pPr>
            <a:r>
              <a:rPr lang="en-US" sz="1400" b="1" dirty="0">
                <a:solidFill>
                  <a:srgbClr val="2F5D8A"/>
                </a:solidFill>
                <a:latin typeface="Calibri" pitchFamily="34" charset="0"/>
                <a:ea typeface="Calibri" pitchFamily="34" charset="-122"/>
                <a:cs typeface="Calibri" pitchFamily="34" charset="-120"/>
              </a:rPr>
              <a:t> mm</a:t>
            </a:r>
            <a:endParaRPr lang="en-US" sz="2200" dirty="0"/>
          </a:p>
        </p:txBody>
      </p:sp>
      <p:sp>
        <p:nvSpPr>
          <p:cNvPr id="13" name="Text 9"/>
          <p:cNvSpPr txBox="1"/>
          <p:nvPr/>
        </p:nvSpPr>
        <p:spPr>
          <a:xfrm>
            <a:off x="566928" y="4572000"/>
            <a:ext cx="2432304" cy="457200"/>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maximum deformation (outlet end)</a:t>
            </a:r>
            <a:endParaRPr lang="en-US" sz="1200" dirty="0"/>
          </a:p>
        </p:txBody>
      </p:sp>
      <p:sp>
        <p:nvSpPr>
          <p:cNvPr id="14" name="Shape 10"/>
          <p:cNvSpPr/>
          <p:nvPr/>
        </p:nvSpPr>
        <p:spPr>
          <a:xfrm>
            <a:off x="3218688" y="4023360"/>
            <a:ext cx="2651760" cy="1051560"/>
          </a:xfrm>
          <a:prstGeom prst="roundRect">
            <a:avLst>
              <a:gd name="adj" fmla="val 6957"/>
            </a:avLst>
          </a:prstGeom>
          <a:solidFill>
            <a:srgbClr val="EEF3F8"/>
          </a:solidFill>
          <a:ln/>
        </p:spPr>
      </p:sp>
      <p:sp>
        <p:nvSpPr>
          <p:cNvPr id="15" name="Text 11"/>
          <p:cNvSpPr txBox="1"/>
          <p:nvPr/>
        </p:nvSpPr>
        <p:spPr>
          <a:xfrm>
            <a:off x="3328416" y="4078224"/>
            <a:ext cx="2432304" cy="502920"/>
          </a:xfrm>
          <a:prstGeom prst="rect">
            <a:avLst/>
          </a:prstGeom>
          <a:noFill/>
          <a:ln/>
        </p:spPr>
        <p:txBody>
          <a:bodyPr wrap="square" lIns="0" tIns="0" rIns="0" bIns="0" rtlCol="0" anchor="ctr"/>
          <a:lstStyle/>
          <a:p>
            <a:pPr indent="0" marL="0">
              <a:buNone/>
            </a:pPr>
            <a:r>
              <a:rPr lang="en-US" sz="2200" b="1" dirty="0">
                <a:solidFill>
                  <a:srgbClr val="2F5D8A"/>
                </a:solidFill>
                <a:latin typeface="Calibri" pitchFamily="34" charset="0"/>
                <a:ea typeface="Calibri" pitchFamily="34" charset="-122"/>
                <a:cs typeface="Calibri" pitchFamily="34" charset="-120"/>
              </a:rPr>
              <a:t>24.28</a:t>
            </a:r>
            <a:pPr indent="0" marL="0">
              <a:buNone/>
            </a:pPr>
            <a:r>
              <a:rPr lang="en-US" sz="1400" b="1" dirty="0">
                <a:solidFill>
                  <a:srgbClr val="2F5D8A"/>
                </a:solidFill>
                <a:latin typeface="Calibri" pitchFamily="34" charset="0"/>
                <a:ea typeface="Calibri" pitchFamily="34" charset="-122"/>
                <a:cs typeface="Calibri" pitchFamily="34" charset="-120"/>
              </a:rPr>
              <a:t> MPa</a:t>
            </a:r>
            <a:endParaRPr lang="en-US" sz="2200" dirty="0"/>
          </a:p>
        </p:txBody>
      </p:sp>
      <p:sp>
        <p:nvSpPr>
          <p:cNvPr id="16" name="Text 12"/>
          <p:cNvSpPr txBox="1"/>
          <p:nvPr/>
        </p:nvSpPr>
        <p:spPr>
          <a:xfrm>
            <a:off x="3328416" y="4572000"/>
            <a:ext cx="2432304" cy="457200"/>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maximum von Mises stress</a:t>
            </a:r>
            <a:endParaRPr lang="en-US" sz="1200" dirty="0"/>
          </a:p>
        </p:txBody>
      </p:sp>
      <p:sp>
        <p:nvSpPr>
          <p:cNvPr id="17" name="Text 13"/>
          <p:cNvSpPr txBox="1"/>
          <p:nvPr/>
        </p:nvSpPr>
        <p:spPr>
          <a:xfrm>
            <a:off x="6291072" y="1417320"/>
            <a:ext cx="5440680" cy="384048"/>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LC2 — axially restrained (support S1)</a:t>
            </a:r>
            <a:endParaRPr lang="en-US" sz="1900" dirty="0"/>
          </a:p>
        </p:txBody>
      </p:sp>
      <p:sp>
        <p:nvSpPr>
          <p:cNvPr id="18" name="Text 14"/>
          <p:cNvSpPr txBox="1"/>
          <p:nvPr/>
        </p:nvSpPr>
        <p:spPr>
          <a:xfrm>
            <a:off x="6291072" y="1783080"/>
            <a:ext cx="5440680" cy="292608"/>
          </a:xfrm>
          <a:prstGeom prst="rect">
            <a:avLst/>
          </a:prstGeom>
          <a:noFill/>
          <a:ln/>
        </p:spPr>
        <p:txBody>
          <a:bodyPr wrap="square" lIns="0" tIns="0" rIns="0" bIns="0" rtlCol="0" anchor="ctr"/>
          <a:lstStyle/>
          <a:p>
            <a:pPr indent="0" marL="0">
              <a:buNone/>
            </a:pPr>
            <a:r>
              <a:rPr lang="en-US" sz="1300" dirty="0">
                <a:solidFill>
                  <a:srgbClr val="6B7C93"/>
                </a:solidFill>
                <a:latin typeface="Calibri" pitchFamily="34" charset="0"/>
                <a:ea typeface="Calibri" pitchFamily="34" charset="-122"/>
                <a:cs typeface="Calibri" pitchFamily="34" charset="-120"/>
              </a:rPr>
              <a:t>both end faces held axially: the growth is prevented</a:t>
            </a:r>
            <a:endParaRPr lang="en-US" sz="1300" dirty="0"/>
          </a:p>
        </p:txBody>
      </p:sp>
      <p:pic>
        <p:nvPicPr>
          <p:cNvPr id="19" name="Image 2" descr="/mnt/attach/outputs/S10C1/14_Presentation/Figures/mech_LC2_deformation.png">    </p:cNvPr>
          <p:cNvPicPr>
            <a:picLocks noChangeAspect="1"/>
          </p:cNvPicPr>
          <p:nvPr/>
        </p:nvPicPr>
        <p:blipFill>
          <a:blip r:embed="rId3"/>
          <a:stretch>
            <a:fillRect/>
          </a:stretch>
        </p:blipFill>
        <p:spPr>
          <a:xfrm>
            <a:off x="6291072" y="2148840"/>
            <a:ext cx="2651760" cy="1486076"/>
          </a:xfrm>
          <a:prstGeom prst="rect">
            <a:avLst/>
          </a:prstGeom>
        </p:spPr>
      </p:pic>
      <p:pic>
        <p:nvPicPr>
          <p:cNvPr id="20" name="Image 3" descr="/mnt/attach/outputs/S10C1/14_Presentation/Figures/mech_LC2_vonmises.png">    </p:cNvPr>
          <p:cNvPicPr>
            <a:picLocks noChangeAspect="1"/>
          </p:cNvPicPr>
          <p:nvPr/>
        </p:nvPicPr>
        <p:blipFill>
          <a:blip r:embed="rId4"/>
          <a:stretch>
            <a:fillRect/>
          </a:stretch>
        </p:blipFill>
        <p:spPr>
          <a:xfrm>
            <a:off x="9079992" y="2148840"/>
            <a:ext cx="2651760" cy="1486076"/>
          </a:xfrm>
          <a:prstGeom prst="rect">
            <a:avLst/>
          </a:prstGeom>
        </p:spPr>
      </p:pic>
      <p:sp>
        <p:nvSpPr>
          <p:cNvPr id="21" name="Text 15"/>
          <p:cNvSpPr txBox="1"/>
          <p:nvPr/>
        </p:nvSpPr>
        <p:spPr>
          <a:xfrm>
            <a:off x="6291072" y="3653204"/>
            <a:ext cx="2651760" cy="256032"/>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total deformation</a:t>
            </a:r>
            <a:endParaRPr lang="en-US" sz="1100" dirty="0"/>
          </a:p>
        </p:txBody>
      </p:sp>
      <p:sp>
        <p:nvSpPr>
          <p:cNvPr id="22" name="Text 16"/>
          <p:cNvSpPr txBox="1"/>
          <p:nvPr/>
        </p:nvSpPr>
        <p:spPr>
          <a:xfrm>
            <a:off x="9079992" y="3653204"/>
            <a:ext cx="2651760" cy="256032"/>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von Mises stress</a:t>
            </a:r>
            <a:endParaRPr lang="en-US" sz="1100" dirty="0"/>
          </a:p>
        </p:txBody>
      </p:sp>
      <p:sp>
        <p:nvSpPr>
          <p:cNvPr id="23" name="Shape 17"/>
          <p:cNvSpPr/>
          <p:nvPr/>
        </p:nvSpPr>
        <p:spPr>
          <a:xfrm>
            <a:off x="6291072" y="4023360"/>
            <a:ext cx="1737360" cy="1051560"/>
          </a:xfrm>
          <a:prstGeom prst="roundRect">
            <a:avLst>
              <a:gd name="adj" fmla="val 6957"/>
            </a:avLst>
          </a:prstGeom>
          <a:solidFill>
            <a:srgbClr val="EEF3F8"/>
          </a:solidFill>
          <a:ln/>
        </p:spPr>
      </p:sp>
      <p:sp>
        <p:nvSpPr>
          <p:cNvPr id="24" name="Text 18"/>
          <p:cNvSpPr txBox="1"/>
          <p:nvPr/>
        </p:nvSpPr>
        <p:spPr>
          <a:xfrm>
            <a:off x="6400800" y="4078224"/>
            <a:ext cx="1517904" cy="50292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0.135</a:t>
            </a:r>
            <a:pPr indent="0" marL="0">
              <a:buNone/>
            </a:pPr>
            <a:r>
              <a:rPr lang="en-US" sz="1400" b="1" dirty="0">
                <a:solidFill>
                  <a:srgbClr val="D9480F"/>
                </a:solidFill>
                <a:latin typeface="Calibri" pitchFamily="34" charset="0"/>
                <a:ea typeface="Calibri" pitchFamily="34" charset="-122"/>
                <a:cs typeface="Calibri" pitchFamily="34" charset="-120"/>
              </a:rPr>
              <a:t> mm</a:t>
            </a:r>
            <a:endParaRPr lang="en-US" sz="2200" dirty="0"/>
          </a:p>
        </p:txBody>
      </p:sp>
      <p:sp>
        <p:nvSpPr>
          <p:cNvPr id="25" name="Text 19"/>
          <p:cNvSpPr txBox="1"/>
          <p:nvPr/>
        </p:nvSpPr>
        <p:spPr>
          <a:xfrm>
            <a:off x="6400800" y="4572000"/>
            <a:ext cx="1517904" cy="457200"/>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maximum deformation</a:t>
            </a:r>
            <a:endParaRPr lang="en-US" sz="1200" dirty="0"/>
          </a:p>
        </p:txBody>
      </p:sp>
      <p:sp>
        <p:nvSpPr>
          <p:cNvPr id="26" name="Shape 20"/>
          <p:cNvSpPr/>
          <p:nvPr/>
        </p:nvSpPr>
        <p:spPr>
          <a:xfrm>
            <a:off x="8138160" y="4023360"/>
            <a:ext cx="1737360" cy="1051560"/>
          </a:xfrm>
          <a:prstGeom prst="roundRect">
            <a:avLst>
              <a:gd name="adj" fmla="val 6957"/>
            </a:avLst>
          </a:prstGeom>
          <a:solidFill>
            <a:srgbClr val="EEF3F8"/>
          </a:solidFill>
          <a:ln/>
        </p:spPr>
      </p:sp>
      <p:sp>
        <p:nvSpPr>
          <p:cNvPr id="27" name="Text 21"/>
          <p:cNvSpPr txBox="1"/>
          <p:nvPr/>
        </p:nvSpPr>
        <p:spPr>
          <a:xfrm>
            <a:off x="8247888" y="4078224"/>
            <a:ext cx="1517904" cy="50292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605.16</a:t>
            </a:r>
            <a:pPr indent="0" marL="0">
              <a:buNone/>
            </a:pPr>
            <a:r>
              <a:rPr lang="en-US" sz="1400" b="1" dirty="0">
                <a:solidFill>
                  <a:srgbClr val="D9480F"/>
                </a:solidFill>
                <a:latin typeface="Calibri" pitchFamily="34" charset="0"/>
                <a:ea typeface="Calibri" pitchFamily="34" charset="-122"/>
                <a:cs typeface="Calibri" pitchFamily="34" charset="-120"/>
              </a:rPr>
              <a:t> MPa</a:t>
            </a:r>
            <a:endParaRPr lang="en-US" sz="2200" dirty="0"/>
          </a:p>
        </p:txBody>
      </p:sp>
      <p:sp>
        <p:nvSpPr>
          <p:cNvPr id="28" name="Text 22"/>
          <p:cNvSpPr txBox="1"/>
          <p:nvPr/>
        </p:nvSpPr>
        <p:spPr>
          <a:xfrm>
            <a:off x="8247888" y="4572000"/>
            <a:ext cx="1517904" cy="457200"/>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peak von Mises (inlet-face edge)</a:t>
            </a:r>
            <a:endParaRPr lang="en-US" sz="1200" dirty="0"/>
          </a:p>
        </p:txBody>
      </p:sp>
      <p:sp>
        <p:nvSpPr>
          <p:cNvPr id="29" name="Shape 23"/>
          <p:cNvSpPr/>
          <p:nvPr/>
        </p:nvSpPr>
        <p:spPr>
          <a:xfrm>
            <a:off x="9985248" y="4023360"/>
            <a:ext cx="1737360" cy="1051560"/>
          </a:xfrm>
          <a:prstGeom prst="roundRect">
            <a:avLst>
              <a:gd name="adj" fmla="val 6957"/>
            </a:avLst>
          </a:prstGeom>
          <a:solidFill>
            <a:srgbClr val="EEF3F8"/>
          </a:solidFill>
          <a:ln/>
        </p:spPr>
      </p:sp>
      <p:sp>
        <p:nvSpPr>
          <p:cNvPr id="30" name="Text 24"/>
          <p:cNvSpPr txBox="1"/>
          <p:nvPr/>
        </p:nvSpPr>
        <p:spPr>
          <a:xfrm>
            <a:off x="10094976" y="4078224"/>
            <a:ext cx="1517904" cy="50292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548.94</a:t>
            </a:r>
            <a:pPr indent="0" marL="0">
              <a:buNone/>
            </a:pPr>
            <a:r>
              <a:rPr lang="en-US" sz="1400" b="1" dirty="0">
                <a:solidFill>
                  <a:srgbClr val="D9480F"/>
                </a:solidFill>
                <a:latin typeface="Calibri" pitchFamily="34" charset="0"/>
                <a:ea typeface="Calibri" pitchFamily="34" charset="-122"/>
                <a:cs typeface="Calibri" pitchFamily="34" charset="-120"/>
              </a:rPr>
              <a:t> kN</a:t>
            </a:r>
            <a:endParaRPr lang="en-US" sz="2200" dirty="0"/>
          </a:p>
        </p:txBody>
      </p:sp>
      <p:sp>
        <p:nvSpPr>
          <p:cNvPr id="31" name="Text 25"/>
          <p:cNvSpPr txBox="1"/>
          <p:nvPr/>
        </p:nvSpPr>
        <p:spPr>
          <a:xfrm>
            <a:off x="10094976" y="4572000"/>
            <a:ext cx="1517904" cy="457200"/>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end force; mean axial −582.44 MPa</a:t>
            </a:r>
            <a:endParaRPr lang="en-US" sz="1200" dirty="0"/>
          </a:p>
        </p:txBody>
      </p:sp>
      <p:sp>
        <p:nvSpPr>
          <p:cNvPr id="32" name="Shape 26"/>
          <p:cNvSpPr/>
          <p:nvPr/>
        </p:nvSpPr>
        <p:spPr>
          <a:xfrm>
            <a:off x="457200" y="5303520"/>
            <a:ext cx="11277295" cy="914400"/>
          </a:xfrm>
          <a:prstGeom prst="roundRect">
            <a:avLst>
              <a:gd name="adj" fmla="val 8000"/>
            </a:avLst>
          </a:prstGeom>
          <a:solidFill>
            <a:srgbClr val="FFF4E6"/>
          </a:solidFill>
          <a:ln/>
        </p:spPr>
      </p:sp>
      <p:sp>
        <p:nvSpPr>
          <p:cNvPr id="33" name="Text 27"/>
          <p:cNvSpPr txBox="1"/>
          <p:nvPr/>
        </p:nvSpPr>
        <p:spPr>
          <a:xfrm>
            <a:off x="685800" y="5349240"/>
            <a:ext cx="10820095" cy="8229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Restraint, not the through-wall gradient, dominates the thermal stress: </a:t>
            </a:r>
            <a:pPr indent="0" marL="0">
              <a:buNone/>
            </a:pPr>
            <a:r>
              <a:rPr lang="en-US" sz="1500" dirty="0">
                <a:solidFill>
                  <a:srgbClr val="243447"/>
                </a:solidFill>
                <a:latin typeface="Calibri" pitchFamily="34" charset="0"/>
                <a:ea typeface="Calibri" pitchFamily="34" charset="-122"/>
                <a:cs typeface="Calibri" pitchFamily="34" charset="-120"/>
              </a:rPr>
              <a:t>32× the free-expansion stress at mid-span. The LC2 peak is 57.8 % of the local yield strength, so the static state is elastic.</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Buckling of the Restrained Duct</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Linear eigenvalue buckling on the LC2 thermal pre-stress, baseline support S1</a:t>
            </a:r>
            <a:endParaRPr lang="en-US" sz="1600" dirty="0"/>
          </a:p>
        </p:txBody>
      </p:sp>
      <p:sp>
        <p:nvSpPr>
          <p:cNvPr id="5" name="Shape 3"/>
          <p:cNvSpPr/>
          <p:nvPr/>
        </p:nvSpPr>
        <p:spPr>
          <a:xfrm>
            <a:off x="457200" y="1417320"/>
            <a:ext cx="3017520" cy="566928"/>
          </a:xfrm>
          <a:prstGeom prst="roundRect">
            <a:avLst>
              <a:gd name="adj" fmla="val 12903"/>
            </a:avLst>
          </a:prstGeom>
          <a:solidFill>
            <a:srgbClr val="EEF3F8"/>
          </a:solidFill>
          <a:ln/>
        </p:spPr>
      </p:sp>
      <p:sp>
        <p:nvSpPr>
          <p:cNvPr id="6" name="Text 4"/>
          <p:cNvSpPr txBox="1"/>
          <p:nvPr/>
        </p:nvSpPr>
        <p:spPr>
          <a:xfrm>
            <a:off x="457200" y="1417320"/>
            <a:ext cx="3017520" cy="566928"/>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LC2 thermal compression, N = 548.94 kN</a:t>
            </a:r>
            <a:endParaRPr lang="en-US" sz="1400" dirty="0"/>
          </a:p>
        </p:txBody>
      </p:sp>
      <p:sp>
        <p:nvSpPr>
          <p:cNvPr id="7" name="Shape 5"/>
          <p:cNvSpPr/>
          <p:nvPr/>
        </p:nvSpPr>
        <p:spPr>
          <a:xfrm>
            <a:off x="3547872" y="1572768"/>
            <a:ext cx="365760" cy="256032"/>
          </a:xfrm>
          <a:prstGeom prst="rightArrow">
            <a:avLst/>
          </a:prstGeom>
          <a:solidFill>
            <a:srgbClr val="9AA5B1"/>
          </a:solidFill>
          <a:ln/>
        </p:spPr>
      </p:sp>
      <p:sp>
        <p:nvSpPr>
          <p:cNvPr id="8" name="Shape 6"/>
          <p:cNvSpPr/>
          <p:nvPr/>
        </p:nvSpPr>
        <p:spPr>
          <a:xfrm>
            <a:off x="3986784" y="1417320"/>
            <a:ext cx="3017520" cy="566928"/>
          </a:xfrm>
          <a:prstGeom prst="roundRect">
            <a:avLst>
              <a:gd name="adj" fmla="val 12903"/>
            </a:avLst>
          </a:prstGeom>
          <a:solidFill>
            <a:srgbClr val="2F5D8A"/>
          </a:solidFill>
          <a:ln/>
        </p:spPr>
      </p:sp>
      <p:sp>
        <p:nvSpPr>
          <p:cNvPr id="9" name="Text 7"/>
          <p:cNvSpPr txBox="1"/>
          <p:nvPr/>
        </p:nvSpPr>
        <p:spPr>
          <a:xfrm>
            <a:off x="3986784" y="1417320"/>
            <a:ext cx="30175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Linear eigenvalue buckling (S1)</a:t>
            </a:r>
            <a:endParaRPr lang="en-US" sz="1400" dirty="0"/>
          </a:p>
        </p:txBody>
      </p:sp>
      <p:pic>
        <p:nvPicPr>
          <p:cNvPr id="10" name="Image 0" descr="/mnt/attach/outputs/S10C1/14_Presentation/Figures/mech_S1_mode1_side.png">    </p:cNvPr>
          <p:cNvPicPr>
            <a:picLocks noChangeAspect="1"/>
          </p:cNvPicPr>
          <p:nvPr/>
        </p:nvPicPr>
        <p:blipFill>
          <a:blip r:embed="rId1"/>
          <a:stretch>
            <a:fillRect/>
          </a:stretch>
        </p:blipFill>
        <p:spPr>
          <a:xfrm>
            <a:off x="457200" y="2148840"/>
            <a:ext cx="6949440" cy="3976320"/>
          </a:xfrm>
          <a:prstGeom prst="rect">
            <a:avLst/>
          </a:prstGeom>
        </p:spPr>
      </p:pic>
      <p:sp>
        <p:nvSpPr>
          <p:cNvPr id="11" name="Text 8"/>
          <p:cNvSpPr txBox="1"/>
          <p:nvPr/>
        </p:nvSpPr>
        <p:spPr>
          <a:xfrm>
            <a:off x="457200" y="6143448"/>
            <a:ext cx="6949440" cy="274320"/>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Mode 1, side view: whole-duct sideways sway (eigenvector — amplitude arbitrary)</a:t>
            </a:r>
            <a:endParaRPr lang="en-US" sz="1100" dirty="0"/>
          </a:p>
        </p:txBody>
      </p:sp>
      <p:sp>
        <p:nvSpPr>
          <p:cNvPr id="12" name="Shape 9"/>
          <p:cNvSpPr/>
          <p:nvPr/>
        </p:nvSpPr>
        <p:spPr>
          <a:xfrm>
            <a:off x="7726680" y="1417320"/>
            <a:ext cx="4007815" cy="2148840"/>
          </a:xfrm>
          <a:prstGeom prst="roundRect">
            <a:avLst>
              <a:gd name="adj" fmla="val 3404"/>
            </a:avLst>
          </a:prstGeom>
          <a:solidFill>
            <a:srgbClr val="EEF3F8"/>
          </a:solidFill>
          <a:ln/>
        </p:spPr>
      </p:sp>
      <p:sp>
        <p:nvSpPr>
          <p:cNvPr id="13" name="Text 10"/>
          <p:cNvSpPr txBox="1"/>
          <p:nvPr/>
        </p:nvSpPr>
        <p:spPr>
          <a:xfrm>
            <a:off x="7909560" y="1508760"/>
            <a:ext cx="3642055" cy="822960"/>
          </a:xfrm>
          <a:prstGeom prst="rect">
            <a:avLst/>
          </a:prstGeom>
          <a:noFill/>
          <a:ln/>
        </p:spPr>
        <p:txBody>
          <a:bodyPr wrap="square" lIns="0" tIns="0" rIns="0" bIns="0" rtlCol="0" anchor="ctr"/>
          <a:lstStyle/>
          <a:p>
            <a:pPr indent="0" marL="0">
              <a:buNone/>
            </a:pPr>
            <a:r>
              <a:rPr lang="en-US" sz="4600" b="1" dirty="0">
                <a:solidFill>
                  <a:srgbClr val="D9480F"/>
                </a:solidFill>
                <a:latin typeface="Calibri" pitchFamily="34" charset="0"/>
                <a:ea typeface="Calibri" pitchFamily="34" charset="-122"/>
                <a:cs typeface="Calibri" pitchFamily="34" charset="-120"/>
              </a:rPr>
              <a:t>λ₁ = 1.108</a:t>
            </a:r>
            <a:endParaRPr lang="en-US" sz="4600" dirty="0"/>
          </a:p>
        </p:txBody>
      </p:sp>
      <p:sp>
        <p:nvSpPr>
          <p:cNvPr id="14" name="Text 11"/>
          <p:cNvSpPr txBox="1"/>
          <p:nvPr/>
        </p:nvSpPr>
        <p:spPr>
          <a:xfrm>
            <a:off x="7909560" y="2331720"/>
            <a:ext cx="3642055" cy="1188720"/>
          </a:xfrm>
          <a:prstGeom prst="rect">
            <a:avLst/>
          </a:prstGeom>
          <a:noFill/>
          <a:ln/>
        </p:spPr>
        <p:txBody>
          <a:bodyPr wrap="square" lIns="0" tIns="0" rIns="0" bIns="0" rtlCol="0" anchor="t"/>
          <a:lstStyle/>
          <a:p>
            <a:pPr indent="0" marL="0">
              <a:spcAft>
                <a:spcPts val="500"/>
              </a:spcAft>
              <a:buNone/>
            </a:pPr>
            <a:r>
              <a:rPr lang="en-US" sz="1400" dirty="0">
                <a:solidFill>
                  <a:srgbClr val="243447"/>
                </a:solidFill>
                <a:latin typeface="Calibri" pitchFamily="34" charset="0"/>
                <a:ea typeface="Calibri" pitchFamily="34" charset="-122"/>
                <a:cs typeface="Calibri" pitchFamily="34" charset="-120"/>
              </a:rPr>
              <a:t>Critical load  P_cr = λ₁ × N = 608.25 kN</a:t>
            </a:r>
            <a:endParaRPr lang="en-US" sz="1400" dirty="0"/>
          </a:p>
          <a:p>
            <a:pPr indent="0" marL="0">
              <a:spcAft>
                <a:spcPts val="500"/>
              </a:spcAft>
              <a:buNone/>
            </a:pPr>
            <a:r>
              <a:rPr lang="en-US" sz="1400" dirty="0">
                <a:solidFill>
                  <a:srgbClr val="243447"/>
                </a:solidFill>
                <a:latin typeface="Calibri" pitchFamily="34" charset="0"/>
                <a:ea typeface="Calibri" pitchFamily="34" charset="-122"/>
                <a:cs typeface="Calibri" pitchFamily="34" charset="-120"/>
              </a:rPr>
              <a:t>First-yield factor 1.730 &gt; λ₁: in the idealised S1 model, elastic bifurcation comes before first yield</a:t>
            </a:r>
            <a:endParaRPr lang="en-US" sz="1400" dirty="0"/>
          </a:p>
        </p:txBody>
      </p:sp>
      <p:sp>
        <p:nvSpPr>
          <p:cNvPr id="15" name="Shape 12"/>
          <p:cNvSpPr/>
          <p:nvPr/>
        </p:nvSpPr>
        <p:spPr>
          <a:xfrm>
            <a:off x="7726680" y="3703320"/>
            <a:ext cx="4007815" cy="2560320"/>
          </a:xfrm>
          <a:prstGeom prst="roundRect">
            <a:avLst>
              <a:gd name="adj" fmla="val 2857"/>
            </a:avLst>
          </a:prstGeom>
          <a:solidFill>
            <a:srgbClr val="FFFFFF"/>
          </a:solidFill>
          <a:ln w="9525">
            <a:solidFill>
              <a:srgbClr val="C9D3DE"/>
            </a:solidFill>
            <a:prstDash val="solid"/>
          </a:ln>
        </p:spPr>
      </p:sp>
      <p:sp>
        <p:nvSpPr>
          <p:cNvPr id="16" name="Text 13"/>
          <p:cNvSpPr txBox="1"/>
          <p:nvPr/>
        </p:nvSpPr>
        <p:spPr>
          <a:xfrm>
            <a:off x="7909560" y="3767328"/>
            <a:ext cx="3642055"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What λ₁ is — and is not</a:t>
            </a:r>
            <a:endParaRPr lang="en-US" sz="1600" dirty="0"/>
          </a:p>
        </p:txBody>
      </p:sp>
      <p:sp>
        <p:nvSpPr>
          <p:cNvPr id="17" name="Text 14"/>
          <p:cNvSpPr txBox="1"/>
          <p:nvPr/>
        </p:nvSpPr>
        <p:spPr>
          <a:xfrm>
            <a:off x="7909560" y="4160520"/>
            <a:ext cx="3687775" cy="2057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43447"/>
                </a:solidFill>
                <a:latin typeface="Calibri" pitchFamily="34" charset="0"/>
                <a:ea typeface="Calibri" pitchFamily="34" charset="-122"/>
                <a:cs typeface="Calibri" pitchFamily="34" charset="-120"/>
              </a:rPr>
              <a:t>Guided-column sway: ends translate, end rotation held</a:t>
            </a:r>
            <a:endParaRPr lang="en-US" sz="1400" dirty="0"/>
          </a:p>
          <a:p>
            <a:pPr marL="342900" indent="-342900">
              <a:spcAft>
                <a:spcPts val="500"/>
              </a:spcAft>
              <a:buSzPct val="100000"/>
              <a:buChar char="•"/>
            </a:pPr>
            <a:r>
              <a:rPr lang="en-US" sz="1400" dirty="0">
                <a:solidFill>
                  <a:srgbClr val="243447"/>
                </a:solidFill>
                <a:latin typeface="Calibri" pitchFamily="34" charset="0"/>
                <a:ea typeface="Calibri" pitchFamily="34" charset="-122"/>
                <a:cs typeface="Calibri" pitchFamily="34" charset="-120"/>
              </a:rPr>
              <a:t>Idealised elastic model: perfectly straight tube, idealised supports</a:t>
            </a:r>
            <a:endParaRPr lang="en-US" sz="1400" dirty="0"/>
          </a:p>
          <a:p>
            <a:pPr marL="342900" indent="-342900">
              <a:spcAft>
                <a:spcPts val="500"/>
              </a:spcAft>
              <a:buSzPct val="100000"/>
              <a:buChar char="•"/>
            </a:pPr>
            <a:r>
              <a:rPr lang="en-US" sz="1400" dirty="0">
                <a:solidFill>
                  <a:srgbClr val="243447"/>
                </a:solidFill>
                <a:latin typeface="Calibri" pitchFamily="34" charset="0"/>
                <a:ea typeface="Calibri" pitchFamily="34" charset="-122"/>
                <a:cs typeface="Calibri" pitchFamily="34" charset="-120"/>
              </a:rPr>
              <a:t>No geometric imperfections, no plasticity, no nonlinear post-buckling</a:t>
            </a:r>
            <a:endParaRPr lang="en-US" sz="1400" dirty="0"/>
          </a:p>
          <a:p>
            <a:pPr marL="342900" indent="-342900">
              <a:spcAft>
                <a:spcPts val="500"/>
              </a:spcAft>
              <a:buSzPct val="100000"/>
              <a:buChar char="•"/>
            </a:pPr>
            <a:r>
              <a:rPr lang="en-US" sz="1400" b="1" dirty="0">
                <a:solidFill>
                  <a:srgbClr val="D9480F"/>
                </a:solidFill>
                <a:latin typeface="Calibri" pitchFamily="34" charset="0"/>
                <a:ea typeface="Calibri" pitchFamily="34" charset="-122"/>
                <a:cs typeface="Calibri" pitchFamily="34" charset="-120"/>
              </a:rPr>
              <a:t>Not a collapse load and not a factor of safety</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Support Sensitivity</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Same duct, same thermal load, same static stress — only the end restraint changes</a:t>
            </a:r>
            <a:endParaRPr lang="en-US" sz="1600" dirty="0"/>
          </a:p>
        </p:txBody>
      </p:sp>
      <p:sp>
        <p:nvSpPr>
          <p:cNvPr id="5" name="Text 3"/>
          <p:cNvSpPr txBox="1"/>
          <p:nvPr/>
        </p:nvSpPr>
        <p:spPr>
          <a:xfrm>
            <a:off x="457200" y="1371600"/>
            <a:ext cx="11277295" cy="274320"/>
          </a:xfrm>
          <a:prstGeom prst="rect">
            <a:avLst/>
          </a:prstGeom>
          <a:noFill/>
          <a:ln/>
        </p:spPr>
        <p:txBody>
          <a:bodyPr wrap="square" lIns="0" tIns="0" rIns="0" bIns="0" rtlCol="0" anchor="ctr"/>
          <a:lstStyle/>
          <a:p>
            <a:pPr algn="r" indent="0" marL="0">
              <a:buNone/>
            </a:pPr>
            <a:r>
              <a:rPr lang="en-US" sz="1300" i="1" dirty="0">
                <a:solidFill>
                  <a:srgbClr val="6B7C93"/>
                </a:solidFill>
                <a:latin typeface="Calibri" pitchFamily="34" charset="0"/>
                <a:ea typeface="Calibri" pitchFamily="34" charset="-122"/>
                <a:cs typeface="Calibri" pitchFamily="34" charset="-120"/>
              </a:rPr>
              <a:t>increasing end restraint  →</a:t>
            </a:r>
            <a:endParaRPr lang="en-US" sz="1300" dirty="0"/>
          </a:p>
        </p:txBody>
      </p:sp>
      <p:sp>
        <p:nvSpPr>
          <p:cNvPr id="6" name="Shape 4"/>
          <p:cNvSpPr/>
          <p:nvPr/>
        </p:nvSpPr>
        <p:spPr>
          <a:xfrm>
            <a:off x="457200" y="1691640"/>
            <a:ext cx="3611880" cy="3840480"/>
          </a:xfrm>
          <a:prstGeom prst="roundRect">
            <a:avLst>
              <a:gd name="adj" fmla="val 2025"/>
            </a:avLst>
          </a:prstGeom>
          <a:solidFill>
            <a:srgbClr val="FFFFFF"/>
          </a:solidFill>
          <a:ln w="9525">
            <a:solidFill>
              <a:srgbClr val="C9D3DE"/>
            </a:solidFill>
            <a:prstDash val="solid"/>
          </a:ln>
        </p:spPr>
      </p:sp>
      <p:sp>
        <p:nvSpPr>
          <p:cNvPr id="7" name="Text 5"/>
          <p:cNvSpPr txBox="1"/>
          <p:nvPr/>
        </p:nvSpPr>
        <p:spPr>
          <a:xfrm>
            <a:off x="640080" y="1764792"/>
            <a:ext cx="3246120" cy="365760"/>
          </a:xfrm>
          <a:prstGeom prst="rect">
            <a:avLst/>
          </a:prstGeom>
          <a:noFill/>
          <a:ln/>
        </p:spPr>
        <p:txBody>
          <a:bodyPr wrap="square" lIns="0" tIns="0" rIns="0" bIns="0" rtlCol="0" anchor="ctr"/>
          <a:lstStyle/>
          <a:p>
            <a:pPr indent="0" marL="0">
              <a:buNone/>
            </a:pPr>
            <a:r>
              <a:rPr lang="en-US" sz="1800" b="1" dirty="0">
                <a:solidFill>
                  <a:srgbClr val="D9480F"/>
                </a:solidFill>
                <a:latin typeface="Calibri" pitchFamily="34" charset="0"/>
                <a:ea typeface="Calibri" pitchFamily="34" charset="-122"/>
                <a:cs typeface="Calibri" pitchFamily="34" charset="-120"/>
              </a:rPr>
              <a:t>S1 — baseline</a:t>
            </a:r>
            <a:endParaRPr lang="en-US" sz="1800" dirty="0"/>
          </a:p>
        </p:txBody>
      </p:sp>
      <p:sp>
        <p:nvSpPr>
          <p:cNvPr id="8" name="Text 6"/>
          <p:cNvSpPr txBox="1"/>
          <p:nvPr/>
        </p:nvSpPr>
        <p:spPr>
          <a:xfrm>
            <a:off x="640080" y="2121408"/>
            <a:ext cx="3246120" cy="274320"/>
          </a:xfrm>
          <a:prstGeom prst="rect">
            <a:avLst/>
          </a:prstGeom>
          <a:noFill/>
          <a:ln/>
        </p:spPr>
        <p:txBody>
          <a:bodyPr wrap="square" lIns="0" tIns="0" rIns="0" bIns="0" rtlCol="0" anchor="ctr"/>
          <a:lstStyle/>
          <a:p>
            <a:pPr indent="0" marL="0">
              <a:buNone/>
            </a:pPr>
            <a:r>
              <a:rPr lang="en-US" sz="1300" dirty="0">
                <a:solidFill>
                  <a:srgbClr val="6B7C93"/>
                </a:solidFill>
                <a:latin typeface="Calibri" pitchFamily="34" charset="0"/>
                <a:ea typeface="Calibri" pitchFamily="34" charset="-122"/>
                <a:cs typeface="Calibri" pitchFamily="34" charset="-120"/>
              </a:rPr>
              <a:t>guided: ends sway, rotation held  ·  K = 1</a:t>
            </a:r>
            <a:endParaRPr lang="en-US" sz="1300" dirty="0"/>
          </a:p>
        </p:txBody>
      </p:sp>
      <p:pic>
        <p:nvPicPr>
          <p:cNvPr id="9" name="Image 0" descr="/mnt/attach/outputs/S10C1/14_Presentation/Figures/mech_S1_mode1_iso.png">    </p:cNvPr>
          <p:cNvPicPr>
            <a:picLocks noChangeAspect="1"/>
          </p:cNvPicPr>
          <p:nvPr/>
        </p:nvPicPr>
        <p:blipFill>
          <a:blip r:embed="rId1"/>
          <a:stretch>
            <a:fillRect/>
          </a:stretch>
        </p:blipFill>
        <p:spPr>
          <a:xfrm>
            <a:off x="548640" y="2423160"/>
            <a:ext cx="3429000" cy="1921650"/>
          </a:xfrm>
          <a:prstGeom prst="rect">
            <a:avLst/>
          </a:prstGeom>
        </p:spPr>
      </p:pic>
      <p:sp>
        <p:nvSpPr>
          <p:cNvPr id="10" name="Text 7"/>
          <p:cNvSpPr txBox="1"/>
          <p:nvPr/>
        </p:nvSpPr>
        <p:spPr>
          <a:xfrm>
            <a:off x="640080" y="4315968"/>
            <a:ext cx="3246120" cy="502920"/>
          </a:xfrm>
          <a:prstGeom prst="rect">
            <a:avLst/>
          </a:prstGeom>
          <a:noFill/>
          <a:ln/>
        </p:spPr>
        <p:txBody>
          <a:bodyPr wrap="square" lIns="0" tIns="0" rIns="0" bIns="0" rtlCol="0" anchor="ctr"/>
          <a:lstStyle/>
          <a:p>
            <a:pPr indent="0" marL="0">
              <a:buNone/>
            </a:pPr>
            <a:r>
              <a:rPr lang="en-US" sz="3000" b="1" dirty="0">
                <a:solidFill>
                  <a:srgbClr val="D9480F"/>
                </a:solidFill>
                <a:latin typeface="Calibri" pitchFamily="34" charset="0"/>
                <a:ea typeface="Calibri" pitchFamily="34" charset="-122"/>
                <a:cs typeface="Calibri" pitchFamily="34" charset="-120"/>
              </a:rPr>
              <a:t>λ₁ = 1.108</a:t>
            </a:r>
            <a:endParaRPr lang="en-US" sz="3000" dirty="0"/>
          </a:p>
        </p:txBody>
      </p:sp>
      <p:sp>
        <p:nvSpPr>
          <p:cNvPr id="11" name="Text 8"/>
          <p:cNvSpPr txBox="1"/>
          <p:nvPr/>
        </p:nvSpPr>
        <p:spPr>
          <a:xfrm>
            <a:off x="640080" y="4828032"/>
            <a:ext cx="3246120" cy="640080"/>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P_cr = 608.25 kN  ·  bifurcation before first yield (1.108 &lt; 1.730)</a:t>
            </a:r>
            <a:endParaRPr lang="en-US" sz="1200" dirty="0"/>
          </a:p>
        </p:txBody>
      </p:sp>
      <p:sp>
        <p:nvSpPr>
          <p:cNvPr id="12" name="Shape 9"/>
          <p:cNvSpPr/>
          <p:nvPr/>
        </p:nvSpPr>
        <p:spPr>
          <a:xfrm>
            <a:off x="4274820" y="1691640"/>
            <a:ext cx="3611880" cy="3840480"/>
          </a:xfrm>
          <a:prstGeom prst="roundRect">
            <a:avLst>
              <a:gd name="adj" fmla="val 2025"/>
            </a:avLst>
          </a:prstGeom>
          <a:solidFill>
            <a:srgbClr val="FFFFFF"/>
          </a:solidFill>
          <a:ln w="9525">
            <a:solidFill>
              <a:srgbClr val="C9D3DE"/>
            </a:solidFill>
            <a:prstDash val="solid"/>
          </a:ln>
        </p:spPr>
      </p:sp>
      <p:sp>
        <p:nvSpPr>
          <p:cNvPr id="13" name="Text 10"/>
          <p:cNvSpPr txBox="1"/>
          <p:nvPr/>
        </p:nvSpPr>
        <p:spPr>
          <a:xfrm>
            <a:off x="4457700" y="1764792"/>
            <a:ext cx="3246120" cy="36576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S3</a:t>
            </a:r>
            <a:endParaRPr lang="en-US" sz="1800" dirty="0"/>
          </a:p>
        </p:txBody>
      </p:sp>
      <p:sp>
        <p:nvSpPr>
          <p:cNvPr id="14" name="Text 11"/>
          <p:cNvSpPr txBox="1"/>
          <p:nvPr/>
        </p:nvSpPr>
        <p:spPr>
          <a:xfrm>
            <a:off x="4457700" y="2121408"/>
            <a:ext cx="3246120" cy="274320"/>
          </a:xfrm>
          <a:prstGeom prst="rect">
            <a:avLst/>
          </a:prstGeom>
          <a:noFill/>
          <a:ln/>
        </p:spPr>
        <p:txBody>
          <a:bodyPr wrap="square" lIns="0" tIns="0" rIns="0" bIns="0" rtlCol="0" anchor="ctr"/>
          <a:lstStyle/>
          <a:p>
            <a:pPr indent="0" marL="0">
              <a:buNone/>
            </a:pPr>
            <a:r>
              <a:rPr lang="en-US" sz="1300" dirty="0">
                <a:solidFill>
                  <a:srgbClr val="6B7C93"/>
                </a:solidFill>
                <a:latin typeface="Calibri" pitchFamily="34" charset="0"/>
                <a:ea typeface="Calibri" pitchFamily="34" charset="-122"/>
                <a:cs typeface="Calibri" pitchFamily="34" charset="-120"/>
              </a:rPr>
              <a:t>clamped – pinned  ·  K = 0.699</a:t>
            </a:r>
            <a:endParaRPr lang="en-US" sz="1300" dirty="0"/>
          </a:p>
        </p:txBody>
      </p:sp>
      <p:pic>
        <p:nvPicPr>
          <p:cNvPr id="15" name="Image 1" descr="/mnt/attach/outputs/S10C1/14_Presentation/Figures/mech_S3_mode1_iso.png">    </p:cNvPr>
          <p:cNvPicPr>
            <a:picLocks noChangeAspect="1"/>
          </p:cNvPicPr>
          <p:nvPr/>
        </p:nvPicPr>
        <p:blipFill>
          <a:blip r:embed="rId2"/>
          <a:stretch>
            <a:fillRect/>
          </a:stretch>
        </p:blipFill>
        <p:spPr>
          <a:xfrm>
            <a:off x="4366260" y="2423160"/>
            <a:ext cx="3429000" cy="1921650"/>
          </a:xfrm>
          <a:prstGeom prst="rect">
            <a:avLst/>
          </a:prstGeom>
        </p:spPr>
      </p:pic>
      <p:sp>
        <p:nvSpPr>
          <p:cNvPr id="16" name="Text 12"/>
          <p:cNvSpPr txBox="1"/>
          <p:nvPr/>
        </p:nvSpPr>
        <p:spPr>
          <a:xfrm>
            <a:off x="4457700" y="4315968"/>
            <a:ext cx="3246120" cy="502920"/>
          </a:xfrm>
          <a:prstGeom prst="rect">
            <a:avLst/>
          </a:prstGeom>
          <a:noFill/>
          <a:ln/>
        </p:spPr>
        <p:txBody>
          <a:bodyPr wrap="square" lIns="0" tIns="0" rIns="0" bIns="0" rtlCol="0" anchor="ctr"/>
          <a:lstStyle/>
          <a:p>
            <a:pPr indent="0" marL="0">
              <a:buNone/>
            </a:pPr>
            <a:r>
              <a:rPr lang="en-US" sz="3000" b="1" dirty="0">
                <a:solidFill>
                  <a:srgbClr val="2F5D8A"/>
                </a:solidFill>
                <a:latin typeface="Calibri" pitchFamily="34" charset="0"/>
                <a:ea typeface="Calibri" pitchFamily="34" charset="-122"/>
                <a:cs typeface="Calibri" pitchFamily="34" charset="-120"/>
              </a:rPr>
              <a:t>λ₁ = 2.232</a:t>
            </a:r>
            <a:endParaRPr lang="en-US" sz="3000" dirty="0"/>
          </a:p>
        </p:txBody>
      </p:sp>
      <p:sp>
        <p:nvSpPr>
          <p:cNvPr id="17" name="Text 13"/>
          <p:cNvSpPr txBox="1"/>
          <p:nvPr/>
        </p:nvSpPr>
        <p:spPr>
          <a:xfrm>
            <a:off x="4457700" y="4828032"/>
            <a:ext cx="3246120" cy="640080"/>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P_cr = 1,225.36 kN  ·  first yield before bifurcation (1.730 &lt; 2.232)</a:t>
            </a:r>
            <a:endParaRPr lang="en-US" sz="1200" dirty="0"/>
          </a:p>
        </p:txBody>
      </p:sp>
      <p:sp>
        <p:nvSpPr>
          <p:cNvPr id="18" name="Shape 14"/>
          <p:cNvSpPr/>
          <p:nvPr/>
        </p:nvSpPr>
        <p:spPr>
          <a:xfrm>
            <a:off x="8092440" y="1691640"/>
            <a:ext cx="3611880" cy="3840480"/>
          </a:xfrm>
          <a:prstGeom prst="roundRect">
            <a:avLst>
              <a:gd name="adj" fmla="val 2025"/>
            </a:avLst>
          </a:prstGeom>
          <a:solidFill>
            <a:srgbClr val="FFFFFF"/>
          </a:solidFill>
          <a:ln w="9525">
            <a:solidFill>
              <a:srgbClr val="C9D3DE"/>
            </a:solidFill>
            <a:prstDash val="solid"/>
          </a:ln>
        </p:spPr>
      </p:sp>
      <p:sp>
        <p:nvSpPr>
          <p:cNvPr id="19" name="Text 15"/>
          <p:cNvSpPr txBox="1"/>
          <p:nvPr/>
        </p:nvSpPr>
        <p:spPr>
          <a:xfrm>
            <a:off x="8275320" y="1764792"/>
            <a:ext cx="3246120" cy="36576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S2</a:t>
            </a:r>
            <a:endParaRPr lang="en-US" sz="1800" dirty="0"/>
          </a:p>
        </p:txBody>
      </p:sp>
      <p:sp>
        <p:nvSpPr>
          <p:cNvPr id="20" name="Text 16"/>
          <p:cNvSpPr txBox="1"/>
          <p:nvPr/>
        </p:nvSpPr>
        <p:spPr>
          <a:xfrm>
            <a:off x="8275320" y="2121408"/>
            <a:ext cx="3246120" cy="274320"/>
          </a:xfrm>
          <a:prstGeom prst="rect">
            <a:avLst/>
          </a:prstGeom>
          <a:noFill/>
          <a:ln/>
        </p:spPr>
        <p:txBody>
          <a:bodyPr wrap="square" lIns="0" tIns="0" rIns="0" bIns="0" rtlCol="0" anchor="ctr"/>
          <a:lstStyle/>
          <a:p>
            <a:pPr indent="0" marL="0">
              <a:buNone/>
            </a:pPr>
            <a:r>
              <a:rPr lang="en-US" sz="1300" dirty="0">
                <a:solidFill>
                  <a:srgbClr val="6B7C93"/>
                </a:solidFill>
                <a:latin typeface="Calibri" pitchFamily="34" charset="0"/>
                <a:ea typeface="Calibri" pitchFamily="34" charset="-122"/>
                <a:cs typeface="Calibri" pitchFamily="34" charset="-120"/>
              </a:rPr>
              <a:t>clamped – clamped  ·  K = 0.5</a:t>
            </a:r>
            <a:endParaRPr lang="en-US" sz="1300" dirty="0"/>
          </a:p>
        </p:txBody>
      </p:sp>
      <p:pic>
        <p:nvPicPr>
          <p:cNvPr id="21" name="Image 2" descr="/mnt/attach/outputs/S10C1/14_Presentation/Figures/mech_S2_mode1_iso.png">    </p:cNvPr>
          <p:cNvPicPr>
            <a:picLocks noChangeAspect="1"/>
          </p:cNvPicPr>
          <p:nvPr/>
        </p:nvPicPr>
        <p:blipFill>
          <a:blip r:embed="rId3"/>
          <a:stretch>
            <a:fillRect/>
          </a:stretch>
        </p:blipFill>
        <p:spPr>
          <a:xfrm>
            <a:off x="8183880" y="2423160"/>
            <a:ext cx="3429000" cy="1921650"/>
          </a:xfrm>
          <a:prstGeom prst="rect">
            <a:avLst/>
          </a:prstGeom>
        </p:spPr>
      </p:pic>
      <p:sp>
        <p:nvSpPr>
          <p:cNvPr id="22" name="Text 17"/>
          <p:cNvSpPr txBox="1"/>
          <p:nvPr/>
        </p:nvSpPr>
        <p:spPr>
          <a:xfrm>
            <a:off x="8275320" y="4315968"/>
            <a:ext cx="3246120" cy="502920"/>
          </a:xfrm>
          <a:prstGeom prst="rect">
            <a:avLst/>
          </a:prstGeom>
          <a:noFill/>
          <a:ln/>
        </p:spPr>
        <p:txBody>
          <a:bodyPr wrap="square" lIns="0" tIns="0" rIns="0" bIns="0" rtlCol="0" anchor="ctr"/>
          <a:lstStyle/>
          <a:p>
            <a:pPr indent="0" marL="0">
              <a:buNone/>
            </a:pPr>
            <a:r>
              <a:rPr lang="en-US" sz="3000" b="1" dirty="0">
                <a:solidFill>
                  <a:srgbClr val="2F5D8A"/>
                </a:solidFill>
                <a:latin typeface="Calibri" pitchFamily="34" charset="0"/>
                <a:ea typeface="Calibri" pitchFamily="34" charset="-122"/>
                <a:cs typeface="Calibri" pitchFamily="34" charset="-120"/>
              </a:rPr>
              <a:t>λ₁ = 4.300</a:t>
            </a:r>
            <a:endParaRPr lang="en-US" sz="3000" dirty="0"/>
          </a:p>
        </p:txBody>
      </p:sp>
      <p:sp>
        <p:nvSpPr>
          <p:cNvPr id="23" name="Text 18"/>
          <p:cNvSpPr txBox="1"/>
          <p:nvPr/>
        </p:nvSpPr>
        <p:spPr>
          <a:xfrm>
            <a:off x="8275320" y="4828032"/>
            <a:ext cx="3246120" cy="640080"/>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P_cr = 2,360.40 kN  ·  first yield before bifurcation (1.730 &lt; 4.300)</a:t>
            </a:r>
            <a:endParaRPr lang="en-US" sz="1200" dirty="0"/>
          </a:p>
        </p:txBody>
      </p:sp>
      <p:sp>
        <p:nvSpPr>
          <p:cNvPr id="24" name="Shape 19"/>
          <p:cNvSpPr/>
          <p:nvPr/>
        </p:nvSpPr>
        <p:spPr>
          <a:xfrm>
            <a:off x="457200" y="5669280"/>
            <a:ext cx="11277295" cy="594360"/>
          </a:xfrm>
          <a:prstGeom prst="roundRect">
            <a:avLst>
              <a:gd name="adj" fmla="val 12308"/>
            </a:avLst>
          </a:prstGeom>
          <a:solidFill>
            <a:srgbClr val="FFF4E6"/>
          </a:solidFill>
          <a:ln/>
        </p:spPr>
      </p:sp>
      <p:sp>
        <p:nvSpPr>
          <p:cNvPr id="25" name="Text 20"/>
          <p:cNvSpPr txBox="1"/>
          <p:nvPr/>
        </p:nvSpPr>
        <p:spPr>
          <a:xfrm>
            <a:off x="685800" y="5687568"/>
            <a:ext cx="10820095" cy="5486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λ₁ changes by a factor of 3.9 at an identical 605.16 MPa static peak. </a:t>
            </a:r>
            <a:pPr indent="0" marL="0">
              <a:buNone/>
            </a:pPr>
            <a:r>
              <a:rPr lang="en-US" sz="1400" dirty="0">
                <a:solidFill>
                  <a:srgbClr val="243447"/>
                </a:solidFill>
                <a:latin typeface="Calibri" pitchFamily="34" charset="0"/>
                <a:ea typeface="Calibri" pitchFamily="34" charset="-122"/>
                <a:cs typeface="Calibri" pitchFamily="34" charset="-120"/>
              </a:rPr>
              <a:t>The real support stiffness is not defined, so the scenarios are not ranked.</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Parametric Study</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One factor at a time around the baseline P00 — every case is a complete simulation chain</a:t>
            </a:r>
            <a:endParaRPr lang="en-US" sz="1600" dirty="0"/>
          </a:p>
        </p:txBody>
      </p:sp>
      <p:sp>
        <p:nvSpPr>
          <p:cNvPr id="5" name="Shape 3"/>
          <p:cNvSpPr/>
          <p:nvPr/>
        </p:nvSpPr>
        <p:spPr>
          <a:xfrm>
            <a:off x="1519047" y="3099359"/>
            <a:ext cx="1544193" cy="695401"/>
          </a:xfrm>
          <a:prstGeom prst="line">
            <a:avLst/>
          </a:prstGeom>
          <a:noFill/>
          <a:ln w="31750">
            <a:solidFill>
              <a:srgbClr val="2F5D8A"/>
            </a:solidFill>
            <a:prstDash val="solid"/>
          </a:ln>
        </p:spPr>
      </p:sp>
      <p:sp>
        <p:nvSpPr>
          <p:cNvPr id="6" name="Shape 4"/>
          <p:cNvSpPr/>
          <p:nvPr/>
        </p:nvSpPr>
        <p:spPr>
          <a:xfrm flipH="1">
            <a:off x="3063240" y="3099359"/>
            <a:ext cx="1544193" cy="695401"/>
          </a:xfrm>
          <a:prstGeom prst="line">
            <a:avLst/>
          </a:prstGeom>
          <a:noFill/>
          <a:ln w="31750">
            <a:solidFill>
              <a:srgbClr val="2F5D8A"/>
            </a:solidFill>
            <a:prstDash val="solid"/>
          </a:ln>
        </p:spPr>
      </p:sp>
      <p:sp>
        <p:nvSpPr>
          <p:cNvPr id="7" name="Shape 5"/>
          <p:cNvSpPr/>
          <p:nvPr/>
        </p:nvSpPr>
        <p:spPr>
          <a:xfrm flipH="1">
            <a:off x="1519047" y="3794760"/>
            <a:ext cx="1544193" cy="695401"/>
          </a:xfrm>
          <a:prstGeom prst="line">
            <a:avLst/>
          </a:prstGeom>
          <a:noFill/>
          <a:ln w="31750">
            <a:solidFill>
              <a:srgbClr val="D9480F"/>
            </a:solidFill>
            <a:prstDash val="solid"/>
          </a:ln>
        </p:spPr>
      </p:sp>
      <p:sp>
        <p:nvSpPr>
          <p:cNvPr id="8" name="Shape 6"/>
          <p:cNvSpPr/>
          <p:nvPr/>
        </p:nvSpPr>
        <p:spPr>
          <a:xfrm>
            <a:off x="3063240" y="3794760"/>
            <a:ext cx="1544193" cy="695401"/>
          </a:xfrm>
          <a:prstGeom prst="line">
            <a:avLst/>
          </a:prstGeom>
          <a:noFill/>
          <a:ln w="31750">
            <a:solidFill>
              <a:srgbClr val="D9480F"/>
            </a:solidFill>
            <a:prstDash val="solid"/>
          </a:ln>
        </p:spPr>
      </p:sp>
      <p:sp>
        <p:nvSpPr>
          <p:cNvPr id="9" name="Shape 7"/>
          <p:cNvSpPr/>
          <p:nvPr/>
        </p:nvSpPr>
        <p:spPr>
          <a:xfrm>
            <a:off x="3063240" y="3794760"/>
            <a:ext cx="0" cy="1390802"/>
          </a:xfrm>
          <a:prstGeom prst="line">
            <a:avLst/>
          </a:prstGeom>
          <a:noFill/>
          <a:ln w="31750">
            <a:solidFill>
              <a:srgbClr val="5C6B7A"/>
            </a:solidFill>
            <a:prstDash val="solid"/>
          </a:ln>
        </p:spPr>
      </p:sp>
      <p:sp>
        <p:nvSpPr>
          <p:cNvPr id="10" name="Shape 8"/>
          <p:cNvSpPr/>
          <p:nvPr/>
        </p:nvSpPr>
        <p:spPr>
          <a:xfrm>
            <a:off x="3063240" y="2403958"/>
            <a:ext cx="0" cy="1390802"/>
          </a:xfrm>
          <a:prstGeom prst="line">
            <a:avLst/>
          </a:prstGeom>
          <a:noFill/>
          <a:ln w="31750">
            <a:solidFill>
              <a:srgbClr val="5C6B7A"/>
            </a:solidFill>
            <a:prstDash val="solid"/>
          </a:ln>
        </p:spPr>
      </p:sp>
      <p:sp>
        <p:nvSpPr>
          <p:cNvPr id="11" name="Shape 9"/>
          <p:cNvSpPr/>
          <p:nvPr/>
        </p:nvSpPr>
        <p:spPr>
          <a:xfrm>
            <a:off x="860679" y="2852471"/>
            <a:ext cx="1316736" cy="493776"/>
          </a:xfrm>
          <a:prstGeom prst="roundRect">
            <a:avLst>
              <a:gd name="adj" fmla="val 14815"/>
            </a:avLst>
          </a:prstGeom>
          <a:solidFill>
            <a:srgbClr val="2F5D8A"/>
          </a:solidFill>
          <a:ln/>
        </p:spPr>
      </p:sp>
      <p:sp>
        <p:nvSpPr>
          <p:cNvPr id="12" name="Text 10"/>
          <p:cNvSpPr txBox="1"/>
          <p:nvPr/>
        </p:nvSpPr>
        <p:spPr>
          <a:xfrm>
            <a:off x="860679" y="2852471"/>
            <a:ext cx="131673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21.15 m/s</a:t>
            </a:r>
            <a:endParaRPr lang="en-US" sz="1300" dirty="0"/>
          </a:p>
        </p:txBody>
      </p:sp>
      <p:sp>
        <p:nvSpPr>
          <p:cNvPr id="13" name="Shape 11"/>
          <p:cNvSpPr/>
          <p:nvPr/>
        </p:nvSpPr>
        <p:spPr>
          <a:xfrm>
            <a:off x="3949065" y="2852471"/>
            <a:ext cx="1316736" cy="493776"/>
          </a:xfrm>
          <a:prstGeom prst="roundRect">
            <a:avLst>
              <a:gd name="adj" fmla="val 14815"/>
            </a:avLst>
          </a:prstGeom>
          <a:solidFill>
            <a:srgbClr val="2F5D8A"/>
          </a:solidFill>
          <a:ln/>
        </p:spPr>
      </p:sp>
      <p:sp>
        <p:nvSpPr>
          <p:cNvPr id="14" name="Text 12"/>
          <p:cNvSpPr txBox="1"/>
          <p:nvPr/>
        </p:nvSpPr>
        <p:spPr>
          <a:xfrm>
            <a:off x="3949065" y="2852471"/>
            <a:ext cx="131673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25.85 m/s</a:t>
            </a:r>
            <a:endParaRPr lang="en-US" sz="1300" dirty="0"/>
          </a:p>
        </p:txBody>
      </p:sp>
      <p:sp>
        <p:nvSpPr>
          <p:cNvPr id="15" name="Shape 13"/>
          <p:cNvSpPr/>
          <p:nvPr/>
        </p:nvSpPr>
        <p:spPr>
          <a:xfrm>
            <a:off x="860679" y="4243273"/>
            <a:ext cx="1316736" cy="493776"/>
          </a:xfrm>
          <a:prstGeom prst="roundRect">
            <a:avLst>
              <a:gd name="adj" fmla="val 14815"/>
            </a:avLst>
          </a:prstGeom>
          <a:solidFill>
            <a:srgbClr val="D9480F"/>
          </a:solidFill>
          <a:ln/>
        </p:spPr>
      </p:sp>
      <p:sp>
        <p:nvSpPr>
          <p:cNvPr id="16" name="Text 14"/>
          <p:cNvSpPr txBox="1"/>
          <p:nvPr/>
        </p:nvSpPr>
        <p:spPr>
          <a:xfrm>
            <a:off x="860679" y="4243273"/>
            <a:ext cx="131673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7200 W/m²</a:t>
            </a:r>
            <a:endParaRPr lang="en-US" sz="1300" dirty="0"/>
          </a:p>
        </p:txBody>
      </p:sp>
      <p:sp>
        <p:nvSpPr>
          <p:cNvPr id="17" name="Shape 15"/>
          <p:cNvSpPr/>
          <p:nvPr/>
        </p:nvSpPr>
        <p:spPr>
          <a:xfrm>
            <a:off x="3949065" y="4243273"/>
            <a:ext cx="1316736" cy="493776"/>
          </a:xfrm>
          <a:prstGeom prst="roundRect">
            <a:avLst>
              <a:gd name="adj" fmla="val 14815"/>
            </a:avLst>
          </a:prstGeom>
          <a:solidFill>
            <a:srgbClr val="D9480F"/>
          </a:solidFill>
          <a:ln/>
        </p:spPr>
      </p:sp>
      <p:sp>
        <p:nvSpPr>
          <p:cNvPr id="18" name="Text 16"/>
          <p:cNvSpPr txBox="1"/>
          <p:nvPr/>
        </p:nvSpPr>
        <p:spPr>
          <a:xfrm>
            <a:off x="3949065" y="4243273"/>
            <a:ext cx="131673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8800 W/m²</a:t>
            </a:r>
            <a:endParaRPr lang="en-US" sz="1300" dirty="0"/>
          </a:p>
        </p:txBody>
      </p:sp>
      <p:sp>
        <p:nvSpPr>
          <p:cNvPr id="19" name="Shape 17"/>
          <p:cNvSpPr/>
          <p:nvPr/>
        </p:nvSpPr>
        <p:spPr>
          <a:xfrm>
            <a:off x="2404872" y="4938674"/>
            <a:ext cx="1316736" cy="493776"/>
          </a:xfrm>
          <a:prstGeom prst="roundRect">
            <a:avLst>
              <a:gd name="adj" fmla="val 14815"/>
            </a:avLst>
          </a:prstGeom>
          <a:solidFill>
            <a:srgbClr val="5C6B7A"/>
          </a:solidFill>
          <a:ln/>
        </p:spPr>
      </p:sp>
      <p:sp>
        <p:nvSpPr>
          <p:cNvPr id="20" name="Text 18"/>
          <p:cNvSpPr txBox="1"/>
          <p:nvPr/>
        </p:nvSpPr>
        <p:spPr>
          <a:xfrm>
            <a:off x="2404872" y="4938674"/>
            <a:ext cx="131673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 mm</a:t>
            </a:r>
            <a:endParaRPr lang="en-US" sz="1300" dirty="0"/>
          </a:p>
        </p:txBody>
      </p:sp>
      <p:sp>
        <p:nvSpPr>
          <p:cNvPr id="21" name="Shape 19"/>
          <p:cNvSpPr/>
          <p:nvPr/>
        </p:nvSpPr>
        <p:spPr>
          <a:xfrm>
            <a:off x="2404872" y="2157070"/>
            <a:ext cx="1316736" cy="493776"/>
          </a:xfrm>
          <a:prstGeom prst="roundRect">
            <a:avLst>
              <a:gd name="adj" fmla="val 14815"/>
            </a:avLst>
          </a:prstGeom>
          <a:solidFill>
            <a:srgbClr val="5C6B7A"/>
          </a:solidFill>
          <a:ln/>
        </p:spPr>
      </p:sp>
      <p:sp>
        <p:nvSpPr>
          <p:cNvPr id="22" name="Text 20"/>
          <p:cNvSpPr txBox="1"/>
          <p:nvPr/>
        </p:nvSpPr>
        <p:spPr>
          <a:xfrm>
            <a:off x="2404872" y="2157070"/>
            <a:ext cx="131673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 mm</a:t>
            </a:r>
            <a:endParaRPr lang="en-US" sz="1300" dirty="0"/>
          </a:p>
        </p:txBody>
      </p:sp>
      <p:sp>
        <p:nvSpPr>
          <p:cNvPr id="23" name="Shape 21"/>
          <p:cNvSpPr/>
          <p:nvPr/>
        </p:nvSpPr>
        <p:spPr>
          <a:xfrm>
            <a:off x="2148840" y="3246120"/>
            <a:ext cx="1828800" cy="1097280"/>
          </a:xfrm>
          <a:prstGeom prst="ellipse">
            <a:avLst/>
          </a:prstGeom>
          <a:solidFill>
            <a:srgbClr val="14213D"/>
          </a:solidFill>
          <a:ln/>
        </p:spPr>
      </p:sp>
      <p:sp>
        <p:nvSpPr>
          <p:cNvPr id="24" name="Text 22"/>
          <p:cNvSpPr txBox="1"/>
          <p:nvPr/>
        </p:nvSpPr>
        <p:spPr>
          <a:xfrm>
            <a:off x="2148840" y="3246120"/>
            <a:ext cx="1828800" cy="109728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P00 baseline</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23.5 m/s</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8000 W/m² · 10 mm</a:t>
            </a:r>
            <a:endParaRPr lang="en-US" sz="1600" dirty="0"/>
          </a:p>
        </p:txBody>
      </p:sp>
      <p:sp>
        <p:nvSpPr>
          <p:cNvPr id="25" name="Text 23"/>
          <p:cNvSpPr txBox="1"/>
          <p:nvPr/>
        </p:nvSpPr>
        <p:spPr>
          <a:xfrm>
            <a:off x="685800" y="5897880"/>
            <a:ext cx="4754880" cy="274320"/>
          </a:xfrm>
          <a:prstGeom prst="rect">
            <a:avLst/>
          </a:prstGeom>
          <a:noFill/>
          <a:ln/>
        </p:spPr>
        <p:txBody>
          <a:bodyPr wrap="square" lIns="0" tIns="0" rIns="0" bIns="0" rtlCol="0" anchor="ctr"/>
          <a:lstStyle/>
          <a:p>
            <a:pPr algn="ctr" indent="0" marL="0">
              <a:buNone/>
            </a:pPr>
            <a:r>
              <a:rPr lang="en-US" sz="1300" b="1" dirty="0">
                <a:solidFill>
                  <a:srgbClr val="2F5D8A"/>
                </a:solidFill>
                <a:latin typeface="Calibri" pitchFamily="34" charset="0"/>
                <a:ea typeface="Calibri" pitchFamily="34" charset="-122"/>
                <a:cs typeface="Calibri" pitchFamily="34" charset="-120"/>
              </a:rPr>
              <a:t>velocity</a:t>
            </a:r>
            <a:pPr algn="ctr" indent="0" marL="0">
              <a:buNone/>
            </a:pPr>
            <a:r>
              <a:rPr lang="en-US" sz="1300" dirty="0">
                <a:solidFill>
                  <a:srgbClr val="6B7C93"/>
                </a:solidFill>
                <a:latin typeface="Calibri" pitchFamily="34" charset="0"/>
                <a:ea typeface="Calibri" pitchFamily="34" charset="-122"/>
                <a:cs typeface="Calibri" pitchFamily="34" charset="-120"/>
              </a:rPr>
              <a:t>  ·  </a:t>
            </a:r>
            <a:pPr algn="ctr" indent="0" marL="0">
              <a:buNone/>
            </a:pPr>
            <a:r>
              <a:rPr lang="en-US" sz="1300" b="1" dirty="0">
                <a:solidFill>
                  <a:srgbClr val="D9480F"/>
                </a:solidFill>
                <a:latin typeface="Calibri" pitchFamily="34" charset="0"/>
                <a:ea typeface="Calibri" pitchFamily="34" charset="-122"/>
                <a:cs typeface="Calibri" pitchFamily="34" charset="-120"/>
              </a:rPr>
              <a:t>heat flux</a:t>
            </a:r>
            <a:pPr algn="ctr" indent="0" marL="0">
              <a:buNone/>
            </a:pPr>
            <a:r>
              <a:rPr lang="en-US" sz="1300" dirty="0">
                <a:solidFill>
                  <a:srgbClr val="6B7C93"/>
                </a:solidFill>
                <a:latin typeface="Calibri" pitchFamily="34" charset="0"/>
                <a:ea typeface="Calibri" pitchFamily="34" charset="-122"/>
                <a:cs typeface="Calibri" pitchFamily="34" charset="-120"/>
              </a:rPr>
              <a:t>  ·  </a:t>
            </a:r>
            <a:pPr algn="ctr" indent="0" marL="0">
              <a:buNone/>
            </a:pPr>
            <a:r>
              <a:rPr lang="en-US" sz="1300" b="1" dirty="0">
                <a:solidFill>
                  <a:srgbClr val="5C6B7A"/>
                </a:solidFill>
                <a:latin typeface="Calibri" pitchFamily="34" charset="0"/>
                <a:ea typeface="Calibri" pitchFamily="34" charset="-122"/>
                <a:cs typeface="Calibri" pitchFamily="34" charset="-120"/>
              </a:rPr>
              <a:t>thickness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89320" y="1463040"/>
          <a:ext cx="5745175" cy="914400"/>
        </p:xfrm>
        <a:graphic>
          <a:graphicData uri="http://schemas.openxmlformats.org/drawingml/2006/table">
            <a:tbl>
              <a:tblPr/>
              <a:tblGrid>
                <a:gridCol w="1371600"/>
                <a:gridCol w="2788920"/>
                <a:gridCol w="1581912"/>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Variable</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Cases</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Held constant</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4213D"/>
                    </a:solidFill>
                  </a:tcPr>
                </a:tc>
              </a:tr>
              <a:tr h="502920">
                <a:tc>
                  <a:txBody>
                    <a:bodyPr/>
                    <a:lstStyle/>
                    <a:p>
                      <a:pPr indent="0" marL="0">
                        <a:buNone/>
                      </a:pPr>
                      <a:r>
                        <a:rPr lang="en-US" sz="1300" b="1" dirty="0">
                          <a:solidFill>
                            <a:srgbClr val="2F5D8A"/>
                          </a:solidFill>
                          <a:latin typeface="Calibri" pitchFamily="34" charset="0"/>
                          <a:ea typeface="Calibri" pitchFamily="34" charset="-122"/>
                          <a:cs typeface="Calibri" pitchFamily="34" charset="-120"/>
                        </a:rPr>
                        <a:t>Inlet velocity</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243447"/>
                          </a:solidFill>
                          <a:latin typeface="Calibri" pitchFamily="34" charset="0"/>
                          <a:ea typeface="Calibri" pitchFamily="34" charset="-122"/>
                          <a:cs typeface="Calibri" pitchFamily="34" charset="-120"/>
                        </a:rPr>
                        <a:t>21.15 / 23.5 / 25.85 m/s (∓10 %)</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243447"/>
                          </a:solidFill>
                          <a:latin typeface="Calibri" pitchFamily="34" charset="0"/>
                          <a:ea typeface="Calibri" pitchFamily="34" charset="-122"/>
                          <a:cs typeface="Calibri" pitchFamily="34" charset="-120"/>
                        </a:rPr>
                        <a:t>heat flux, geometry</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D9480F"/>
                          </a:solidFill>
                          <a:latin typeface="Calibri" pitchFamily="34" charset="0"/>
                          <a:ea typeface="Calibri" pitchFamily="34" charset="-122"/>
                          <a:cs typeface="Calibri" pitchFamily="34" charset="-120"/>
                        </a:rPr>
                        <a:t>Wall heat flux</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243447"/>
                          </a:solidFill>
                          <a:latin typeface="Calibri" pitchFamily="34" charset="0"/>
                          <a:ea typeface="Calibri" pitchFamily="34" charset="-122"/>
                          <a:cs typeface="Calibri" pitchFamily="34" charset="-120"/>
                        </a:rPr>
                        <a:t>7200 / 8000 / 8800 W/m² (∓10 %)</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243447"/>
                          </a:solidFill>
                          <a:latin typeface="Calibri" pitchFamily="34" charset="0"/>
                          <a:ea typeface="Calibri" pitchFamily="34" charset="-122"/>
                          <a:cs typeface="Calibri" pitchFamily="34" charset="-120"/>
                        </a:rPr>
                        <a:t>velocity, geometry</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5C6B7A"/>
                          </a:solidFill>
                          <a:latin typeface="Calibri" pitchFamily="34" charset="0"/>
                          <a:ea typeface="Calibri" pitchFamily="34" charset="-122"/>
                          <a:cs typeface="Calibri" pitchFamily="34" charset="-120"/>
                        </a:rPr>
                        <a:t>Wall thickness</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243447"/>
                          </a:solidFill>
                          <a:latin typeface="Calibri" pitchFamily="34" charset="0"/>
                          <a:ea typeface="Calibri" pitchFamily="34" charset="-122"/>
                          <a:cs typeface="Calibri" pitchFamily="34" charset="-120"/>
                        </a:rPr>
                        <a:t>8 / 10 / 12 mm (Dₒ 36 / 40 / 44 mm)</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243447"/>
                          </a:solidFill>
                          <a:latin typeface="Calibri" pitchFamily="34" charset="0"/>
                          <a:ea typeface="Calibri" pitchFamily="34" charset="-122"/>
                          <a:cs typeface="Calibri" pitchFamily="34" charset="-120"/>
                        </a:rPr>
                        <a:t>bore, velocity, total heat input Q</a:t>
                      </a:r>
                      <a:endParaRPr lang="en-US" sz="1300" dirty="0">
                        <a:latin typeface="Calibri" charset="0"/>
                        <a:ea typeface="Calibri" charset="0"/>
                        <a:cs typeface="Calibri" charset="0"/>
                      </a:endParaRPr>
                    </a:p>
                  </a:txBody>
                  <a:tcPr marL="73152" marR="73152" marT="36576" marB="36576"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bl>
          </a:graphicData>
        </a:graphic>
      </p:graphicFrame>
      <p:sp>
        <p:nvSpPr>
          <p:cNvPr id="27" name="Shape 24"/>
          <p:cNvSpPr/>
          <p:nvPr/>
        </p:nvSpPr>
        <p:spPr>
          <a:xfrm>
            <a:off x="5989320" y="3703320"/>
            <a:ext cx="5745175" cy="2560320"/>
          </a:xfrm>
          <a:prstGeom prst="roundRect">
            <a:avLst>
              <a:gd name="adj" fmla="val 2857"/>
            </a:avLst>
          </a:prstGeom>
          <a:solidFill>
            <a:srgbClr val="EEF3F8"/>
          </a:solidFill>
          <a:ln/>
        </p:spPr>
      </p:sp>
      <p:sp>
        <p:nvSpPr>
          <p:cNvPr id="28" name="Text 25"/>
          <p:cNvSpPr txBox="1"/>
          <p:nvPr/>
        </p:nvSpPr>
        <p:spPr>
          <a:xfrm>
            <a:off x="6172200" y="3767328"/>
            <a:ext cx="5379415"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Every case, not an estimate</a:t>
            </a:r>
            <a:endParaRPr lang="en-US" sz="1600" dirty="0"/>
          </a:p>
        </p:txBody>
      </p:sp>
      <p:sp>
        <p:nvSpPr>
          <p:cNvPr id="29" name="Text 26"/>
          <p:cNvSpPr txBox="1"/>
          <p:nvPr/>
        </p:nvSpPr>
        <p:spPr>
          <a:xfrm>
            <a:off x="6172200" y="4187952"/>
            <a:ext cx="5425135" cy="201168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43447"/>
                </a:solidFill>
                <a:latin typeface="Calibri" pitchFamily="34" charset="0"/>
                <a:ea typeface="Calibri" pitchFamily="34" charset="-122"/>
                <a:cs typeface="Calibri" pitchFamily="34" charset="-120"/>
              </a:rPr>
              <a:t>Own converged Fluent CFD solution</a:t>
            </a:r>
            <a:endParaRPr lang="en-US" sz="1500" dirty="0"/>
          </a:p>
          <a:p>
            <a:pPr marL="342900" indent="-342900">
              <a:spcAft>
                <a:spcPts val="700"/>
              </a:spcAft>
              <a:buSzPct val="100000"/>
              <a:buChar char="•"/>
            </a:pPr>
            <a:r>
              <a:rPr lang="en-US" sz="1500" dirty="0">
                <a:solidFill>
                  <a:srgbClr val="243447"/>
                </a:solidFill>
                <a:latin typeface="Calibri" pitchFamily="34" charset="0"/>
                <a:ea typeface="Calibri" pitchFamily="34" charset="-122"/>
                <a:cs typeface="Calibri" pitchFamily="34" charset="-120"/>
              </a:rPr>
              <a:t>Own temperature mapping to Mechanical</a:t>
            </a:r>
            <a:endParaRPr lang="en-US" sz="1500" dirty="0"/>
          </a:p>
          <a:p>
            <a:pPr marL="342900" indent="-342900">
              <a:spcAft>
                <a:spcPts val="700"/>
              </a:spcAft>
              <a:buSzPct val="100000"/>
              <a:buChar char="•"/>
            </a:pPr>
            <a:r>
              <a:rPr lang="en-US" sz="1500" dirty="0">
                <a:solidFill>
                  <a:srgbClr val="243447"/>
                </a:solidFill>
                <a:latin typeface="Calibri" pitchFamily="34" charset="0"/>
                <a:ea typeface="Calibri" pitchFamily="34" charset="-122"/>
                <a:cs typeface="Calibri" pitchFamily="34" charset="-120"/>
              </a:rPr>
              <a:t>LC1 + LC2 statics and linear buckling, support S1</a:t>
            </a:r>
            <a:endParaRPr lang="en-US" sz="1500" dirty="0"/>
          </a:p>
          <a:p>
            <a:pPr marL="342900" indent="-342900">
              <a:spcAft>
                <a:spcPts val="700"/>
              </a:spcAft>
              <a:buSzPct val="100000"/>
              <a:buChar char="•"/>
            </a:pPr>
            <a:r>
              <a:rPr lang="en-US" sz="1500" dirty="0">
                <a:solidFill>
                  <a:srgbClr val="243447"/>
                </a:solidFill>
                <a:latin typeface="Calibri" pitchFamily="34" charset="0"/>
                <a:ea typeface="Calibri" pitchFamily="34" charset="-122"/>
                <a:cs typeface="Calibri" pitchFamily="34" charset="-120"/>
              </a:rPr>
              <a:t>Thickness: flux rescaled so total heat input stays constant</a:t>
            </a:r>
            <a:endParaRPr lang="en-US" sz="1500" dirty="0"/>
          </a:p>
          <a:p>
            <a:pPr marL="342900" indent="-342900">
              <a:spcAft>
                <a:spcPts val="700"/>
              </a:spcAft>
              <a:buSzPct val="100000"/>
              <a:buChar char="•"/>
            </a:pPr>
            <a:r>
              <a:rPr lang="en-US" sz="1500" dirty="0">
                <a:solidFill>
                  <a:srgbClr val="243447"/>
                </a:solidFill>
                <a:latin typeface="Calibri" pitchFamily="34" charset="0"/>
                <a:ea typeface="Calibri" pitchFamily="34" charset="-122"/>
                <a:cs typeface="Calibri" pitchFamily="34" charset="-120"/>
              </a:rPr>
              <a:t>Control case C00 repeated P00 and reproduced it</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Parametric Results</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Velocity acts through cooling, heat flux through temperature, thickness through the cross-section</a:t>
            </a:r>
            <a:endParaRPr lang="en-US" sz="1600" dirty="0"/>
          </a:p>
        </p:txBody>
      </p:sp>
      <p:sp>
        <p:nvSpPr>
          <p:cNvPr id="5" name="Shape 3"/>
          <p:cNvSpPr/>
          <p:nvPr/>
        </p:nvSpPr>
        <p:spPr>
          <a:xfrm>
            <a:off x="457200" y="1463040"/>
            <a:ext cx="1417320" cy="1444752"/>
          </a:xfrm>
          <a:prstGeom prst="roundRect">
            <a:avLst>
              <a:gd name="adj" fmla="val 5161"/>
            </a:avLst>
          </a:prstGeom>
          <a:solidFill>
            <a:srgbClr val="EEF3F8"/>
          </a:solidFill>
          <a:ln/>
        </p:spPr>
      </p:sp>
      <p:sp>
        <p:nvSpPr>
          <p:cNvPr id="6" name="Text 4"/>
          <p:cNvSpPr txBox="1"/>
          <p:nvPr/>
        </p:nvSpPr>
        <p:spPr>
          <a:xfrm>
            <a:off x="548640" y="1508760"/>
            <a:ext cx="1234440" cy="1353312"/>
          </a:xfrm>
          <a:prstGeom prst="rect">
            <a:avLst/>
          </a:prstGeom>
          <a:noFill/>
          <a:ln/>
        </p:spPr>
        <p:txBody>
          <a:bodyPr wrap="square" lIns="0" tIns="0" rIns="0" bIns="0" rtlCol="0" anchor="ctr"/>
          <a:lstStyle/>
          <a:p>
            <a:pPr indent="0" marL="0">
              <a:buNone/>
            </a:pPr>
            <a:r>
              <a:rPr lang="en-US" sz="1500" b="1" dirty="0">
                <a:solidFill>
                  <a:srgbClr val="2F5D8A"/>
                </a:solidFill>
                <a:latin typeface="Calibri" pitchFamily="34" charset="0"/>
                <a:ea typeface="Calibri" pitchFamily="34" charset="-122"/>
                <a:cs typeface="Calibri" pitchFamily="34" charset="-120"/>
              </a:rPr>
              <a:t>Inlet velocity</a:t>
            </a:r>
            <a:endParaRPr lang="en-US" sz="1500" dirty="0"/>
          </a:p>
          <a:p>
            <a:pPr indent="0" marL="0">
              <a:buNone/>
            </a:pPr>
            <a:r>
              <a:rPr lang="en-US" sz="1100" dirty="0">
                <a:solidFill>
                  <a:srgbClr val="243447"/>
                </a:solidFill>
                <a:latin typeface="Calibri" pitchFamily="34" charset="0"/>
                <a:ea typeface="Calibri" pitchFamily="34" charset="-122"/>
                <a:cs typeface="Calibri" pitchFamily="34" charset="-120"/>
              </a:rPr>
              <a:t>21.15 · 23.5 · 25.85 m/s</a:t>
            </a:r>
            <a:endParaRPr lang="en-US" sz="1500" dirty="0"/>
          </a:p>
        </p:txBody>
      </p:sp>
      <p:graphicFrame>
        <p:nvGraphicFramePr>
          <p:cNvPr id="7" name="Chart 0" descr=""/>
          <p:cNvGraphicFramePr/>
          <p:nvPr/>
        </p:nvGraphicFramePr>
        <p:xfrm>
          <a:off x="1965960" y="1371600"/>
          <a:ext cx="3195218" cy="1627632"/>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5252618" y="1371600"/>
          <a:ext cx="3195218" cy="1627632"/>
        </p:xfrm>
        <a:graphic xmlns:a="http://schemas.openxmlformats.org/drawingml/2006/main">
          <a:graphicData uri="http://schemas.openxmlformats.org/drawingml/2006/chart">
            <c:chart xmlns:c="http://schemas.openxmlformats.org/drawingml/2006/chart" r:id="rId2"/>
          </a:graphicData>
        </a:graphic>
      </p:graphicFrame>
      <p:graphicFrame>
        <p:nvGraphicFramePr>
          <p:cNvPr id="9" name="Chart 2" descr=""/>
          <p:cNvGraphicFramePr/>
          <p:nvPr/>
        </p:nvGraphicFramePr>
        <p:xfrm>
          <a:off x="8539277" y="1371600"/>
          <a:ext cx="3195218" cy="1627632"/>
        </p:xfrm>
        <a:graphic xmlns:a="http://schemas.openxmlformats.org/drawingml/2006/main">
          <a:graphicData uri="http://schemas.openxmlformats.org/drawingml/2006/chart">
            <c:chart xmlns:c="http://schemas.openxmlformats.org/drawingml/2006/chart" r:id="rId3"/>
          </a:graphicData>
        </a:graphic>
      </p:graphicFrame>
      <p:sp>
        <p:nvSpPr>
          <p:cNvPr id="10" name="Shape 5"/>
          <p:cNvSpPr/>
          <p:nvPr/>
        </p:nvSpPr>
        <p:spPr>
          <a:xfrm>
            <a:off x="457200" y="3136392"/>
            <a:ext cx="1417320" cy="1444752"/>
          </a:xfrm>
          <a:prstGeom prst="roundRect">
            <a:avLst>
              <a:gd name="adj" fmla="val 5161"/>
            </a:avLst>
          </a:prstGeom>
          <a:solidFill>
            <a:srgbClr val="EEF3F8"/>
          </a:solidFill>
          <a:ln/>
        </p:spPr>
      </p:sp>
      <p:sp>
        <p:nvSpPr>
          <p:cNvPr id="11" name="Text 6"/>
          <p:cNvSpPr txBox="1"/>
          <p:nvPr/>
        </p:nvSpPr>
        <p:spPr>
          <a:xfrm>
            <a:off x="548640" y="3182112"/>
            <a:ext cx="1234440" cy="1353312"/>
          </a:xfrm>
          <a:prstGeom prst="rect">
            <a:avLst/>
          </a:prstGeom>
          <a:noFill/>
          <a:ln/>
        </p:spPr>
        <p:txBody>
          <a:bodyPr wrap="square" lIns="0" tIns="0" rIns="0" bIns="0" rtlCol="0" anchor="ctr"/>
          <a:lstStyle/>
          <a:p>
            <a:pPr indent="0" marL="0">
              <a:buNone/>
            </a:pPr>
            <a:r>
              <a:rPr lang="en-US" sz="1500" b="1" dirty="0">
                <a:solidFill>
                  <a:srgbClr val="D9480F"/>
                </a:solidFill>
                <a:latin typeface="Calibri" pitchFamily="34" charset="0"/>
                <a:ea typeface="Calibri" pitchFamily="34" charset="-122"/>
                <a:cs typeface="Calibri" pitchFamily="34" charset="-120"/>
              </a:rPr>
              <a:t>Wall heat flux</a:t>
            </a:r>
            <a:endParaRPr lang="en-US" sz="1500" dirty="0"/>
          </a:p>
          <a:p>
            <a:pPr indent="0" marL="0">
              <a:buNone/>
            </a:pPr>
            <a:r>
              <a:rPr lang="en-US" sz="1100" dirty="0">
                <a:solidFill>
                  <a:srgbClr val="243447"/>
                </a:solidFill>
                <a:latin typeface="Calibri" pitchFamily="34" charset="0"/>
                <a:ea typeface="Calibri" pitchFamily="34" charset="-122"/>
                <a:cs typeface="Calibri" pitchFamily="34" charset="-120"/>
              </a:rPr>
              <a:t>7200 · 8000 · 8800 W/m²</a:t>
            </a:r>
            <a:endParaRPr lang="en-US" sz="1500" dirty="0"/>
          </a:p>
        </p:txBody>
      </p:sp>
      <p:graphicFrame>
        <p:nvGraphicFramePr>
          <p:cNvPr id="12" name="Chart 3" descr=""/>
          <p:cNvGraphicFramePr/>
          <p:nvPr/>
        </p:nvGraphicFramePr>
        <p:xfrm>
          <a:off x="1965960" y="3044952"/>
          <a:ext cx="3195218" cy="1627632"/>
        </p:xfrm>
        <a:graphic xmlns:a="http://schemas.openxmlformats.org/drawingml/2006/main">
          <a:graphicData uri="http://schemas.openxmlformats.org/drawingml/2006/chart">
            <c:chart xmlns:c="http://schemas.openxmlformats.org/drawingml/2006/chart" r:id="rId4"/>
          </a:graphicData>
        </a:graphic>
      </p:graphicFrame>
      <p:graphicFrame>
        <p:nvGraphicFramePr>
          <p:cNvPr id="13" name="Chart 4" descr=""/>
          <p:cNvGraphicFramePr/>
          <p:nvPr/>
        </p:nvGraphicFramePr>
        <p:xfrm>
          <a:off x="5252618" y="3044952"/>
          <a:ext cx="3195218" cy="1627632"/>
        </p:xfrm>
        <a:graphic xmlns:a="http://schemas.openxmlformats.org/drawingml/2006/main">
          <a:graphicData uri="http://schemas.openxmlformats.org/drawingml/2006/chart">
            <c:chart xmlns:c="http://schemas.openxmlformats.org/drawingml/2006/chart" r:id="rId5"/>
          </a:graphicData>
        </a:graphic>
      </p:graphicFrame>
      <p:graphicFrame>
        <p:nvGraphicFramePr>
          <p:cNvPr id="14" name="Chart 5" descr=""/>
          <p:cNvGraphicFramePr/>
          <p:nvPr/>
        </p:nvGraphicFramePr>
        <p:xfrm>
          <a:off x="8539277" y="3044952"/>
          <a:ext cx="3195218" cy="1627632"/>
        </p:xfrm>
        <a:graphic xmlns:a="http://schemas.openxmlformats.org/drawingml/2006/main">
          <a:graphicData uri="http://schemas.openxmlformats.org/drawingml/2006/chart">
            <c:chart xmlns:c="http://schemas.openxmlformats.org/drawingml/2006/chart" r:id="rId6"/>
          </a:graphicData>
        </a:graphic>
      </p:graphicFrame>
      <p:sp>
        <p:nvSpPr>
          <p:cNvPr id="15" name="Shape 7"/>
          <p:cNvSpPr/>
          <p:nvPr/>
        </p:nvSpPr>
        <p:spPr>
          <a:xfrm>
            <a:off x="457200" y="4809744"/>
            <a:ext cx="1417320" cy="1444752"/>
          </a:xfrm>
          <a:prstGeom prst="roundRect">
            <a:avLst>
              <a:gd name="adj" fmla="val 5161"/>
            </a:avLst>
          </a:prstGeom>
          <a:solidFill>
            <a:srgbClr val="EEF3F8"/>
          </a:solidFill>
          <a:ln/>
        </p:spPr>
      </p:sp>
      <p:sp>
        <p:nvSpPr>
          <p:cNvPr id="16" name="Text 8"/>
          <p:cNvSpPr txBox="1"/>
          <p:nvPr/>
        </p:nvSpPr>
        <p:spPr>
          <a:xfrm>
            <a:off x="548640" y="4855464"/>
            <a:ext cx="1234440" cy="1353312"/>
          </a:xfrm>
          <a:prstGeom prst="rect">
            <a:avLst/>
          </a:prstGeom>
          <a:noFill/>
          <a:ln/>
        </p:spPr>
        <p:txBody>
          <a:bodyPr wrap="square" lIns="0" tIns="0" rIns="0" bIns="0" rtlCol="0" anchor="ctr"/>
          <a:lstStyle/>
          <a:p>
            <a:pPr indent="0" marL="0">
              <a:buNone/>
            </a:pPr>
            <a:r>
              <a:rPr lang="en-US" sz="1500" b="1" dirty="0">
                <a:solidFill>
                  <a:srgbClr val="5C6B7A"/>
                </a:solidFill>
                <a:latin typeface="Calibri" pitchFamily="34" charset="0"/>
                <a:ea typeface="Calibri" pitchFamily="34" charset="-122"/>
                <a:cs typeface="Calibri" pitchFamily="34" charset="-120"/>
              </a:rPr>
              <a:t>Wall thickness</a:t>
            </a:r>
            <a:endParaRPr lang="en-US" sz="1500" dirty="0"/>
          </a:p>
          <a:p>
            <a:pPr indent="0" marL="0">
              <a:buNone/>
            </a:pPr>
            <a:r>
              <a:rPr lang="en-US" sz="1100" dirty="0">
                <a:solidFill>
                  <a:srgbClr val="243447"/>
                </a:solidFill>
                <a:latin typeface="Calibri" pitchFamily="34" charset="0"/>
                <a:ea typeface="Calibri" pitchFamily="34" charset="-122"/>
                <a:cs typeface="Calibri" pitchFamily="34" charset="-120"/>
              </a:rPr>
              <a:t>8 · 10 · 12 mm  (Q constant)</a:t>
            </a:r>
            <a:endParaRPr lang="en-US" sz="1500" dirty="0"/>
          </a:p>
        </p:txBody>
      </p:sp>
      <p:graphicFrame>
        <p:nvGraphicFramePr>
          <p:cNvPr id="17" name="Chart 6" descr=""/>
          <p:cNvGraphicFramePr/>
          <p:nvPr/>
        </p:nvGraphicFramePr>
        <p:xfrm>
          <a:off x="1965960" y="4718304"/>
          <a:ext cx="3195218" cy="1627632"/>
        </p:xfrm>
        <a:graphic xmlns:a="http://schemas.openxmlformats.org/drawingml/2006/main">
          <a:graphicData uri="http://schemas.openxmlformats.org/drawingml/2006/chart">
            <c:chart xmlns:c="http://schemas.openxmlformats.org/drawingml/2006/chart" r:id="rId7"/>
          </a:graphicData>
        </a:graphic>
      </p:graphicFrame>
      <p:graphicFrame>
        <p:nvGraphicFramePr>
          <p:cNvPr id="18" name="Chart 7" descr=""/>
          <p:cNvGraphicFramePr/>
          <p:nvPr/>
        </p:nvGraphicFramePr>
        <p:xfrm>
          <a:off x="5252618" y="4718304"/>
          <a:ext cx="3195218" cy="1627632"/>
        </p:xfrm>
        <a:graphic xmlns:a="http://schemas.openxmlformats.org/drawingml/2006/main">
          <a:graphicData uri="http://schemas.openxmlformats.org/drawingml/2006/chart">
            <c:chart xmlns:c="http://schemas.openxmlformats.org/drawingml/2006/chart" r:id="rId8"/>
          </a:graphicData>
        </a:graphic>
      </p:graphicFrame>
      <p:graphicFrame>
        <p:nvGraphicFramePr>
          <p:cNvPr id="19" name="Chart 8" descr=""/>
          <p:cNvGraphicFramePr/>
          <p:nvPr/>
        </p:nvGraphicFramePr>
        <p:xfrm>
          <a:off x="8539277" y="4718304"/>
          <a:ext cx="3195218" cy="1627632"/>
        </p:xfrm>
        <a:graphic xmlns:a="http://schemas.openxmlformats.org/drawingml/2006/main">
          <a:graphicData uri="http://schemas.openxmlformats.org/drawingml/2006/chart">
            <c:chart xmlns:c="http://schemas.openxmlformats.org/drawingml/2006/chart" r:id="rId9"/>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Key Engineering Findings</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Within the idealised model — each statement traces to the final engineering audit</a:t>
            </a:r>
            <a:endParaRPr lang="en-US" sz="1600" dirty="0"/>
          </a:p>
        </p:txBody>
      </p:sp>
      <p:sp>
        <p:nvSpPr>
          <p:cNvPr id="5" name="Shape 3"/>
          <p:cNvSpPr/>
          <p:nvPr/>
        </p:nvSpPr>
        <p:spPr>
          <a:xfrm>
            <a:off x="457200" y="1417320"/>
            <a:ext cx="5440680" cy="1371600"/>
          </a:xfrm>
          <a:prstGeom prst="roundRect">
            <a:avLst>
              <a:gd name="adj" fmla="val 5333"/>
            </a:avLst>
          </a:prstGeom>
          <a:solidFill>
            <a:srgbClr val="EEF3F8"/>
          </a:solidFill>
          <a:ln/>
        </p:spPr>
      </p:sp>
      <p:sp>
        <p:nvSpPr>
          <p:cNvPr id="6" name="Shape 4"/>
          <p:cNvSpPr/>
          <p:nvPr/>
        </p:nvSpPr>
        <p:spPr>
          <a:xfrm>
            <a:off x="658368" y="1645920"/>
            <a:ext cx="502920" cy="502920"/>
          </a:xfrm>
          <a:prstGeom prst="ellipse">
            <a:avLst/>
          </a:prstGeom>
          <a:solidFill>
            <a:srgbClr val="D9480F"/>
          </a:solidFill>
          <a:ln/>
        </p:spPr>
      </p:sp>
      <p:sp>
        <p:nvSpPr>
          <p:cNvPr id="7" name="Text 5"/>
          <p:cNvSpPr txBox="1"/>
          <p:nvPr/>
        </p:nvSpPr>
        <p:spPr>
          <a:xfrm>
            <a:off x="658368"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1325880" y="1527048"/>
            <a:ext cx="4389120" cy="438912"/>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Restraint dominates the thermal stress</a:t>
            </a:r>
            <a:endParaRPr lang="en-US" sz="1800" dirty="0"/>
          </a:p>
        </p:txBody>
      </p:sp>
      <p:sp>
        <p:nvSpPr>
          <p:cNvPr id="9" name="Text 7"/>
          <p:cNvSpPr txBox="1"/>
          <p:nvPr/>
        </p:nvSpPr>
        <p:spPr>
          <a:xfrm>
            <a:off x="1325880" y="1984248"/>
            <a:ext cx="4389120" cy="749808"/>
          </a:xfrm>
          <a:prstGeom prst="rect">
            <a:avLst/>
          </a:prstGeom>
          <a:noFill/>
          <a:ln/>
        </p:spPr>
        <p:txBody>
          <a:bodyPr wrap="square" lIns="0" tIns="0" rIns="0" bIns="0" rtlCol="0" anchor="t"/>
          <a:lstStyle/>
          <a:p>
            <a:pPr indent="0" marL="0">
              <a:buNone/>
            </a:pPr>
            <a:r>
              <a:rPr lang="en-US" sz="1500" dirty="0">
                <a:solidFill>
                  <a:srgbClr val="243447"/>
                </a:solidFill>
                <a:latin typeface="Calibri" pitchFamily="34" charset="0"/>
                <a:ea typeface="Calibri" pitchFamily="34" charset="-122"/>
                <a:cs typeface="Calibri" pitchFamily="34" charset="-120"/>
              </a:rPr>
              <a:t>LC2: 548.94 kN end force, −582.44 MPa mean axial stress, 605.16 MPa peak — vs 24.28 MPa for free expansion</a:t>
            </a:r>
            <a:endParaRPr lang="en-US" sz="1500" dirty="0"/>
          </a:p>
        </p:txBody>
      </p:sp>
      <p:sp>
        <p:nvSpPr>
          <p:cNvPr id="10" name="Shape 8"/>
          <p:cNvSpPr/>
          <p:nvPr/>
        </p:nvSpPr>
        <p:spPr>
          <a:xfrm>
            <a:off x="6263640" y="1417320"/>
            <a:ext cx="5440680" cy="1371600"/>
          </a:xfrm>
          <a:prstGeom prst="roundRect">
            <a:avLst>
              <a:gd name="adj" fmla="val 5333"/>
            </a:avLst>
          </a:prstGeom>
          <a:solidFill>
            <a:srgbClr val="EEF3F8"/>
          </a:solidFill>
          <a:ln/>
        </p:spPr>
      </p:sp>
      <p:sp>
        <p:nvSpPr>
          <p:cNvPr id="11" name="Shape 9"/>
          <p:cNvSpPr/>
          <p:nvPr/>
        </p:nvSpPr>
        <p:spPr>
          <a:xfrm>
            <a:off x="6464808" y="1645920"/>
            <a:ext cx="502920" cy="502920"/>
          </a:xfrm>
          <a:prstGeom prst="ellipse">
            <a:avLst/>
          </a:prstGeom>
          <a:solidFill>
            <a:srgbClr val="D9480F"/>
          </a:solidFill>
          <a:ln/>
        </p:spPr>
      </p:sp>
      <p:sp>
        <p:nvSpPr>
          <p:cNvPr id="12" name="Text 10"/>
          <p:cNvSpPr txBox="1"/>
          <p:nvPr/>
        </p:nvSpPr>
        <p:spPr>
          <a:xfrm>
            <a:off x="6464808"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7132320" y="1527048"/>
            <a:ext cx="4389120" cy="438912"/>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The idealised S1 model is stability-limited</a:t>
            </a:r>
            <a:endParaRPr lang="en-US" sz="1800" dirty="0"/>
          </a:p>
        </p:txBody>
      </p:sp>
      <p:sp>
        <p:nvSpPr>
          <p:cNvPr id="14" name="Text 12"/>
          <p:cNvSpPr txBox="1"/>
          <p:nvPr/>
        </p:nvSpPr>
        <p:spPr>
          <a:xfrm>
            <a:off x="7132320" y="1984248"/>
            <a:ext cx="4389120" cy="749808"/>
          </a:xfrm>
          <a:prstGeom prst="rect">
            <a:avLst/>
          </a:prstGeom>
          <a:noFill/>
          <a:ln/>
        </p:spPr>
        <p:txBody>
          <a:bodyPr wrap="square" lIns="0" tIns="0" rIns="0" bIns="0" rtlCol="0" anchor="t"/>
          <a:lstStyle/>
          <a:p>
            <a:pPr indent="0" marL="0">
              <a:buNone/>
            </a:pPr>
            <a:r>
              <a:rPr lang="en-US" sz="1500" dirty="0">
                <a:solidFill>
                  <a:srgbClr val="243447"/>
                </a:solidFill>
                <a:latin typeface="Calibri" pitchFamily="34" charset="0"/>
                <a:ea typeface="Calibri" pitchFamily="34" charset="-122"/>
                <a:cs typeface="Calibri" pitchFamily="34" charset="-120"/>
              </a:rPr>
              <a:t>λ₁ = 1.108 is below the first-yield factor 1.730: bifurcation comes first, close to instability</a:t>
            </a:r>
            <a:endParaRPr lang="en-US" sz="1500" dirty="0"/>
          </a:p>
        </p:txBody>
      </p:sp>
      <p:sp>
        <p:nvSpPr>
          <p:cNvPr id="15" name="Shape 13"/>
          <p:cNvSpPr/>
          <p:nvPr/>
        </p:nvSpPr>
        <p:spPr>
          <a:xfrm>
            <a:off x="457200" y="2990088"/>
            <a:ext cx="5440680" cy="1371600"/>
          </a:xfrm>
          <a:prstGeom prst="roundRect">
            <a:avLst>
              <a:gd name="adj" fmla="val 5333"/>
            </a:avLst>
          </a:prstGeom>
          <a:solidFill>
            <a:srgbClr val="EEF3F8"/>
          </a:solidFill>
          <a:ln/>
        </p:spPr>
      </p:sp>
      <p:sp>
        <p:nvSpPr>
          <p:cNvPr id="16" name="Shape 14"/>
          <p:cNvSpPr/>
          <p:nvPr/>
        </p:nvSpPr>
        <p:spPr>
          <a:xfrm>
            <a:off x="658368" y="3218688"/>
            <a:ext cx="502920" cy="502920"/>
          </a:xfrm>
          <a:prstGeom prst="ellipse">
            <a:avLst/>
          </a:prstGeom>
          <a:solidFill>
            <a:srgbClr val="D9480F"/>
          </a:solidFill>
          <a:ln/>
        </p:spPr>
      </p:sp>
      <p:sp>
        <p:nvSpPr>
          <p:cNvPr id="17" name="Text 15"/>
          <p:cNvSpPr txBox="1"/>
          <p:nvPr/>
        </p:nvSpPr>
        <p:spPr>
          <a:xfrm>
            <a:off x="658368" y="32186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1325880" y="3099816"/>
            <a:ext cx="4389120" cy="438912"/>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End restraint controls the buckling response</a:t>
            </a:r>
            <a:endParaRPr lang="en-US" sz="1800" dirty="0"/>
          </a:p>
        </p:txBody>
      </p:sp>
      <p:sp>
        <p:nvSpPr>
          <p:cNvPr id="19" name="Text 17"/>
          <p:cNvSpPr txBox="1"/>
          <p:nvPr/>
        </p:nvSpPr>
        <p:spPr>
          <a:xfrm>
            <a:off x="1325880" y="3557016"/>
            <a:ext cx="4389120" cy="749808"/>
          </a:xfrm>
          <a:prstGeom prst="rect">
            <a:avLst/>
          </a:prstGeom>
          <a:noFill/>
          <a:ln/>
        </p:spPr>
        <p:txBody>
          <a:bodyPr wrap="square" lIns="0" tIns="0" rIns="0" bIns="0" rtlCol="0" anchor="t"/>
          <a:lstStyle/>
          <a:p>
            <a:pPr indent="0" marL="0">
              <a:buNone/>
            </a:pPr>
            <a:r>
              <a:rPr lang="en-US" sz="1500" dirty="0">
                <a:solidFill>
                  <a:srgbClr val="243447"/>
                </a:solidFill>
                <a:latin typeface="Calibri" pitchFamily="34" charset="0"/>
                <a:ea typeface="Calibri" pitchFamily="34" charset="-122"/>
                <a:cs typeface="Calibri" pitchFamily="34" charset="-120"/>
              </a:rPr>
              <a:t>λ₁ = 1.108 (S1) · 2.232 (S3) · 4.300 (S2) at an identical static stress</a:t>
            </a:r>
            <a:endParaRPr lang="en-US" sz="1500" dirty="0"/>
          </a:p>
        </p:txBody>
      </p:sp>
      <p:sp>
        <p:nvSpPr>
          <p:cNvPr id="20" name="Shape 18"/>
          <p:cNvSpPr/>
          <p:nvPr/>
        </p:nvSpPr>
        <p:spPr>
          <a:xfrm>
            <a:off x="6263640" y="2990088"/>
            <a:ext cx="5440680" cy="1371600"/>
          </a:xfrm>
          <a:prstGeom prst="roundRect">
            <a:avLst>
              <a:gd name="adj" fmla="val 5333"/>
            </a:avLst>
          </a:prstGeom>
          <a:solidFill>
            <a:srgbClr val="EEF3F8"/>
          </a:solidFill>
          <a:ln/>
        </p:spPr>
      </p:sp>
      <p:sp>
        <p:nvSpPr>
          <p:cNvPr id="21" name="Shape 19"/>
          <p:cNvSpPr/>
          <p:nvPr/>
        </p:nvSpPr>
        <p:spPr>
          <a:xfrm>
            <a:off x="6464808" y="3218688"/>
            <a:ext cx="502920" cy="502920"/>
          </a:xfrm>
          <a:prstGeom prst="ellipse">
            <a:avLst/>
          </a:prstGeom>
          <a:solidFill>
            <a:srgbClr val="D9480F"/>
          </a:solidFill>
          <a:ln/>
        </p:spPr>
      </p:sp>
      <p:sp>
        <p:nvSpPr>
          <p:cNvPr id="22" name="Text 20"/>
          <p:cNvSpPr txBox="1"/>
          <p:nvPr/>
        </p:nvSpPr>
        <p:spPr>
          <a:xfrm>
            <a:off x="6464808" y="32186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txBox="1"/>
          <p:nvPr/>
        </p:nvSpPr>
        <p:spPr>
          <a:xfrm>
            <a:off x="7132320" y="3099816"/>
            <a:ext cx="4389120" cy="438912"/>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Heat flux drives temperature and stress</a:t>
            </a:r>
            <a:endParaRPr lang="en-US" sz="1800" dirty="0"/>
          </a:p>
        </p:txBody>
      </p:sp>
      <p:sp>
        <p:nvSpPr>
          <p:cNvPr id="24" name="Text 22"/>
          <p:cNvSpPr txBox="1"/>
          <p:nvPr/>
        </p:nvSpPr>
        <p:spPr>
          <a:xfrm>
            <a:off x="7132320" y="3557016"/>
            <a:ext cx="4389120" cy="749808"/>
          </a:xfrm>
          <a:prstGeom prst="rect">
            <a:avLst/>
          </a:prstGeom>
          <a:noFill/>
          <a:ln/>
        </p:spPr>
        <p:txBody>
          <a:bodyPr wrap="square" lIns="0" tIns="0" rIns="0" bIns="0" rtlCol="0" anchor="t"/>
          <a:lstStyle/>
          <a:p>
            <a:pPr indent="0" marL="0">
              <a:buNone/>
            </a:pPr>
            <a:r>
              <a:rPr lang="en-US" sz="1500" dirty="0">
                <a:solidFill>
                  <a:srgbClr val="243447"/>
                </a:solidFill>
                <a:latin typeface="Calibri" pitchFamily="34" charset="0"/>
                <a:ea typeface="Calibri" pitchFamily="34" charset="-122"/>
                <a:cs typeface="Calibri" pitchFamily="34" charset="-120"/>
              </a:rPr>
              <a:t>±10 % q″: T_max −28.1 / +28.6 K, LC2 stress −11.0 / +11.2 %, λ₁ 1.255 / 0.988</a:t>
            </a:r>
            <a:endParaRPr lang="en-US" sz="1500" dirty="0"/>
          </a:p>
        </p:txBody>
      </p:sp>
      <p:sp>
        <p:nvSpPr>
          <p:cNvPr id="25" name="Shape 23"/>
          <p:cNvSpPr/>
          <p:nvPr/>
        </p:nvSpPr>
        <p:spPr>
          <a:xfrm>
            <a:off x="457200" y="4562856"/>
            <a:ext cx="5440680" cy="1371600"/>
          </a:xfrm>
          <a:prstGeom prst="roundRect">
            <a:avLst>
              <a:gd name="adj" fmla="val 5333"/>
            </a:avLst>
          </a:prstGeom>
          <a:solidFill>
            <a:srgbClr val="EEF3F8"/>
          </a:solidFill>
          <a:ln/>
        </p:spPr>
      </p:sp>
      <p:sp>
        <p:nvSpPr>
          <p:cNvPr id="26" name="Shape 24"/>
          <p:cNvSpPr/>
          <p:nvPr/>
        </p:nvSpPr>
        <p:spPr>
          <a:xfrm>
            <a:off x="658368" y="4791456"/>
            <a:ext cx="502920" cy="502920"/>
          </a:xfrm>
          <a:prstGeom prst="ellipse">
            <a:avLst/>
          </a:prstGeom>
          <a:solidFill>
            <a:srgbClr val="D9480F"/>
          </a:solidFill>
          <a:ln/>
        </p:spPr>
      </p:sp>
      <p:sp>
        <p:nvSpPr>
          <p:cNvPr id="27" name="Text 25"/>
          <p:cNvSpPr txBox="1"/>
          <p:nvPr/>
        </p:nvSpPr>
        <p:spPr>
          <a:xfrm>
            <a:off x="658368" y="47914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txBox="1"/>
          <p:nvPr/>
        </p:nvSpPr>
        <p:spPr>
          <a:xfrm>
            <a:off x="1325880" y="4672584"/>
            <a:ext cx="4389120" cy="438912"/>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Thickness acts on stiffness, not temperature</a:t>
            </a:r>
            <a:endParaRPr lang="en-US" sz="1800" dirty="0"/>
          </a:p>
        </p:txBody>
      </p:sp>
      <p:sp>
        <p:nvSpPr>
          <p:cNvPr id="29" name="Text 27"/>
          <p:cNvSpPr txBox="1"/>
          <p:nvPr/>
        </p:nvSpPr>
        <p:spPr>
          <a:xfrm>
            <a:off x="1325880" y="5129784"/>
            <a:ext cx="4389120" cy="749808"/>
          </a:xfrm>
          <a:prstGeom prst="rect">
            <a:avLst/>
          </a:prstGeom>
          <a:noFill/>
          <a:ln/>
        </p:spPr>
        <p:txBody>
          <a:bodyPr wrap="square" lIns="0" tIns="0" rIns="0" bIns="0" rtlCol="0" anchor="t"/>
          <a:lstStyle/>
          <a:p>
            <a:pPr indent="0" marL="0">
              <a:buNone/>
            </a:pPr>
            <a:r>
              <a:rPr lang="en-US" sz="1500" dirty="0">
                <a:solidFill>
                  <a:srgbClr val="243447"/>
                </a:solidFill>
                <a:latin typeface="Calibri" pitchFamily="34" charset="0"/>
                <a:ea typeface="Calibri" pitchFamily="34" charset="-122"/>
                <a:cs typeface="Calibri" pitchFamily="34" charset="-120"/>
              </a:rPr>
              <a:t>8 / 12 mm at constant Q: P_cr −36.6 / +49.3 %, T_max −0.61 / +0.50 K, λ₁ 0.945 / 1.287</a:t>
            </a:r>
            <a:endParaRPr lang="en-US" sz="1500" dirty="0"/>
          </a:p>
        </p:txBody>
      </p:sp>
      <p:sp>
        <p:nvSpPr>
          <p:cNvPr id="30" name="Shape 28"/>
          <p:cNvSpPr/>
          <p:nvPr/>
        </p:nvSpPr>
        <p:spPr>
          <a:xfrm>
            <a:off x="6263640" y="4562856"/>
            <a:ext cx="5440680" cy="1371600"/>
          </a:xfrm>
          <a:prstGeom prst="roundRect">
            <a:avLst>
              <a:gd name="adj" fmla="val 5333"/>
            </a:avLst>
          </a:prstGeom>
          <a:solidFill>
            <a:srgbClr val="EEF3F8"/>
          </a:solidFill>
          <a:ln/>
        </p:spPr>
      </p:sp>
      <p:sp>
        <p:nvSpPr>
          <p:cNvPr id="31" name="Shape 29"/>
          <p:cNvSpPr/>
          <p:nvPr/>
        </p:nvSpPr>
        <p:spPr>
          <a:xfrm>
            <a:off x="6464808" y="4791456"/>
            <a:ext cx="502920" cy="502920"/>
          </a:xfrm>
          <a:prstGeom prst="ellipse">
            <a:avLst/>
          </a:prstGeom>
          <a:solidFill>
            <a:srgbClr val="D9480F"/>
          </a:solidFill>
          <a:ln/>
        </p:spPr>
      </p:sp>
      <p:sp>
        <p:nvSpPr>
          <p:cNvPr id="32" name="Text 30"/>
          <p:cNvSpPr txBox="1"/>
          <p:nvPr/>
        </p:nvSpPr>
        <p:spPr>
          <a:xfrm>
            <a:off x="6464808" y="47914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3" name="Text 31"/>
          <p:cNvSpPr txBox="1"/>
          <p:nvPr/>
        </p:nvSpPr>
        <p:spPr>
          <a:xfrm>
            <a:off x="7132320" y="4672584"/>
            <a:ext cx="4389120" cy="438912"/>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Discretisation is not the dominant uncertainty</a:t>
            </a:r>
            <a:endParaRPr lang="en-US" sz="1800" dirty="0"/>
          </a:p>
        </p:txBody>
      </p:sp>
      <p:sp>
        <p:nvSpPr>
          <p:cNvPr id="34" name="Text 32"/>
          <p:cNvSpPr txBox="1"/>
          <p:nvPr/>
        </p:nvSpPr>
        <p:spPr>
          <a:xfrm>
            <a:off x="7132320" y="5129784"/>
            <a:ext cx="4389120" cy="749808"/>
          </a:xfrm>
          <a:prstGeom prst="rect">
            <a:avLst/>
          </a:prstGeom>
          <a:noFill/>
          <a:ln/>
        </p:spPr>
        <p:txBody>
          <a:bodyPr wrap="square" lIns="0" tIns="0" rIns="0" bIns="0" rtlCol="0" anchor="t"/>
          <a:lstStyle/>
          <a:p>
            <a:pPr indent="0" marL="0">
              <a:buNone/>
            </a:pPr>
            <a:r>
              <a:rPr lang="en-US" sz="1500" dirty="0">
                <a:solidFill>
                  <a:srgbClr val="243447"/>
                </a:solidFill>
                <a:latin typeface="Calibri" pitchFamily="34" charset="0"/>
                <a:ea typeface="Calibri" pitchFamily="34" charset="-122"/>
                <a:cs typeface="Calibri" pitchFamily="34" charset="-120"/>
              </a:rPr>
              <a:t>CFD mesh 4.4 K on T_max, structural mesh ≤ 4.9 × 10⁻⁴, pressure load negligible — the support definition dominates</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Eleation internship project (Feb–May 2025)</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Limitations and Future Work</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The limits define what the results can support — and what to do next</a:t>
            </a:r>
            <a:endParaRPr lang="en-US" sz="1600" dirty="0"/>
          </a:p>
        </p:txBody>
      </p:sp>
      <p:sp>
        <p:nvSpPr>
          <p:cNvPr id="5" name="Shape 3"/>
          <p:cNvSpPr/>
          <p:nvPr/>
        </p:nvSpPr>
        <p:spPr>
          <a:xfrm>
            <a:off x="457200" y="1417320"/>
            <a:ext cx="5486400" cy="4846320"/>
          </a:xfrm>
          <a:prstGeom prst="roundRect">
            <a:avLst>
              <a:gd name="adj" fmla="val 1509"/>
            </a:avLst>
          </a:prstGeom>
          <a:solidFill>
            <a:srgbClr val="FFFFFF"/>
          </a:solidFill>
          <a:ln w="9525">
            <a:solidFill>
              <a:srgbClr val="C9D3DE"/>
            </a:solidFill>
            <a:prstDash val="solid"/>
          </a:ln>
        </p:spPr>
      </p:sp>
      <p:sp>
        <p:nvSpPr>
          <p:cNvPr id="6" name="Text 4"/>
          <p:cNvSpPr txBox="1"/>
          <p:nvPr/>
        </p:nvSpPr>
        <p:spPr>
          <a:xfrm>
            <a:off x="685800" y="1490472"/>
            <a:ext cx="5029200" cy="411480"/>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Limitations</a:t>
            </a:r>
            <a:endParaRPr lang="en-US" sz="1900" dirty="0"/>
          </a:p>
        </p:txBody>
      </p:sp>
      <p:sp>
        <p:nvSpPr>
          <p:cNvPr id="7" name="Text 5"/>
          <p:cNvSpPr txBox="1"/>
          <p:nvPr/>
        </p:nvSpPr>
        <p:spPr>
          <a:xfrm>
            <a:off x="685800" y="1965960"/>
            <a:ext cx="5120640" cy="42062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Original internship files not retained; analysis redone</a:t>
            </a:r>
            <a:endParaRPr lang="en-US" sz="1600" dirty="0"/>
          </a:p>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No experimental validation — verified, not validated</a:t>
            </a:r>
            <a:endParaRPr lang="en-US" sz="1600" dirty="0"/>
          </a:p>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Idealised end supports (S1 / S2 / S3)</a:t>
            </a:r>
            <a:endParaRPr lang="en-US" sz="1600" dirty="0"/>
          </a:p>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No measured geometric imperfections</a:t>
            </a:r>
            <a:endParaRPr lang="en-US" sz="1600" dirty="0"/>
          </a:p>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Nonlinear buckling: elastic LS-DYNA extension only</a:t>
            </a:r>
            <a:endParaRPr lang="en-US" sz="1600" dirty="0"/>
          </a:p>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No temperature-dependent inelastic stress–strain model</a:t>
            </a:r>
            <a:endParaRPr lang="en-US" sz="1600" dirty="0"/>
          </a:p>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Poisson's ratio assumed (0.294)</a:t>
            </a:r>
            <a:endParaRPr lang="en-US" sz="1600" dirty="0"/>
          </a:p>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One-factor-at-a-time parametric study: no interactions</a:t>
            </a:r>
            <a:endParaRPr lang="en-US" sz="1600" dirty="0"/>
          </a:p>
          <a:p>
            <a:pPr marL="342900" indent="-342900">
              <a:spcAft>
                <a:spcPts val="900"/>
              </a:spcAft>
              <a:buSzPct val="100000"/>
              <a:buChar char="•"/>
            </a:pPr>
            <a:r>
              <a:rPr lang="en-US" sz="1600" dirty="0">
                <a:solidFill>
                  <a:srgbClr val="243447"/>
                </a:solidFill>
                <a:latin typeface="Calibri" pitchFamily="34" charset="0"/>
                <a:ea typeface="Calibri" pitchFamily="34" charset="-122"/>
                <a:cs typeface="Calibri" pitchFamily="34" charset="-120"/>
              </a:rPr>
              <a:t>CFD model form not varied (model-form uncertainty)</a:t>
            </a:r>
            <a:endParaRPr lang="en-US" sz="1600" dirty="0"/>
          </a:p>
        </p:txBody>
      </p:sp>
      <p:sp>
        <p:nvSpPr>
          <p:cNvPr id="8" name="Text 6"/>
          <p:cNvSpPr txBox="1"/>
          <p:nvPr/>
        </p:nvSpPr>
        <p:spPr>
          <a:xfrm>
            <a:off x="6263640" y="1490472"/>
            <a:ext cx="5470855" cy="411480"/>
          </a:xfrm>
          <a:prstGeom prst="rect">
            <a:avLst/>
          </a:prstGeom>
          <a:noFill/>
          <a:ln/>
        </p:spPr>
        <p:txBody>
          <a:bodyPr wrap="square" lIns="0" tIns="0" rIns="0" bIns="0" rtlCol="0" anchor="ctr"/>
          <a:lstStyle/>
          <a:p>
            <a:pPr indent="0" marL="0">
              <a:buNone/>
            </a:pPr>
            <a:r>
              <a:rPr lang="en-US" sz="1900" b="1" dirty="0">
                <a:solidFill>
                  <a:srgbClr val="2F5D8A"/>
                </a:solidFill>
                <a:latin typeface="Calibri" pitchFamily="34" charset="0"/>
                <a:ea typeface="Calibri" pitchFamily="34" charset="-122"/>
                <a:cs typeface="Calibri" pitchFamily="34" charset="-120"/>
              </a:rPr>
              <a:t>Future work</a:t>
            </a:r>
            <a:endParaRPr lang="en-US" sz="1900" dirty="0"/>
          </a:p>
        </p:txBody>
      </p:sp>
      <p:sp>
        <p:nvSpPr>
          <p:cNvPr id="9" name="Shape 7"/>
          <p:cNvSpPr/>
          <p:nvPr/>
        </p:nvSpPr>
        <p:spPr>
          <a:xfrm>
            <a:off x="6263640" y="1965960"/>
            <a:ext cx="5470855" cy="749808"/>
          </a:xfrm>
          <a:prstGeom prst="roundRect">
            <a:avLst>
              <a:gd name="adj" fmla="val 9756"/>
            </a:avLst>
          </a:prstGeom>
          <a:solidFill>
            <a:srgbClr val="EEF3F8"/>
          </a:solidFill>
          <a:ln/>
        </p:spPr>
      </p:sp>
      <p:sp>
        <p:nvSpPr>
          <p:cNvPr id="10" name="Shape 8"/>
          <p:cNvSpPr/>
          <p:nvPr/>
        </p:nvSpPr>
        <p:spPr>
          <a:xfrm>
            <a:off x="6400800" y="2130552"/>
            <a:ext cx="420624" cy="420624"/>
          </a:xfrm>
          <a:prstGeom prst="ellipse">
            <a:avLst/>
          </a:prstGeom>
          <a:solidFill>
            <a:srgbClr val="2F5D8A"/>
          </a:solidFill>
          <a:ln/>
        </p:spPr>
      </p:sp>
      <p:sp>
        <p:nvSpPr>
          <p:cNvPr id="11" name="Text 9"/>
          <p:cNvSpPr txBox="1"/>
          <p:nvPr/>
        </p:nvSpPr>
        <p:spPr>
          <a:xfrm>
            <a:off x="6400800" y="21305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txBox="1"/>
          <p:nvPr/>
        </p:nvSpPr>
        <p:spPr>
          <a:xfrm>
            <a:off x="6976872" y="2020824"/>
            <a:ext cx="4602175" cy="32918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Experimental validation</a:t>
            </a:r>
            <a:endParaRPr lang="en-US" sz="1500" dirty="0"/>
          </a:p>
        </p:txBody>
      </p:sp>
      <p:sp>
        <p:nvSpPr>
          <p:cNvPr id="13" name="Text 11"/>
          <p:cNvSpPr txBox="1"/>
          <p:nvPr/>
        </p:nvSpPr>
        <p:spPr>
          <a:xfrm>
            <a:off x="6976872" y="2350008"/>
            <a:ext cx="4602175" cy="310896"/>
          </a:xfrm>
          <a:prstGeom prst="rect">
            <a:avLst/>
          </a:prstGeom>
          <a:noFill/>
          <a:ln/>
        </p:spPr>
        <p:txBody>
          <a:bodyPr wrap="square" lIns="0" tIns="0" rIns="0" bIns="0" rtlCol="0" anchor="t"/>
          <a:lstStyle/>
          <a:p>
            <a:pPr indent="0" marL="0">
              <a:buNone/>
            </a:pPr>
            <a:r>
              <a:rPr lang="en-US" sz="1250" dirty="0">
                <a:solidFill>
                  <a:srgbClr val="243447"/>
                </a:solidFill>
                <a:latin typeface="Calibri" pitchFamily="34" charset="0"/>
                <a:ea typeface="Calibri" pitchFamily="34" charset="-122"/>
                <a:cs typeface="Calibri" pitchFamily="34" charset="-120"/>
              </a:rPr>
              <a:t>wall thermocouples and pressure taps on a heated-duct rig</a:t>
            </a:r>
            <a:endParaRPr lang="en-US" sz="1250" dirty="0"/>
          </a:p>
        </p:txBody>
      </p:sp>
      <p:sp>
        <p:nvSpPr>
          <p:cNvPr id="14" name="Shape 12"/>
          <p:cNvSpPr/>
          <p:nvPr/>
        </p:nvSpPr>
        <p:spPr>
          <a:xfrm>
            <a:off x="6263640" y="2825496"/>
            <a:ext cx="5470855" cy="749808"/>
          </a:xfrm>
          <a:prstGeom prst="roundRect">
            <a:avLst>
              <a:gd name="adj" fmla="val 9756"/>
            </a:avLst>
          </a:prstGeom>
          <a:solidFill>
            <a:srgbClr val="EEF3F8"/>
          </a:solidFill>
          <a:ln/>
        </p:spPr>
      </p:sp>
      <p:sp>
        <p:nvSpPr>
          <p:cNvPr id="15" name="Shape 13"/>
          <p:cNvSpPr/>
          <p:nvPr/>
        </p:nvSpPr>
        <p:spPr>
          <a:xfrm>
            <a:off x="6400800" y="2990088"/>
            <a:ext cx="420624" cy="420624"/>
          </a:xfrm>
          <a:prstGeom prst="ellipse">
            <a:avLst/>
          </a:prstGeom>
          <a:solidFill>
            <a:srgbClr val="2F5D8A"/>
          </a:solidFill>
          <a:ln/>
        </p:spPr>
      </p:sp>
      <p:sp>
        <p:nvSpPr>
          <p:cNvPr id="16" name="Text 14"/>
          <p:cNvSpPr txBox="1"/>
          <p:nvPr/>
        </p:nvSpPr>
        <p:spPr>
          <a:xfrm>
            <a:off x="6400800" y="29900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6976872" y="2880360"/>
            <a:ext cx="4602175" cy="32918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Realistic support characterisation</a:t>
            </a:r>
            <a:endParaRPr lang="en-US" sz="1500" dirty="0"/>
          </a:p>
        </p:txBody>
      </p:sp>
      <p:sp>
        <p:nvSpPr>
          <p:cNvPr id="18" name="Text 16"/>
          <p:cNvSpPr txBox="1"/>
          <p:nvPr/>
        </p:nvSpPr>
        <p:spPr>
          <a:xfrm>
            <a:off x="6976872" y="3209544"/>
            <a:ext cx="4602175" cy="310896"/>
          </a:xfrm>
          <a:prstGeom prst="rect">
            <a:avLst/>
          </a:prstGeom>
          <a:noFill/>
          <a:ln/>
        </p:spPr>
        <p:txBody>
          <a:bodyPr wrap="square" lIns="0" tIns="0" rIns="0" bIns="0" rtlCol="0" anchor="t"/>
          <a:lstStyle/>
          <a:p>
            <a:pPr indent="0" marL="0">
              <a:buNone/>
            </a:pPr>
            <a:r>
              <a:rPr lang="en-US" sz="1250" dirty="0">
                <a:solidFill>
                  <a:srgbClr val="243447"/>
                </a:solidFill>
                <a:latin typeface="Calibri" pitchFamily="34" charset="0"/>
                <a:ea typeface="Calibri" pitchFamily="34" charset="-122"/>
                <a:cs typeface="Calibri" pitchFamily="34" charset="-120"/>
              </a:rPr>
              <a:t>lateral and rotational stiffness of the real mounting</a:t>
            </a:r>
            <a:endParaRPr lang="en-US" sz="1250" dirty="0"/>
          </a:p>
        </p:txBody>
      </p:sp>
      <p:sp>
        <p:nvSpPr>
          <p:cNvPr id="19" name="Shape 17"/>
          <p:cNvSpPr/>
          <p:nvPr/>
        </p:nvSpPr>
        <p:spPr>
          <a:xfrm>
            <a:off x="6263640" y="3685032"/>
            <a:ext cx="5470855" cy="749808"/>
          </a:xfrm>
          <a:prstGeom prst="roundRect">
            <a:avLst>
              <a:gd name="adj" fmla="val 9756"/>
            </a:avLst>
          </a:prstGeom>
          <a:solidFill>
            <a:srgbClr val="EEF3F8"/>
          </a:solidFill>
          <a:ln/>
        </p:spPr>
      </p:sp>
      <p:sp>
        <p:nvSpPr>
          <p:cNvPr id="20" name="Shape 18"/>
          <p:cNvSpPr/>
          <p:nvPr/>
        </p:nvSpPr>
        <p:spPr>
          <a:xfrm>
            <a:off x="6400800" y="3849624"/>
            <a:ext cx="420624" cy="420624"/>
          </a:xfrm>
          <a:prstGeom prst="ellipse">
            <a:avLst/>
          </a:prstGeom>
          <a:solidFill>
            <a:srgbClr val="2F5D8A"/>
          </a:solidFill>
          <a:ln/>
        </p:spPr>
      </p:sp>
      <p:sp>
        <p:nvSpPr>
          <p:cNvPr id="21" name="Text 19"/>
          <p:cNvSpPr txBox="1"/>
          <p:nvPr/>
        </p:nvSpPr>
        <p:spPr>
          <a:xfrm>
            <a:off x="6400800" y="3849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6976872" y="3739896"/>
            <a:ext cx="4602175" cy="32918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Imperfect, nonlinear buckling</a:t>
            </a:r>
            <a:endParaRPr lang="en-US" sz="1500" dirty="0"/>
          </a:p>
        </p:txBody>
      </p:sp>
      <p:sp>
        <p:nvSpPr>
          <p:cNvPr id="23" name="Text 21"/>
          <p:cNvSpPr txBox="1"/>
          <p:nvPr/>
        </p:nvSpPr>
        <p:spPr>
          <a:xfrm>
            <a:off x="6976872" y="4069080"/>
            <a:ext cx="4602175" cy="310896"/>
          </a:xfrm>
          <a:prstGeom prst="rect">
            <a:avLst/>
          </a:prstGeom>
          <a:noFill/>
          <a:ln/>
        </p:spPr>
        <p:txBody>
          <a:bodyPr wrap="square" lIns="0" tIns="0" rIns="0" bIns="0" rtlCol="0" anchor="t"/>
          <a:lstStyle/>
          <a:p>
            <a:pPr indent="0" marL="0">
              <a:buNone/>
            </a:pPr>
            <a:r>
              <a:rPr lang="en-US" sz="1250" dirty="0">
                <a:solidFill>
                  <a:srgbClr val="243447"/>
                </a:solidFill>
                <a:latin typeface="Calibri" pitchFamily="34" charset="0"/>
                <a:ea typeface="Calibri" pitchFamily="34" charset="-122"/>
                <a:cs typeface="Calibri" pitchFamily="34" charset="-120"/>
              </a:rPr>
              <a:t>elastic–plastic, with tolerance-based imperfections</a:t>
            </a:r>
            <a:endParaRPr lang="en-US" sz="1250" dirty="0"/>
          </a:p>
        </p:txBody>
      </p:sp>
      <p:sp>
        <p:nvSpPr>
          <p:cNvPr id="24" name="Shape 22"/>
          <p:cNvSpPr/>
          <p:nvPr/>
        </p:nvSpPr>
        <p:spPr>
          <a:xfrm>
            <a:off x="6263640" y="4544568"/>
            <a:ext cx="5470855" cy="749808"/>
          </a:xfrm>
          <a:prstGeom prst="roundRect">
            <a:avLst>
              <a:gd name="adj" fmla="val 9756"/>
            </a:avLst>
          </a:prstGeom>
          <a:solidFill>
            <a:srgbClr val="EEF3F8"/>
          </a:solidFill>
          <a:ln/>
        </p:spPr>
      </p:sp>
      <p:sp>
        <p:nvSpPr>
          <p:cNvPr id="25" name="Shape 23"/>
          <p:cNvSpPr/>
          <p:nvPr/>
        </p:nvSpPr>
        <p:spPr>
          <a:xfrm>
            <a:off x="6400800" y="4709160"/>
            <a:ext cx="420624" cy="420624"/>
          </a:xfrm>
          <a:prstGeom prst="ellipse">
            <a:avLst/>
          </a:prstGeom>
          <a:solidFill>
            <a:srgbClr val="2F5D8A"/>
          </a:solidFill>
          <a:ln/>
        </p:spPr>
      </p:sp>
      <p:sp>
        <p:nvSpPr>
          <p:cNvPr id="26" name="Text 24"/>
          <p:cNvSpPr txBox="1"/>
          <p:nvPr/>
        </p:nvSpPr>
        <p:spPr>
          <a:xfrm>
            <a:off x="6400800" y="47091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6976872" y="4599432"/>
            <a:ext cx="4602175" cy="32918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Temperature-dependent inelastic behaviour</a:t>
            </a:r>
            <a:endParaRPr lang="en-US" sz="1500" dirty="0"/>
          </a:p>
        </p:txBody>
      </p:sp>
      <p:sp>
        <p:nvSpPr>
          <p:cNvPr id="28" name="Text 26"/>
          <p:cNvSpPr txBox="1"/>
          <p:nvPr/>
        </p:nvSpPr>
        <p:spPr>
          <a:xfrm>
            <a:off x="6976872" y="4928616"/>
            <a:ext cx="4602175" cy="310896"/>
          </a:xfrm>
          <a:prstGeom prst="rect">
            <a:avLst/>
          </a:prstGeom>
          <a:noFill/>
          <a:ln/>
        </p:spPr>
        <p:txBody>
          <a:bodyPr wrap="square" lIns="0" tIns="0" rIns="0" bIns="0" rtlCol="0" anchor="t"/>
          <a:lstStyle/>
          <a:p>
            <a:pPr indent="0" marL="0">
              <a:buNone/>
            </a:pPr>
            <a:r>
              <a:rPr lang="en-US" sz="1250" dirty="0">
                <a:solidFill>
                  <a:srgbClr val="243447"/>
                </a:solidFill>
                <a:latin typeface="Calibri" pitchFamily="34" charset="0"/>
                <a:ea typeface="Calibri" pitchFamily="34" charset="-122"/>
                <a:cs typeface="Calibri" pitchFamily="34" charset="-120"/>
              </a:rPr>
              <a:t>elastic–plastic analysis with specification-minimum data</a:t>
            </a:r>
            <a:endParaRPr lang="en-US" sz="1250" dirty="0"/>
          </a:p>
        </p:txBody>
      </p:sp>
      <p:sp>
        <p:nvSpPr>
          <p:cNvPr id="29" name="Shape 27"/>
          <p:cNvSpPr/>
          <p:nvPr/>
        </p:nvSpPr>
        <p:spPr>
          <a:xfrm>
            <a:off x="6263640" y="5404104"/>
            <a:ext cx="5470855" cy="749808"/>
          </a:xfrm>
          <a:prstGeom prst="roundRect">
            <a:avLst>
              <a:gd name="adj" fmla="val 9756"/>
            </a:avLst>
          </a:prstGeom>
          <a:solidFill>
            <a:srgbClr val="EEF3F8"/>
          </a:solidFill>
          <a:ln/>
        </p:spPr>
      </p:sp>
      <p:sp>
        <p:nvSpPr>
          <p:cNvPr id="30" name="Shape 28"/>
          <p:cNvSpPr/>
          <p:nvPr/>
        </p:nvSpPr>
        <p:spPr>
          <a:xfrm>
            <a:off x="6400800" y="5568696"/>
            <a:ext cx="420624" cy="420624"/>
          </a:xfrm>
          <a:prstGeom prst="ellipse">
            <a:avLst/>
          </a:prstGeom>
          <a:solidFill>
            <a:srgbClr val="2F5D8A"/>
          </a:solidFill>
          <a:ln/>
        </p:spPr>
      </p:sp>
      <p:sp>
        <p:nvSpPr>
          <p:cNvPr id="31" name="Text 29"/>
          <p:cNvSpPr txBox="1"/>
          <p:nvPr/>
        </p:nvSpPr>
        <p:spPr>
          <a:xfrm>
            <a:off x="6400800" y="55686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30"/>
          <p:cNvSpPr txBox="1"/>
          <p:nvPr/>
        </p:nvSpPr>
        <p:spPr>
          <a:xfrm>
            <a:off x="6976872" y="5458968"/>
            <a:ext cx="4602175" cy="32918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Turbulence and radiation modelling</a:t>
            </a:r>
            <a:endParaRPr lang="en-US" sz="1500" dirty="0"/>
          </a:p>
        </p:txBody>
      </p:sp>
      <p:sp>
        <p:nvSpPr>
          <p:cNvPr id="33" name="Text 31"/>
          <p:cNvSpPr txBox="1"/>
          <p:nvPr/>
        </p:nvSpPr>
        <p:spPr>
          <a:xfrm>
            <a:off x="6976872" y="5788152"/>
            <a:ext cx="4602175" cy="310896"/>
          </a:xfrm>
          <a:prstGeom prst="rect">
            <a:avLst/>
          </a:prstGeom>
          <a:noFill/>
          <a:ln/>
        </p:spPr>
        <p:txBody>
          <a:bodyPr wrap="square" lIns="0" tIns="0" rIns="0" bIns="0" rtlCol="0" anchor="t"/>
          <a:lstStyle/>
          <a:p>
            <a:pPr indent="0" marL="0">
              <a:buNone/>
            </a:pPr>
            <a:r>
              <a:rPr lang="en-US" sz="1250" dirty="0">
                <a:solidFill>
                  <a:srgbClr val="243447"/>
                </a:solidFill>
                <a:latin typeface="Calibri" pitchFamily="34" charset="0"/>
                <a:ea typeface="Calibri" pitchFamily="34" charset="-122"/>
                <a:cs typeface="Calibri" pitchFamily="34" charset="-120"/>
              </a:rPr>
              <a:t>alternative turbulence models; internal radiation, where justified</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02920"/>
            <a:ext cx="694944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3" name="Shape 1"/>
          <p:cNvSpPr/>
          <p:nvPr/>
        </p:nvSpPr>
        <p:spPr>
          <a:xfrm>
            <a:off x="548640" y="1444752"/>
            <a:ext cx="457200" cy="457200"/>
          </a:xfrm>
          <a:prstGeom prst="ellipse">
            <a:avLst/>
          </a:prstGeom>
          <a:solidFill>
            <a:srgbClr val="D9480F"/>
          </a:solidFill>
          <a:ln/>
        </p:spPr>
      </p:sp>
      <p:sp>
        <p:nvSpPr>
          <p:cNvPr id="4" name="Text 2"/>
          <p:cNvSpPr txBox="1"/>
          <p:nvPr/>
        </p:nvSpPr>
        <p:spPr>
          <a:xfrm>
            <a:off x="548640" y="14447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5" name="Text 3"/>
          <p:cNvSpPr txBox="1"/>
          <p:nvPr/>
        </p:nvSpPr>
        <p:spPr>
          <a:xfrm>
            <a:off x="1188720" y="1371600"/>
            <a:ext cx="6309360" cy="4114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 complete, checked chain from flow to stability</a:t>
            </a:r>
            <a:endParaRPr lang="en-US" sz="1900" dirty="0"/>
          </a:p>
        </p:txBody>
      </p:sp>
      <p:sp>
        <p:nvSpPr>
          <p:cNvPr id="6" name="Text 4"/>
          <p:cNvSpPr txBox="1"/>
          <p:nvPr/>
        </p:nvSpPr>
        <p:spPr>
          <a:xfrm>
            <a:off x="1188720" y="1801368"/>
            <a:ext cx="6309360" cy="5943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converged, verified conjugate heat transfer; maximum solid temperature 562.58 K on the medium mesh</a:t>
            </a:r>
            <a:endParaRPr lang="en-US" sz="1500" dirty="0"/>
          </a:p>
        </p:txBody>
      </p:sp>
      <p:sp>
        <p:nvSpPr>
          <p:cNvPr id="7" name="Shape 5"/>
          <p:cNvSpPr/>
          <p:nvPr/>
        </p:nvSpPr>
        <p:spPr>
          <a:xfrm>
            <a:off x="548640" y="2633472"/>
            <a:ext cx="457200" cy="457200"/>
          </a:xfrm>
          <a:prstGeom prst="ellipse">
            <a:avLst/>
          </a:prstGeom>
          <a:solidFill>
            <a:srgbClr val="D9480F"/>
          </a:solidFill>
          <a:ln/>
        </p:spPr>
      </p:sp>
      <p:sp>
        <p:nvSpPr>
          <p:cNvPr id="8" name="Text 6"/>
          <p:cNvSpPr txBox="1"/>
          <p:nvPr/>
        </p:nvSpPr>
        <p:spPr>
          <a:xfrm>
            <a:off x="548640" y="26334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9" name="Text 7"/>
          <p:cNvSpPr txBox="1"/>
          <p:nvPr/>
        </p:nvSpPr>
        <p:spPr>
          <a:xfrm>
            <a:off x="1188720" y="2560320"/>
            <a:ext cx="6309360" cy="4114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Restraint turns thermal growth into compression</a:t>
            </a:r>
            <a:endParaRPr lang="en-US" sz="1900" dirty="0"/>
          </a:p>
        </p:txBody>
      </p:sp>
      <p:sp>
        <p:nvSpPr>
          <p:cNvPr id="10" name="Text 8"/>
          <p:cNvSpPr txBox="1"/>
          <p:nvPr/>
        </p:nvSpPr>
        <p:spPr>
          <a:xfrm>
            <a:off x="1188720" y="2990088"/>
            <a:ext cx="6309360" cy="5943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605.16 MPa local peak, 57.8 % of the local yield strength</a:t>
            </a:r>
            <a:endParaRPr lang="en-US" sz="1500" dirty="0"/>
          </a:p>
        </p:txBody>
      </p:sp>
      <p:sp>
        <p:nvSpPr>
          <p:cNvPr id="11" name="Shape 9"/>
          <p:cNvSpPr/>
          <p:nvPr/>
        </p:nvSpPr>
        <p:spPr>
          <a:xfrm>
            <a:off x="548640" y="3822192"/>
            <a:ext cx="457200" cy="457200"/>
          </a:xfrm>
          <a:prstGeom prst="ellipse">
            <a:avLst/>
          </a:prstGeom>
          <a:solidFill>
            <a:srgbClr val="D9480F"/>
          </a:solidFill>
          <a:ln/>
        </p:spPr>
      </p:sp>
      <p:sp>
        <p:nvSpPr>
          <p:cNvPr id="12" name="Text 10"/>
          <p:cNvSpPr txBox="1"/>
          <p:nvPr/>
        </p:nvSpPr>
        <p:spPr>
          <a:xfrm>
            <a:off x="548640" y="3822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3" name="Text 11"/>
          <p:cNvSpPr txBox="1"/>
          <p:nvPr/>
        </p:nvSpPr>
        <p:spPr>
          <a:xfrm>
            <a:off x="1188720" y="3749040"/>
            <a:ext cx="6309360" cy="4114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idealised S1 duct is stability-limited</a:t>
            </a:r>
            <a:endParaRPr lang="en-US" sz="1900" dirty="0"/>
          </a:p>
        </p:txBody>
      </p:sp>
      <p:sp>
        <p:nvSpPr>
          <p:cNvPr id="14" name="Text 12"/>
          <p:cNvSpPr txBox="1"/>
          <p:nvPr/>
        </p:nvSpPr>
        <p:spPr>
          <a:xfrm>
            <a:off x="1188720" y="4178808"/>
            <a:ext cx="6309360" cy="5943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λ₁ = 1.108 — and the end restraint controls that conclusion (1.108 to 4.300)</a:t>
            </a:r>
            <a:endParaRPr lang="en-US" sz="1500" dirty="0"/>
          </a:p>
        </p:txBody>
      </p:sp>
      <p:sp>
        <p:nvSpPr>
          <p:cNvPr id="15" name="Text 13"/>
          <p:cNvSpPr txBox="1"/>
          <p:nvPr/>
        </p:nvSpPr>
        <p:spPr>
          <a:xfrm>
            <a:off x="548640" y="5074920"/>
            <a:ext cx="6949440" cy="914400"/>
          </a:xfrm>
          <a:prstGeom prst="rect">
            <a:avLst/>
          </a:prstGeom>
          <a:noFill/>
          <a:ln/>
        </p:spPr>
        <p:txBody>
          <a:bodyPr wrap="square" lIns="0" tIns="0" rIns="0" bIns="0" rtlCol="0" anchor="t"/>
          <a:lstStyle/>
          <a:p>
            <a:pPr indent="0" marL="0">
              <a:buNone/>
            </a:pPr>
            <a:r>
              <a:rPr lang="en-US" sz="1300" i="1" dirty="0">
                <a:solidFill>
                  <a:srgbClr val="AFC3D9"/>
                </a:solidFill>
                <a:latin typeface="Calibri" pitchFamily="34" charset="0"/>
                <a:ea typeface="Calibri" pitchFamily="34" charset="-122"/>
                <a:cs typeface="Calibri" pitchFamily="34" charset="-120"/>
              </a:rPr>
              <a:t>Within an idealised numerical model that has not been validated against measurement. The results characterise the mechanism and its sensitivities; they do not show that a real component is structurally adequate.</a:t>
            </a:r>
            <a:endParaRPr lang="en-US" sz="1300" dirty="0"/>
          </a:p>
        </p:txBody>
      </p:sp>
      <p:sp>
        <p:nvSpPr>
          <p:cNvPr id="16" name="Shape 14"/>
          <p:cNvSpPr/>
          <p:nvPr/>
        </p:nvSpPr>
        <p:spPr>
          <a:xfrm>
            <a:off x="8001000" y="1371600"/>
            <a:ext cx="3657600" cy="4206240"/>
          </a:xfrm>
          <a:prstGeom prst="roundRect">
            <a:avLst>
              <a:gd name="adj" fmla="val 2500"/>
            </a:avLst>
          </a:prstGeom>
          <a:solidFill>
            <a:srgbClr val="1E2F52"/>
          </a:solidFill>
          <a:ln w="9525">
            <a:solidFill>
              <a:srgbClr val="3B5078"/>
            </a:solidFill>
            <a:prstDash val="solid"/>
          </a:ln>
        </p:spPr>
      </p:sp>
      <p:sp>
        <p:nvSpPr>
          <p:cNvPr id="17" name="Text 15"/>
          <p:cNvSpPr txBox="1"/>
          <p:nvPr/>
        </p:nvSpPr>
        <p:spPr>
          <a:xfrm>
            <a:off x="8001000" y="2011680"/>
            <a:ext cx="3657600" cy="18288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Thank You</a:t>
            </a:r>
            <a:endParaRPr lang="en-US" sz="3600" dirty="0"/>
          </a:p>
          <a:p>
            <a:pPr algn="ctr" indent="0" marL="0">
              <a:buNone/>
            </a:pPr>
            <a:r>
              <a:rPr lang="en-US" sz="2800" dirty="0">
                <a:solidFill>
                  <a:srgbClr val="F59F00"/>
                </a:solidFill>
                <a:latin typeface="Calibri" pitchFamily="34" charset="0"/>
                <a:ea typeface="Calibri" pitchFamily="34" charset="-122"/>
                <a:cs typeface="Calibri" pitchFamily="34" charset="-120"/>
              </a:rPr>
              <a:t>Questions?</a:t>
            </a:r>
            <a:endParaRPr lang="en-US" sz="3600" dirty="0"/>
          </a:p>
        </p:txBody>
      </p:sp>
      <p:sp>
        <p:nvSpPr>
          <p:cNvPr id="18" name="Text 16"/>
          <p:cNvSpPr txBox="1"/>
          <p:nvPr/>
        </p:nvSpPr>
        <p:spPr>
          <a:xfrm>
            <a:off x="8183880" y="4069080"/>
            <a:ext cx="3291840" cy="109728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Rohan Balram Patel</a:t>
            </a:r>
            <a:endParaRPr lang="en-US" sz="1300" dirty="0"/>
          </a:p>
          <a:p>
            <a:pPr algn="ctr" indent="0" marL="0">
              <a:buNone/>
            </a:pPr>
            <a:r>
              <a:rPr lang="en-US" sz="1300" dirty="0">
                <a:solidFill>
                  <a:srgbClr val="CADCFC"/>
                </a:solidFill>
                <a:latin typeface="Calibri" pitchFamily="34" charset="0"/>
                <a:ea typeface="Calibri" pitchFamily="34" charset="-122"/>
                <a:cs typeface="Calibri" pitchFamily="34" charset="-120"/>
              </a:rPr>
              <a:t>B.Tech Aerospace Engineering</a:t>
            </a:r>
            <a:endParaRPr lang="en-US" sz="1300" dirty="0"/>
          </a:p>
          <a:p>
            <a:pPr algn="ctr" indent="0" marL="0">
              <a:buNone/>
            </a:pPr>
            <a:r>
              <a:rPr lang="en-US" sz="1300" dirty="0">
                <a:solidFill>
                  <a:srgbClr val="CADCFC"/>
                </a:solidFill>
                <a:latin typeface="Calibri" pitchFamily="34" charset="0"/>
                <a:ea typeface="Calibri" pitchFamily="34" charset="-122"/>
                <a:cs typeface="Calibri" pitchFamily="34" charset="-120"/>
              </a:rPr>
              <a:t>Dayananda Sagar University, Bengaluru</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3D9"/>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Additional LS-DYNA analysis (follow-on extension of the project)</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LS-DYNA Nonlinear Buckling Extension</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Additional geometrically nonlinear analysis of the S1 / LC2 duct — a follow-on extension of the Mechanical study</a:t>
            </a:r>
            <a:endParaRPr lang="en-US" sz="1600" dirty="0"/>
          </a:p>
        </p:txBody>
      </p:sp>
      <p:sp>
        <p:nvSpPr>
          <p:cNvPr id="5" name="Shape 3"/>
          <p:cNvSpPr/>
          <p:nvPr/>
        </p:nvSpPr>
        <p:spPr>
          <a:xfrm>
            <a:off x="457200" y="1417320"/>
            <a:ext cx="5257800" cy="4069080"/>
          </a:xfrm>
          <a:prstGeom prst="roundRect">
            <a:avLst>
              <a:gd name="adj" fmla="val 1798"/>
            </a:avLst>
          </a:prstGeom>
          <a:solidFill>
            <a:srgbClr val="FFFFFF"/>
          </a:solidFill>
          <a:ln w="9525">
            <a:solidFill>
              <a:srgbClr val="C9D3DE"/>
            </a:solidFill>
            <a:prstDash val="solid"/>
          </a:ln>
        </p:spPr>
      </p:sp>
      <p:sp>
        <p:nvSpPr>
          <p:cNvPr id="6" name="Text 4"/>
          <p:cNvSpPr txBox="1"/>
          <p:nvPr/>
        </p:nvSpPr>
        <p:spPr>
          <a:xfrm>
            <a:off x="685800" y="1490472"/>
            <a:ext cx="4846320" cy="384048"/>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What was added</a:t>
            </a:r>
            <a:endParaRPr lang="en-US" sz="1800" dirty="0"/>
          </a:p>
        </p:txBody>
      </p:sp>
      <p:sp>
        <p:nvSpPr>
          <p:cNvPr id="7" name="Text 5"/>
          <p:cNvSpPr txBox="1"/>
          <p:nvPr/>
        </p:nvSpPr>
        <p:spPr>
          <a:xfrm>
            <a:off x="685800" y="1965960"/>
            <a:ext cx="4892040" cy="347472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243447"/>
                </a:solidFill>
                <a:latin typeface="Calibri" pitchFamily="34" charset="0"/>
                <a:ea typeface="Calibri" pitchFamily="34" charset="-122"/>
                <a:cs typeface="Calibri" pitchFamily="34" charset="-120"/>
              </a:rPr>
              <a:t>Same LC2 model: mapped Fluent temperature field, S1 supports, 108,252-node mesh</a:t>
            </a:r>
            <a:endParaRPr lang="en-US" sz="1550" dirty="0"/>
          </a:p>
          <a:p>
            <a:pPr marL="342900" indent="-342900">
              <a:spcAft>
                <a:spcPts val="1000"/>
              </a:spcAft>
              <a:buSzPct val="100000"/>
              <a:buChar char="•"/>
            </a:pPr>
            <a:r>
              <a:rPr lang="en-US" sz="1550" dirty="0">
                <a:solidFill>
                  <a:srgbClr val="243447"/>
                </a:solidFill>
                <a:latin typeface="Calibri" pitchFamily="34" charset="0"/>
                <a:ea typeface="Calibri" pitchFamily="34" charset="-122"/>
                <a:cs typeface="Calibri" pitchFamily="34" charset="-120"/>
              </a:rPr>
              <a:t>LS-DYNA verified first: peak von Mises 605.160 vs 605.161 MPa; linear λ₁ = 1.1095 (+0.13 %)</a:t>
            </a:r>
            <a:endParaRPr lang="en-US" sz="1550" dirty="0"/>
          </a:p>
          <a:p>
            <a:pPr marL="342900" indent="-342900">
              <a:spcAft>
                <a:spcPts val="1000"/>
              </a:spcAft>
              <a:buSzPct val="100000"/>
              <a:buChar char="•"/>
            </a:pPr>
            <a:r>
              <a:rPr lang="en-US" sz="1550" dirty="0">
                <a:solidFill>
                  <a:srgbClr val="243447"/>
                </a:solidFill>
                <a:latin typeface="Calibri" pitchFamily="34" charset="0"/>
                <a:ea typeface="Calibri" pitchFamily="34" charset="-122"/>
                <a:cs typeface="Calibri" pitchFamily="34" charset="-120"/>
              </a:rPr>
              <a:t>Geometrically nonlinear (large deflection); elastic, temperature-dependent material</a:t>
            </a:r>
            <a:endParaRPr lang="en-US" sz="1550" dirty="0"/>
          </a:p>
          <a:p>
            <a:pPr marL="342900" indent="-342900">
              <a:spcAft>
                <a:spcPts val="1000"/>
              </a:spcAft>
              <a:buSzPct val="100000"/>
              <a:buChar char="•"/>
            </a:pPr>
            <a:r>
              <a:rPr lang="en-US" sz="1550" dirty="0">
                <a:solidFill>
                  <a:srgbClr val="243447"/>
                </a:solidFill>
                <a:latin typeface="Calibri" pitchFamily="34" charset="0"/>
                <a:ea typeface="Calibri" pitchFamily="34" charset="-122"/>
                <a:cs typeface="Calibri" pitchFamily="34" charset="-120"/>
              </a:rPr>
              <a:t>Temperature rise scaled by λ up to 1.3, with fine steps from λ = 1.0 to 1.2</a:t>
            </a:r>
            <a:endParaRPr lang="en-US" sz="1550" dirty="0"/>
          </a:p>
          <a:p>
            <a:pPr marL="342900" indent="-342900">
              <a:spcAft>
                <a:spcPts val="1000"/>
              </a:spcAft>
              <a:buSzPct val="100000"/>
              <a:buChar char="•"/>
            </a:pPr>
            <a:r>
              <a:rPr lang="en-US" sz="1550" dirty="0">
                <a:solidFill>
                  <a:srgbClr val="243447"/>
                </a:solidFill>
                <a:latin typeface="Calibri" pitchFamily="34" charset="0"/>
                <a:ea typeface="Calibri" pitchFamily="34" charset="-122"/>
                <a:cs typeface="Calibri" pitchFamily="34" charset="-120"/>
              </a:rPr>
              <a:t>Imperfection = buckling mode 1 shape: 0.1 / 0.6 / 1.2 mm (numerical sensitivity values) + perfect reference</a:t>
            </a:r>
            <a:endParaRPr lang="en-US" sz="1550" dirty="0"/>
          </a:p>
        </p:txBody>
      </p:sp>
      <p:pic>
        <p:nvPicPr>
          <p:cNvPr id="8" name="Image 0" descr="LS-DYNA case C5 (1.2 mm): lateral deflection along the duct and deformed outline at load parameter 1.30, global guided sway">    </p:cNvPr>
          <p:cNvPicPr>
            <a:picLocks noChangeAspect="1"/>
          </p:cNvPicPr>
          <p:nvPr/>
        </p:nvPicPr>
        <p:blipFill>
          <a:blip r:embed="rId1"/>
          <a:stretch>
            <a:fillRect/>
          </a:stretch>
        </p:blipFill>
        <p:spPr>
          <a:xfrm>
            <a:off x="5943600" y="1463040"/>
            <a:ext cx="5790895" cy="2140876"/>
          </a:xfrm>
          <a:prstGeom prst="rect">
            <a:avLst/>
          </a:prstGeom>
        </p:spPr>
      </p:pic>
      <p:sp>
        <p:nvSpPr>
          <p:cNvPr id="9" name="Text 6"/>
          <p:cNvSpPr txBox="1"/>
          <p:nvPr/>
        </p:nvSpPr>
        <p:spPr>
          <a:xfrm>
            <a:off x="5943600" y="3649636"/>
            <a:ext cx="5790895" cy="502920"/>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Case C5 (1.2 mm), λ = 1.15–1.30: global guided sway — ends move in opposite directions, mid-span lateral ≈ 0, no local or shell mode</a:t>
            </a:r>
            <a:endParaRPr lang="en-US" sz="1100" dirty="0"/>
          </a:p>
        </p:txBody>
      </p:sp>
      <p:sp>
        <p:nvSpPr>
          <p:cNvPr id="10" name="Shape 7"/>
          <p:cNvSpPr/>
          <p:nvPr/>
        </p:nvSpPr>
        <p:spPr>
          <a:xfrm>
            <a:off x="5943600" y="4343400"/>
            <a:ext cx="5790895" cy="1143000"/>
          </a:xfrm>
          <a:prstGeom prst="roundRect">
            <a:avLst>
              <a:gd name="adj" fmla="val 6400"/>
            </a:avLst>
          </a:prstGeom>
          <a:solidFill>
            <a:srgbClr val="EEF3F8"/>
          </a:solidFill>
          <a:ln/>
        </p:spPr>
      </p:sp>
      <p:sp>
        <p:nvSpPr>
          <p:cNvPr id="11" name="Text 8"/>
          <p:cNvSpPr txBox="1"/>
          <p:nvPr/>
        </p:nvSpPr>
        <p:spPr>
          <a:xfrm>
            <a:off x="6126480" y="4389120"/>
            <a:ext cx="5425135" cy="10515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Three numerical cases  </a:t>
            </a:r>
            <a:pPr indent="0" marL="0">
              <a:buNone/>
            </a:pPr>
            <a:r>
              <a:rPr lang="en-US" sz="1400" dirty="0">
                <a:solidFill>
                  <a:srgbClr val="243447"/>
                </a:solidFill>
                <a:latin typeface="Calibri" pitchFamily="34" charset="0"/>
                <a:ea typeface="Calibri" pitchFamily="34" charset="-122"/>
                <a:cs typeface="Calibri" pitchFamily="34" charset="-120"/>
              </a:rPr>
              <a:t>C1 = 0.1 mm · C3 = 0.6 mm · C5 = 1.2 mm, plus the perfect-geometry reference C0. All four runs terminated normally.</a:t>
            </a:r>
            <a:endParaRPr lang="en-US" sz="1400" dirty="0"/>
          </a:p>
        </p:txBody>
      </p:sp>
      <p:sp>
        <p:nvSpPr>
          <p:cNvPr id="12" name="Shape 9"/>
          <p:cNvSpPr/>
          <p:nvPr/>
        </p:nvSpPr>
        <p:spPr>
          <a:xfrm>
            <a:off x="457200" y="5669280"/>
            <a:ext cx="11277295" cy="594360"/>
          </a:xfrm>
          <a:prstGeom prst="roundRect">
            <a:avLst>
              <a:gd name="adj" fmla="val 12308"/>
            </a:avLst>
          </a:prstGeom>
          <a:solidFill>
            <a:srgbClr val="FFF4E6"/>
          </a:solidFill>
          <a:ln/>
        </p:spPr>
      </p:sp>
      <p:sp>
        <p:nvSpPr>
          <p:cNvPr id="13" name="Text 10"/>
          <p:cNvSpPr txBox="1"/>
          <p:nvPr/>
        </p:nvSpPr>
        <p:spPr>
          <a:xfrm>
            <a:off x="685800" y="5687568"/>
            <a:ext cx="10820095" cy="5486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An additional analysis, not part of the original internship work programme. </a:t>
            </a:r>
            <a:pPr indent="0" marL="0">
              <a:buNone/>
            </a:pPr>
            <a:r>
              <a:rPr lang="en-US" sz="1400" dirty="0">
                <a:solidFill>
                  <a:srgbClr val="243447"/>
                </a:solidFill>
                <a:latin typeface="Calibri" pitchFamily="34" charset="0"/>
                <a:ea typeface="Calibri" pitchFamily="34" charset="-122"/>
                <a:cs typeface="Calibri" pitchFamily="34" charset="-120"/>
              </a:rPr>
              <a:t>The Mechanical result λ₁ = 1.108 remains the reference.</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Additional LS-DYNA analysis (follow-on extension of the project)</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Imperfection Sensitivity</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Imperfection size controls when the duct starts to bend — and how much it bends and stresses at a given load</a:t>
            </a:r>
            <a:endParaRPr lang="en-US" sz="1600" dirty="0"/>
          </a:p>
        </p:txBody>
      </p:sp>
      <p:pic>
        <p:nvPicPr>
          <p:cNvPr id="5" name="Image 0" descr="LS-DYNA load-lateral displacement curves for 0.1, 0.6 and 1.2 mm imperfections and the perfect reference, and normalised curves">    </p:cNvPr>
          <p:cNvPicPr>
            <a:picLocks noChangeAspect="1"/>
          </p:cNvPicPr>
          <p:nvPr/>
        </p:nvPicPr>
        <p:blipFill>
          <a:blip r:embed="rId1"/>
          <a:stretch>
            <a:fillRect/>
          </a:stretch>
        </p:blipFill>
        <p:spPr>
          <a:xfrm>
            <a:off x="457200" y="1417320"/>
            <a:ext cx="7086600" cy="2619895"/>
          </a:xfrm>
          <a:prstGeom prst="rect">
            <a:avLst/>
          </a:prstGeom>
        </p:spPr>
      </p:pic>
      <p:sp>
        <p:nvSpPr>
          <p:cNvPr id="6" name="Text 3"/>
          <p:cNvSpPr txBox="1"/>
          <p:nvPr/>
        </p:nvSpPr>
        <p:spPr>
          <a:xfrm>
            <a:off x="457200" y="4073791"/>
            <a:ext cx="7086600" cy="274320"/>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Axial compression N against total relative end sway (left) and normalised by P_cr and the initial sway (right)</a:t>
            </a:r>
            <a:endParaRPr lang="en-US" sz="1100" dirty="0"/>
          </a:p>
        </p:txBody>
      </p:sp>
      <p:sp>
        <p:nvSpPr>
          <p:cNvPr id="7" name="Shape 4"/>
          <p:cNvSpPr/>
          <p:nvPr/>
        </p:nvSpPr>
        <p:spPr>
          <a:xfrm>
            <a:off x="7772400" y="1417320"/>
            <a:ext cx="3962095" cy="2926080"/>
          </a:xfrm>
          <a:prstGeom prst="roundRect">
            <a:avLst>
              <a:gd name="adj" fmla="val 2500"/>
            </a:avLst>
          </a:prstGeom>
          <a:solidFill>
            <a:srgbClr val="FFFFFF"/>
          </a:solidFill>
          <a:ln w="9525">
            <a:solidFill>
              <a:srgbClr val="C9D3DE"/>
            </a:solidFill>
            <a:prstDash val="solid"/>
          </a:ln>
        </p:spPr>
      </p:sp>
      <p:sp>
        <p:nvSpPr>
          <p:cNvPr id="8" name="Text 5"/>
          <p:cNvSpPr txBox="1"/>
          <p:nvPr/>
        </p:nvSpPr>
        <p:spPr>
          <a:xfrm>
            <a:off x="7955280" y="1481328"/>
            <a:ext cx="3596335"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At a glance</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909560" y="1920240"/>
          <a:ext cx="3687775" cy="914400"/>
        </p:xfrm>
        <a:graphic>
          <a:graphicData uri="http://schemas.openxmlformats.org/drawingml/2006/table">
            <a:tbl>
              <a:tblPr/>
              <a:tblGrid>
                <a:gridCol w="896112"/>
                <a:gridCol w="731520"/>
                <a:gridCol w="786384"/>
                <a:gridCol w="786384"/>
                <a:gridCol w="548640"/>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Case</a:t>
                      </a:r>
                      <a:endParaRPr lang="en-US" sz="115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2F5D8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1 % drop λ</a:t>
                      </a:r>
                      <a:endParaRPr lang="en-US" sz="115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2F5D8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 at λ = 1</a:t>
                      </a:r>
                      <a:endParaRPr lang="en-US" sz="115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2F5D8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VM at λ = 1</a:t>
                      </a:r>
                      <a:endParaRPr lang="en-US" sz="115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2F5D8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Yield λ</a:t>
                      </a:r>
                      <a:endParaRPr lang="en-US" sz="115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2F5D8A"/>
                    </a:solidFill>
                  </a:tcPr>
                </a:tc>
              </a:tr>
              <a:tr h="384048">
                <a:tc>
                  <a:txBody>
                    <a:bodyPr/>
                    <a:lstStyle/>
                    <a:p>
                      <a:pPr algn="ctr" indent="0" marL="0">
                        <a:buNone/>
                      </a:pPr>
                      <a:r>
                        <a:rPr lang="en-US" sz="1200" b="1" dirty="0">
                          <a:solidFill>
                            <a:srgbClr val="243447"/>
                          </a:solidFill>
                          <a:latin typeface="Calibri" pitchFamily="34" charset="0"/>
                          <a:ea typeface="Calibri" pitchFamily="34" charset="-122"/>
                          <a:cs typeface="Calibri" pitchFamily="34" charset="-120"/>
                        </a:rPr>
                        <a:t>C1  0.1 mm</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1.070</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552.2 kN</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690 MPa</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1.109</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r>
              <a:tr h="384048">
                <a:tc>
                  <a:txBody>
                    <a:bodyPr/>
                    <a:lstStyle/>
                    <a:p>
                      <a:pPr algn="ctr" indent="0" marL="0">
                        <a:buNone/>
                      </a:pPr>
                      <a:r>
                        <a:rPr lang="en-US" sz="1200" b="1" dirty="0">
                          <a:solidFill>
                            <a:srgbClr val="243447"/>
                          </a:solidFill>
                          <a:latin typeface="Calibri" pitchFamily="34" charset="0"/>
                          <a:ea typeface="Calibri" pitchFamily="34" charset="-122"/>
                          <a:cs typeface="Calibri" pitchFamily="34" charset="-120"/>
                        </a:rPr>
                        <a:t>C3  0.6 mm</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0.825</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531.2 kN</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966 MPa</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1.031</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243447"/>
                          </a:solidFill>
                          <a:latin typeface="Calibri" pitchFamily="34" charset="0"/>
                          <a:ea typeface="Calibri" pitchFamily="34" charset="-122"/>
                          <a:cs typeface="Calibri" pitchFamily="34" charset="-120"/>
                        </a:rPr>
                        <a:t>C5  1.2 mm</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0.375</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503.5 kN</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1104 MPa</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243447"/>
                          </a:solidFill>
                          <a:latin typeface="Calibri" pitchFamily="34" charset="0"/>
                          <a:ea typeface="Calibri" pitchFamily="34" charset="-122"/>
                          <a:cs typeface="Calibri" pitchFamily="34" charset="-120"/>
                        </a:rPr>
                        <a:t>0.974</a:t>
                      </a:r>
                      <a:endParaRPr lang="en-US" sz="1200" dirty="0">
                        <a:latin typeface="Calibri" charset="0"/>
                        <a:ea typeface="Calibri" charset="0"/>
                        <a:cs typeface="Calibri" charset="0"/>
                      </a:endParaRPr>
                    </a:p>
                  </a:txBody>
                  <a:tcPr marL="27432" marR="27432" marT="27432" marB="27432"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7F9FB"/>
                    </a:solidFill>
                  </a:tcPr>
                </a:tc>
              </a:tr>
            </a:tbl>
          </a:graphicData>
        </a:graphic>
      </p:graphicFrame>
      <p:sp>
        <p:nvSpPr>
          <p:cNvPr id="10" name="Text 6"/>
          <p:cNvSpPr txBox="1"/>
          <p:nvPr/>
        </p:nvSpPr>
        <p:spPr>
          <a:xfrm>
            <a:off x="7955280" y="3611880"/>
            <a:ext cx="3596335" cy="640080"/>
          </a:xfrm>
          <a:prstGeom prst="rect">
            <a:avLst/>
          </a:prstGeom>
          <a:noFill/>
          <a:ln/>
        </p:spPr>
        <p:txBody>
          <a:bodyPr wrap="square" lIns="0" tIns="0" rIns="0" bIns="0" rtlCol="0" anchor="t"/>
          <a:lstStyle/>
          <a:p>
            <a:pPr algn="l" indent="0" marL="0">
              <a:buNone/>
            </a:pPr>
            <a:r>
              <a:rPr lang="en-US" sz="1100" i="1" dirty="0">
                <a:solidFill>
                  <a:srgbClr val="6B7C93"/>
                </a:solidFill>
                <a:latin typeface="Calibri" pitchFamily="34" charset="0"/>
                <a:ea typeface="Calibri" pitchFamily="34" charset="-122"/>
                <a:cs typeface="Calibri" pitchFamily="34" charset="-120"/>
              </a:rPr>
              <a:t>1 % drop: N falls 1 % below the perfect path. Yield λ: peak von Mises reaches the local yield estimate.</a:t>
            </a:r>
            <a:endParaRPr lang="en-US" sz="1100" dirty="0"/>
          </a:p>
        </p:txBody>
      </p:sp>
      <p:sp>
        <p:nvSpPr>
          <p:cNvPr id="11" name="Shape 7"/>
          <p:cNvSpPr/>
          <p:nvPr/>
        </p:nvSpPr>
        <p:spPr>
          <a:xfrm>
            <a:off x="457200" y="4526280"/>
            <a:ext cx="11277295" cy="1737360"/>
          </a:xfrm>
          <a:prstGeom prst="roundRect">
            <a:avLst>
              <a:gd name="adj" fmla="val 4211"/>
            </a:avLst>
          </a:prstGeom>
          <a:solidFill>
            <a:srgbClr val="EEF3F8"/>
          </a:solidFill>
          <a:ln/>
        </p:spPr>
      </p:sp>
      <p:sp>
        <p:nvSpPr>
          <p:cNvPr id="12" name="Text 8"/>
          <p:cNvSpPr txBox="1"/>
          <p:nvPr/>
        </p:nvSpPr>
        <p:spPr>
          <a:xfrm>
            <a:off x="685800" y="4617720"/>
            <a:ext cx="10820095" cy="155448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243447"/>
                </a:solidFill>
                <a:latin typeface="Calibri" pitchFamily="34" charset="0"/>
                <a:ea typeface="Calibri" pitchFamily="34" charset="-122"/>
                <a:cs typeface="Calibri" pitchFamily="34" charset="-120"/>
              </a:rPr>
              <a:t>Larger imperfection → earlier departure from the perfect path: λ = 1.070 → 0.825 → 0.375</a:t>
            </a:r>
            <a:endParaRPr lang="en-US" sz="1500" dirty="0"/>
          </a:p>
          <a:p>
            <a:pPr marL="342900" indent="-342900">
              <a:spcAft>
                <a:spcPts val="600"/>
              </a:spcAft>
              <a:buSzPct val="100000"/>
              <a:buChar char="•"/>
            </a:pPr>
            <a:r>
              <a:rPr lang="en-US" sz="1500" dirty="0">
                <a:solidFill>
                  <a:srgbClr val="243447"/>
                </a:solidFill>
                <a:latin typeface="Calibri" pitchFamily="34" charset="0"/>
                <a:ea typeface="Calibri" pitchFamily="34" charset="-122"/>
                <a:cs typeface="Calibri" pitchFamily="34" charset="-120"/>
              </a:rPr>
              <a:t>At the operating field (λ = 1): lower axial force (552.2 → 503.5 kN) and higher peak stress (690 → 1104 MPa)</a:t>
            </a:r>
            <a:endParaRPr lang="en-US" sz="1500" dirty="0"/>
          </a:p>
          <a:p>
            <a:pPr marL="342900" indent="-342900">
              <a:spcAft>
                <a:spcPts val="600"/>
              </a:spcAft>
              <a:buSzPct val="100000"/>
              <a:buChar char="•"/>
            </a:pPr>
            <a:r>
              <a:rPr lang="en-US" sz="1500" dirty="0">
                <a:solidFill>
                  <a:srgbClr val="243447"/>
                </a:solidFill>
                <a:latin typeface="Calibri" pitchFamily="34" charset="0"/>
                <a:ea typeface="Calibri" pitchFamily="34" charset="-122"/>
                <a:cs typeface="Calibri" pitchFamily="34" charset="-120"/>
              </a:rPr>
              <a:t>Normalised curves collapse onto one: a single global mode, amplified by the imperfection</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7772400" cy="274320"/>
          </a:xfrm>
          <a:prstGeom prst="rect">
            <a:avLst/>
          </a:prstGeom>
          <a:noFill/>
          <a:ln/>
        </p:spPr>
        <p:txBody>
          <a:bodyPr wrap="square" lIns="0" tIns="0" rIns="0" bIns="0" rtlCol="0" anchor="ctr"/>
          <a:lstStyle/>
          <a:p>
            <a:pPr indent="0" marL="0">
              <a:buNone/>
            </a:pPr>
            <a:r>
              <a:rPr lang="en-US" sz="900" dirty="0">
                <a:solidFill>
                  <a:srgbClr val="6B7C93"/>
                </a:solidFill>
                <a:latin typeface="Calibri" pitchFamily="34" charset="0"/>
                <a:ea typeface="Calibri" pitchFamily="34" charset="-122"/>
                <a:cs typeface="Calibri" pitchFamily="34" charset="-120"/>
              </a:rPr>
              <a:t>R. B. Patel  ·  Additional LS-DYNA analysis (follow-on extension of the project)</a:t>
            </a:r>
            <a:endParaRPr lang="en-US" sz="900" dirty="0"/>
          </a:p>
        </p:txBody>
      </p:sp>
      <p:sp>
        <p:nvSpPr>
          <p:cNvPr id="3" name="Text 1"/>
          <p:cNvSpPr txBox="1"/>
          <p:nvPr/>
        </p:nvSpPr>
        <p:spPr>
          <a:xfrm>
            <a:off x="457200" y="274320"/>
            <a:ext cx="11277295" cy="566928"/>
          </a:xfrm>
          <a:prstGeom prst="rect">
            <a:avLst/>
          </a:prstGeom>
          <a:noFill/>
          <a:ln/>
        </p:spPr>
        <p:txBody>
          <a:bodyPr wrap="square" lIns="0" tIns="0" rIns="0" bIns="0" rtlCol="0" anchor="ctr"/>
          <a:lstStyle/>
          <a:p>
            <a:pPr indent="0" marL="0">
              <a:buNone/>
            </a:pPr>
            <a:r>
              <a:rPr lang="en-US" sz="3000" b="1" dirty="0">
                <a:solidFill>
                  <a:srgbClr val="14213D"/>
                </a:solidFill>
                <a:latin typeface="Calibri" pitchFamily="34" charset="0"/>
                <a:ea typeface="Calibri" pitchFamily="34" charset="-122"/>
                <a:cs typeface="Calibri" pitchFamily="34" charset="-120"/>
              </a:rPr>
              <a:t>Mechanical vs LS-DYNA Buckling</a:t>
            </a:r>
            <a:endParaRPr lang="en-US" sz="3000" dirty="0"/>
          </a:p>
        </p:txBody>
      </p:sp>
      <p:sp>
        <p:nvSpPr>
          <p:cNvPr id="4" name="Text 2"/>
          <p:cNvSpPr txBox="1"/>
          <p:nvPr/>
        </p:nvSpPr>
        <p:spPr>
          <a:xfrm>
            <a:off x="457200" y="859536"/>
            <a:ext cx="11277295" cy="384048"/>
          </a:xfrm>
          <a:prstGeom prst="rect">
            <a:avLst/>
          </a:prstGeom>
          <a:noFill/>
          <a:ln/>
        </p:spPr>
        <p:txBody>
          <a:bodyPr wrap="square" lIns="0" tIns="0" rIns="0" bIns="0" rtlCol="0" anchor="ctr"/>
          <a:lstStyle/>
          <a:p>
            <a:pPr indent="0" marL="0">
              <a:buNone/>
            </a:pPr>
            <a:r>
              <a:rPr lang="en-US" sz="1600" i="1" dirty="0">
                <a:solidFill>
                  <a:srgbClr val="2F5D8A"/>
                </a:solidFill>
                <a:latin typeface="Calibri" pitchFamily="34" charset="0"/>
                <a:ea typeface="Calibri" pitchFamily="34" charset="-122"/>
                <a:cs typeface="Calibri" pitchFamily="34" charset="-120"/>
              </a:rPr>
              <a:t>Characteristic load 607.7–612.3 kN against the Mechanical P_cr = 608.25 kN (λ₁ = 1.108)</a:t>
            </a:r>
            <a:endParaRPr lang="en-US" sz="1600" dirty="0"/>
          </a:p>
        </p:txBody>
      </p:sp>
      <p:pic>
        <p:nvPicPr>
          <p:cNvPr id="5" name="Image 0" descr="Bar chart: Mechanical and LS-DYNA linear critical loads, LS-DYNA maximum attained axial force and Southwell estimates for the three imperfection cases">    </p:cNvPr>
          <p:cNvPicPr>
            <a:picLocks noChangeAspect="1"/>
          </p:cNvPicPr>
          <p:nvPr/>
        </p:nvPicPr>
        <p:blipFill>
          <a:blip r:embed="rId1"/>
          <a:stretch>
            <a:fillRect/>
          </a:stretch>
        </p:blipFill>
        <p:spPr>
          <a:xfrm>
            <a:off x="457200" y="1417320"/>
            <a:ext cx="6675120" cy="3041761"/>
          </a:xfrm>
          <a:prstGeom prst="rect">
            <a:avLst/>
          </a:prstGeom>
        </p:spPr>
      </p:pic>
      <p:sp>
        <p:nvSpPr>
          <p:cNvPr id="6" name="Text 3"/>
          <p:cNvSpPr txBox="1"/>
          <p:nvPr/>
        </p:nvSpPr>
        <p:spPr>
          <a:xfrm>
            <a:off x="457200" y="4495657"/>
            <a:ext cx="6675120" cy="457200"/>
          </a:xfrm>
          <a:prstGeom prst="rect">
            <a:avLst/>
          </a:prstGeom>
          <a:noFill/>
          <a:ln/>
        </p:spPr>
        <p:txBody>
          <a:bodyPr wrap="square" lIns="0" tIns="0" rIns="0" bIns="0" rtlCol="0" anchor="t"/>
          <a:lstStyle/>
          <a:p>
            <a:pPr algn="ctr" indent="0" marL="0">
              <a:buNone/>
            </a:pPr>
            <a:r>
              <a:rPr lang="en-US" sz="1100" i="1" dirty="0">
                <a:solidFill>
                  <a:srgbClr val="6B7C93"/>
                </a:solidFill>
                <a:latin typeface="Calibri" pitchFamily="34" charset="0"/>
                <a:ea typeface="Calibri" pitchFamily="34" charset="-122"/>
                <a:cs typeface="Calibri" pitchFamily="34" charset="-120"/>
              </a:rPr>
              <a:t>Bars: linear critical loads and maximum attained N (λ ≤ 1.3); markers: Southwell estimates. 8A = Mechanical, 12B G6 = LS-DYNA linear check</a:t>
            </a:r>
            <a:endParaRPr lang="en-US" sz="1100" dirty="0"/>
          </a:p>
        </p:txBody>
      </p:sp>
      <p:sp>
        <p:nvSpPr>
          <p:cNvPr id="7" name="Shape 4"/>
          <p:cNvSpPr/>
          <p:nvPr/>
        </p:nvSpPr>
        <p:spPr>
          <a:xfrm>
            <a:off x="7360920" y="1417320"/>
            <a:ext cx="4373575" cy="1188720"/>
          </a:xfrm>
          <a:prstGeom prst="roundRect">
            <a:avLst>
              <a:gd name="adj" fmla="val 6154"/>
            </a:avLst>
          </a:prstGeom>
          <a:solidFill>
            <a:srgbClr val="EEF3F8"/>
          </a:solidFill>
          <a:ln/>
        </p:spPr>
      </p:sp>
      <p:sp>
        <p:nvSpPr>
          <p:cNvPr id="8" name="Text 5"/>
          <p:cNvSpPr txBox="1"/>
          <p:nvPr/>
        </p:nvSpPr>
        <p:spPr>
          <a:xfrm>
            <a:off x="7498080" y="1490472"/>
            <a:ext cx="4099255" cy="594360"/>
          </a:xfrm>
          <a:prstGeom prst="rect">
            <a:avLst/>
          </a:prstGeom>
          <a:noFill/>
          <a:ln/>
        </p:spPr>
        <p:txBody>
          <a:bodyPr wrap="square" lIns="0" tIns="0" rIns="0" bIns="0" rtlCol="0" anchor="b"/>
          <a:lstStyle/>
          <a:p>
            <a:pPr indent="0" marL="0">
              <a:buNone/>
            </a:pPr>
            <a:r>
              <a:rPr lang="en-US" sz="2600" b="1" dirty="0">
                <a:solidFill>
                  <a:srgbClr val="D9480F"/>
                </a:solidFill>
                <a:latin typeface="Calibri" pitchFamily="34" charset="0"/>
                <a:ea typeface="Calibri" pitchFamily="34" charset="-122"/>
                <a:cs typeface="Calibri" pitchFamily="34" charset="-120"/>
              </a:rPr>
              <a:t>607.7–612.3</a:t>
            </a:r>
            <a:pPr indent="0" marL="0">
              <a:buNone/>
            </a:pPr>
            <a:r>
              <a:rPr lang="en-US" sz="1500" b="1" dirty="0">
                <a:solidFill>
                  <a:srgbClr val="D9480F"/>
                </a:solidFill>
                <a:latin typeface="Calibri" pitchFamily="34" charset="0"/>
                <a:ea typeface="Calibri" pitchFamily="34" charset="-122"/>
                <a:cs typeface="Calibri" pitchFamily="34" charset="-120"/>
              </a:rPr>
              <a:t>  kN</a:t>
            </a:r>
            <a:endParaRPr lang="en-US" sz="2600" dirty="0"/>
          </a:p>
        </p:txBody>
      </p:sp>
      <p:sp>
        <p:nvSpPr>
          <p:cNvPr id="9" name="Text 6"/>
          <p:cNvSpPr txBox="1"/>
          <p:nvPr/>
        </p:nvSpPr>
        <p:spPr>
          <a:xfrm>
            <a:off x="7498080" y="2071116"/>
            <a:ext cx="4099255" cy="285293"/>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Southwell characteristic load</a:t>
            </a:r>
            <a:endParaRPr lang="en-US" sz="1300" dirty="0"/>
          </a:p>
        </p:txBody>
      </p:sp>
      <p:sp>
        <p:nvSpPr>
          <p:cNvPr id="10" name="Text 7"/>
          <p:cNvSpPr txBox="1"/>
          <p:nvPr/>
        </p:nvSpPr>
        <p:spPr>
          <a:xfrm>
            <a:off x="7498080" y="2332634"/>
            <a:ext cx="4099255" cy="237744"/>
          </a:xfrm>
          <a:prstGeom prst="rect">
            <a:avLst/>
          </a:prstGeom>
          <a:noFill/>
          <a:ln/>
        </p:spPr>
        <p:txBody>
          <a:bodyPr wrap="square" lIns="0" tIns="0" rIns="0" bIns="0" rtlCol="0" anchor="t"/>
          <a:lstStyle/>
          <a:p>
            <a:pPr indent="0" marL="0">
              <a:buNone/>
            </a:pPr>
            <a:r>
              <a:rPr lang="en-US" sz="1100" dirty="0">
                <a:solidFill>
                  <a:srgbClr val="6B7C93"/>
                </a:solidFill>
                <a:latin typeface="Calibri" pitchFamily="34" charset="0"/>
                <a:ea typeface="Calibri" pitchFamily="34" charset="-122"/>
                <a:cs typeface="Calibri" pitchFamily="34" charset="-120"/>
              </a:rPr>
              <a:t>three imperfection cases: −0.1 % to +0.7 % of P_cr</a:t>
            </a:r>
            <a:endParaRPr lang="en-US" sz="1100" dirty="0"/>
          </a:p>
        </p:txBody>
      </p:sp>
      <p:sp>
        <p:nvSpPr>
          <p:cNvPr id="11" name="Shape 8"/>
          <p:cNvSpPr/>
          <p:nvPr/>
        </p:nvSpPr>
        <p:spPr>
          <a:xfrm>
            <a:off x="7360920" y="2724912"/>
            <a:ext cx="4373575" cy="1188720"/>
          </a:xfrm>
          <a:prstGeom prst="roundRect">
            <a:avLst>
              <a:gd name="adj" fmla="val 6154"/>
            </a:avLst>
          </a:prstGeom>
          <a:solidFill>
            <a:srgbClr val="EEF3F8"/>
          </a:solidFill>
          <a:ln/>
        </p:spPr>
      </p:sp>
      <p:sp>
        <p:nvSpPr>
          <p:cNvPr id="12" name="Text 9"/>
          <p:cNvSpPr txBox="1"/>
          <p:nvPr/>
        </p:nvSpPr>
        <p:spPr>
          <a:xfrm>
            <a:off x="7498080" y="2798064"/>
            <a:ext cx="4099255" cy="594360"/>
          </a:xfrm>
          <a:prstGeom prst="rect">
            <a:avLst/>
          </a:prstGeom>
          <a:noFill/>
          <a:ln/>
        </p:spPr>
        <p:txBody>
          <a:bodyPr wrap="square" lIns="0" tIns="0" rIns="0" bIns="0" rtlCol="0" anchor="b"/>
          <a:lstStyle/>
          <a:p>
            <a:pPr indent="0" marL="0">
              <a:buNone/>
            </a:pPr>
            <a:r>
              <a:rPr lang="en-US" sz="2600" b="1" dirty="0">
                <a:solidFill>
                  <a:srgbClr val="2F5D8A"/>
                </a:solidFill>
                <a:latin typeface="Calibri" pitchFamily="34" charset="0"/>
                <a:ea typeface="Calibri" pitchFamily="34" charset="-122"/>
                <a:cs typeface="Calibri" pitchFamily="34" charset="-120"/>
              </a:rPr>
              <a:t>608.25</a:t>
            </a:r>
            <a:pPr indent="0" marL="0">
              <a:buNone/>
            </a:pPr>
            <a:r>
              <a:rPr lang="en-US" sz="1500" b="1" dirty="0">
                <a:solidFill>
                  <a:srgbClr val="2F5D8A"/>
                </a:solidFill>
                <a:latin typeface="Calibri" pitchFamily="34" charset="0"/>
                <a:ea typeface="Calibri" pitchFamily="34" charset="-122"/>
                <a:cs typeface="Calibri" pitchFamily="34" charset="-120"/>
              </a:rPr>
              <a:t>  kN</a:t>
            </a:r>
            <a:endParaRPr lang="en-US" sz="2600" dirty="0"/>
          </a:p>
        </p:txBody>
      </p:sp>
      <p:sp>
        <p:nvSpPr>
          <p:cNvPr id="13" name="Text 10"/>
          <p:cNvSpPr txBox="1"/>
          <p:nvPr/>
        </p:nvSpPr>
        <p:spPr>
          <a:xfrm>
            <a:off x="7498080" y="3378708"/>
            <a:ext cx="4099255" cy="285293"/>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Mechanical P_cr</a:t>
            </a:r>
            <a:endParaRPr lang="en-US" sz="1300" dirty="0"/>
          </a:p>
        </p:txBody>
      </p:sp>
      <p:sp>
        <p:nvSpPr>
          <p:cNvPr id="14" name="Text 11"/>
          <p:cNvSpPr txBox="1"/>
          <p:nvPr/>
        </p:nvSpPr>
        <p:spPr>
          <a:xfrm>
            <a:off x="7498080" y="3640226"/>
            <a:ext cx="4099255" cy="237744"/>
          </a:xfrm>
          <a:prstGeom prst="rect">
            <a:avLst/>
          </a:prstGeom>
          <a:noFill/>
          <a:ln/>
        </p:spPr>
        <p:txBody>
          <a:bodyPr wrap="square" lIns="0" tIns="0" rIns="0" bIns="0" rtlCol="0" anchor="t"/>
          <a:lstStyle/>
          <a:p>
            <a:pPr indent="0" marL="0">
              <a:buNone/>
            </a:pPr>
            <a:r>
              <a:rPr lang="en-US" sz="1100" dirty="0">
                <a:solidFill>
                  <a:srgbClr val="6B7C93"/>
                </a:solidFill>
                <a:latin typeface="Calibri" pitchFamily="34" charset="0"/>
                <a:ea typeface="Calibri" pitchFamily="34" charset="-122"/>
                <a:cs typeface="Calibri" pitchFamily="34" charset="-120"/>
              </a:rPr>
              <a:t>λ₁ = 1.108 — linear, perfect elastic tube</a:t>
            </a:r>
            <a:endParaRPr lang="en-US" sz="1100" dirty="0"/>
          </a:p>
        </p:txBody>
      </p:sp>
      <p:sp>
        <p:nvSpPr>
          <p:cNvPr id="15" name="Shape 12"/>
          <p:cNvSpPr/>
          <p:nvPr/>
        </p:nvSpPr>
        <p:spPr>
          <a:xfrm>
            <a:off x="7360920" y="4032504"/>
            <a:ext cx="4373575" cy="1188720"/>
          </a:xfrm>
          <a:prstGeom prst="roundRect">
            <a:avLst>
              <a:gd name="adj" fmla="val 6154"/>
            </a:avLst>
          </a:prstGeom>
          <a:solidFill>
            <a:srgbClr val="EEF3F8"/>
          </a:solidFill>
          <a:ln/>
        </p:spPr>
      </p:sp>
      <p:sp>
        <p:nvSpPr>
          <p:cNvPr id="16" name="Text 13"/>
          <p:cNvSpPr txBox="1"/>
          <p:nvPr/>
        </p:nvSpPr>
        <p:spPr>
          <a:xfrm>
            <a:off x="7498080" y="4105656"/>
            <a:ext cx="4099255" cy="594360"/>
          </a:xfrm>
          <a:prstGeom prst="rect">
            <a:avLst/>
          </a:prstGeom>
          <a:noFill/>
          <a:ln/>
        </p:spPr>
        <p:txBody>
          <a:bodyPr wrap="square" lIns="0" tIns="0" rIns="0" bIns="0" rtlCol="0" anchor="b"/>
          <a:lstStyle/>
          <a:p>
            <a:pPr indent="0" marL="0">
              <a:buNone/>
            </a:pPr>
            <a:r>
              <a:rPr lang="en-US" sz="2600" b="1" dirty="0">
                <a:solidFill>
                  <a:srgbClr val="14213D"/>
                </a:solidFill>
                <a:latin typeface="Calibri" pitchFamily="34" charset="0"/>
                <a:ea typeface="Calibri" pitchFamily="34" charset="-122"/>
                <a:cs typeface="Calibri" pitchFamily="34" charset="-120"/>
              </a:rPr>
              <a:t>601.0</a:t>
            </a:r>
            <a:pPr indent="0" marL="0">
              <a:buNone/>
            </a:pPr>
            <a:r>
              <a:rPr lang="en-US" sz="1500" b="1" dirty="0">
                <a:solidFill>
                  <a:srgbClr val="14213D"/>
                </a:solidFill>
                <a:latin typeface="Calibri" pitchFamily="34" charset="0"/>
                <a:ea typeface="Calibri" pitchFamily="34" charset="-122"/>
                <a:cs typeface="Calibri" pitchFamily="34" charset="-120"/>
              </a:rPr>
              <a:t>  kN</a:t>
            </a:r>
            <a:endParaRPr lang="en-US" sz="2600" dirty="0"/>
          </a:p>
        </p:txBody>
      </p:sp>
      <p:sp>
        <p:nvSpPr>
          <p:cNvPr id="17" name="Text 14"/>
          <p:cNvSpPr txBox="1"/>
          <p:nvPr/>
        </p:nvSpPr>
        <p:spPr>
          <a:xfrm>
            <a:off x="7498080" y="4686300"/>
            <a:ext cx="4099255" cy="285293"/>
          </a:xfrm>
          <a:prstGeom prst="rect">
            <a:avLst/>
          </a:prstGeom>
          <a:noFill/>
          <a:ln/>
        </p:spPr>
        <p:txBody>
          <a:bodyPr wrap="square" lIns="0" tIns="0" rIns="0" bIns="0" rtlCol="0" anchor="t"/>
          <a:lstStyle/>
          <a:p>
            <a:pPr indent="0" marL="0">
              <a:buNone/>
            </a:pPr>
            <a:r>
              <a:rPr lang="en-US" sz="1300" b="1" dirty="0">
                <a:solidFill>
                  <a:srgbClr val="243447"/>
                </a:solidFill>
                <a:latin typeface="Calibri" pitchFamily="34" charset="0"/>
                <a:ea typeface="Calibri" pitchFamily="34" charset="-122"/>
                <a:cs typeface="Calibri" pitchFamily="34" charset="-120"/>
              </a:rPr>
              <a:t>Maximum load, 0.1 mm case</a:t>
            </a:r>
            <a:endParaRPr lang="en-US" sz="1300" dirty="0"/>
          </a:p>
        </p:txBody>
      </p:sp>
      <p:sp>
        <p:nvSpPr>
          <p:cNvPr id="18" name="Text 15"/>
          <p:cNvSpPr txBox="1"/>
          <p:nvPr/>
        </p:nvSpPr>
        <p:spPr>
          <a:xfrm>
            <a:off x="7498080" y="4947818"/>
            <a:ext cx="4099255" cy="237744"/>
          </a:xfrm>
          <a:prstGeom prst="rect">
            <a:avLst/>
          </a:prstGeom>
          <a:noFill/>
          <a:ln/>
        </p:spPr>
        <p:txBody>
          <a:bodyPr wrap="square" lIns="0" tIns="0" rIns="0" bIns="0" rtlCol="0" anchor="t"/>
          <a:lstStyle/>
          <a:p>
            <a:pPr indent="0" marL="0">
              <a:buNone/>
            </a:pPr>
            <a:r>
              <a:rPr lang="en-US" sz="1100" dirty="0">
                <a:solidFill>
                  <a:srgbClr val="6B7C93"/>
                </a:solidFill>
                <a:latin typeface="Calibri" pitchFamily="34" charset="0"/>
                <a:ea typeface="Calibri" pitchFamily="34" charset="-122"/>
                <a:cs typeface="Calibri" pitchFamily="34" charset="-120"/>
              </a:rPr>
              <a:t>at λ = 1.185; C3 and C5 still rising at λ = 1.3</a:t>
            </a:r>
            <a:endParaRPr lang="en-US" sz="1100" dirty="0"/>
          </a:p>
        </p:txBody>
      </p:sp>
      <p:sp>
        <p:nvSpPr>
          <p:cNvPr id="19" name="Shape 16"/>
          <p:cNvSpPr/>
          <p:nvPr/>
        </p:nvSpPr>
        <p:spPr>
          <a:xfrm>
            <a:off x="457200" y="5440680"/>
            <a:ext cx="11277295" cy="822960"/>
          </a:xfrm>
          <a:prstGeom prst="roundRect">
            <a:avLst>
              <a:gd name="adj" fmla="val 8889"/>
            </a:avLst>
          </a:prstGeom>
          <a:solidFill>
            <a:srgbClr val="FFF4E6"/>
          </a:solidFill>
          <a:ln/>
        </p:spPr>
      </p:sp>
      <p:sp>
        <p:nvSpPr>
          <p:cNvPr id="20" name="Text 17"/>
          <p:cNvSpPr txBox="1"/>
          <p:nvPr/>
        </p:nvSpPr>
        <p:spPr>
          <a:xfrm>
            <a:off x="685800" y="5468112"/>
            <a:ext cx="10820095" cy="76809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Elastic model only: </a:t>
            </a:r>
            <a:pPr indent="0" marL="0">
              <a:buNone/>
            </a:pPr>
            <a:r>
              <a:rPr lang="en-US" sz="1400" dirty="0">
                <a:solidFill>
                  <a:srgbClr val="243447"/>
                </a:solidFill>
                <a:latin typeface="Calibri" pitchFamily="34" charset="0"/>
                <a:ea typeface="Calibri" pitchFamily="34" charset="-122"/>
                <a:cs typeface="Calibri" pitchFamily="34" charset="-120"/>
              </a:rPr>
              <a:t>first local yield at λ = 0.974–1.109, so the later curves lie outside the elastic range. The perfect-geometry run gives no bifurcation load. Not a factor of safety, not experimental validation.</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9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Eleation internship (Feb-May 2025)</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 Behavior and Thermal Effects in Multiphysics Systems</dc:title>
  <dc:subject>CFD, conjugate heat transfer and thermo-structural analysis of a heated cylindrical duct</dc:subject>
  <dc:creator>Rohan Balram Patel</dc:creator>
  <cp:lastModifiedBy>Rohan Balram Patel</cp:lastModifiedBy>
  <cp:revision>1</cp:revision>
  <dcterms:created xsi:type="dcterms:W3CDTF">2026-09-30T11:31:02Z</dcterms:created>
  <dcterms:modified xsi:type="dcterms:W3CDTF">2026-09-30T11:31:02Z</dcterms:modified>
</cp:coreProperties>
</file>